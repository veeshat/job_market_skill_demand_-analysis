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9144000" cy="5149850"/>
  <p:notesSz cx="9144000" cy="5149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6453"/>
            <a:ext cx="7772400" cy="10814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3916"/>
            <a:ext cx="6400800" cy="1287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4"/>
            <a:ext cx="9143631" cy="88487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-355" y="-353"/>
            <a:ext cx="9144000" cy="822960"/>
          </a:xfrm>
          <a:custGeom>
            <a:avLst/>
            <a:gdLst/>
            <a:ahLst/>
            <a:cxnLst/>
            <a:rect l="l" t="t" r="r" b="b"/>
            <a:pathLst>
              <a:path w="9144000" h="822960">
                <a:moveTo>
                  <a:pt x="9143631" y="0"/>
                </a:moveTo>
                <a:lnTo>
                  <a:pt x="0" y="0"/>
                </a:lnTo>
                <a:lnTo>
                  <a:pt x="0" y="822591"/>
                </a:lnTo>
                <a:lnTo>
                  <a:pt x="4572000" y="822591"/>
                </a:lnTo>
                <a:lnTo>
                  <a:pt x="9143631" y="822591"/>
                </a:lnTo>
                <a:lnTo>
                  <a:pt x="9143631" y="0"/>
                </a:lnTo>
                <a:close/>
              </a:path>
            </a:pathLst>
          </a:custGeom>
          <a:solidFill>
            <a:srgbClr val="0C1A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2696" y="105018"/>
            <a:ext cx="5378450" cy="421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1644" y="960122"/>
            <a:ext cx="4206240" cy="3520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9360"/>
            <a:ext cx="292608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28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image" Target="../media/image38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7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0C1A2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-353"/>
            <a:ext cx="177165" cy="5144135"/>
            <a:chOff x="0" y="-353"/>
            <a:chExt cx="177165" cy="51441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4"/>
              <a:ext cx="176771" cy="514330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-353"/>
              <a:ext cx="137160" cy="5143500"/>
            </a:xfrm>
            <a:custGeom>
              <a:avLst/>
              <a:gdLst/>
              <a:ahLst/>
              <a:cxnLst/>
              <a:rect l="l" t="t" r="r" b="b"/>
              <a:pathLst>
                <a:path w="137160" h="5143500">
                  <a:moveTo>
                    <a:pt x="136804" y="0"/>
                  </a:moveTo>
                  <a:lnTo>
                    <a:pt x="0" y="0"/>
                  </a:lnTo>
                  <a:lnTo>
                    <a:pt x="0" y="5143309"/>
                  </a:lnTo>
                  <a:lnTo>
                    <a:pt x="68402" y="5143309"/>
                  </a:lnTo>
                  <a:lnTo>
                    <a:pt x="136804" y="5143309"/>
                  </a:lnTo>
                  <a:lnTo>
                    <a:pt x="136804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88416" y="306399"/>
            <a:ext cx="4023995" cy="16713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8600"/>
              </a:lnSpc>
              <a:spcBef>
                <a:spcPts val="95"/>
              </a:spcBef>
            </a:pPr>
            <a:r>
              <a:rPr dirty="0" sz="4200"/>
              <a:t>Job</a:t>
            </a:r>
            <a:r>
              <a:rPr dirty="0" sz="4200" spc="-135"/>
              <a:t> </a:t>
            </a:r>
            <a:r>
              <a:rPr dirty="0" sz="4200"/>
              <a:t>Market</a:t>
            </a:r>
            <a:r>
              <a:rPr dirty="0" sz="4200" spc="-135"/>
              <a:t> </a:t>
            </a:r>
            <a:r>
              <a:rPr dirty="0" sz="4200" spc="-10"/>
              <a:t>Skill </a:t>
            </a:r>
            <a:r>
              <a:rPr dirty="0" sz="4200">
                <a:solidFill>
                  <a:srgbClr val="5DE9D3"/>
                </a:solidFill>
              </a:rPr>
              <a:t>Demand</a:t>
            </a:r>
            <a:r>
              <a:rPr dirty="0" sz="4200" spc="-60">
                <a:solidFill>
                  <a:srgbClr val="5DE9D3"/>
                </a:solidFill>
              </a:rPr>
              <a:t> </a:t>
            </a:r>
            <a:r>
              <a:rPr dirty="0" sz="4200" spc="-10">
                <a:solidFill>
                  <a:srgbClr val="5DE9D3"/>
                </a:solidFill>
              </a:rPr>
              <a:t>Analytics</a:t>
            </a:r>
            <a:endParaRPr sz="4200"/>
          </a:p>
        </p:txBody>
      </p:sp>
      <p:sp>
        <p:nvSpPr>
          <p:cNvPr id="7" name="object 7"/>
          <p:cNvSpPr txBox="1"/>
          <p:nvPr/>
        </p:nvSpPr>
        <p:spPr>
          <a:xfrm>
            <a:off x="488416" y="2318298"/>
            <a:ext cx="420243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i="1">
                <a:solidFill>
                  <a:srgbClr val="9DCCC7"/>
                </a:solidFill>
                <a:latin typeface="Calibri"/>
                <a:cs typeface="Calibri"/>
              </a:rPr>
              <a:t>Uncovering</a:t>
            </a:r>
            <a:r>
              <a:rPr dirty="0" sz="1300" spc="-35" i="1">
                <a:solidFill>
                  <a:srgbClr val="9DCCC7"/>
                </a:solidFill>
                <a:latin typeface="Calibri"/>
                <a:cs typeface="Calibri"/>
              </a:rPr>
              <a:t> </a:t>
            </a:r>
            <a:r>
              <a:rPr dirty="0" sz="1300" spc="-10" i="1">
                <a:solidFill>
                  <a:srgbClr val="9DCCC7"/>
                </a:solidFill>
                <a:latin typeface="Calibri"/>
                <a:cs typeface="Calibri"/>
              </a:rPr>
              <a:t>In-</a:t>
            </a:r>
            <a:r>
              <a:rPr dirty="0" sz="1300" i="1">
                <a:solidFill>
                  <a:srgbClr val="9DCCC7"/>
                </a:solidFill>
                <a:latin typeface="Calibri"/>
                <a:cs typeface="Calibri"/>
              </a:rPr>
              <a:t>Demand</a:t>
            </a:r>
            <a:r>
              <a:rPr dirty="0" sz="1300" spc="-25" i="1">
                <a:solidFill>
                  <a:srgbClr val="9DCCC7"/>
                </a:solidFill>
                <a:latin typeface="Calibri"/>
                <a:cs typeface="Calibri"/>
              </a:rPr>
              <a:t> </a:t>
            </a:r>
            <a:r>
              <a:rPr dirty="0" sz="1300" i="1">
                <a:solidFill>
                  <a:srgbClr val="9DCCC7"/>
                </a:solidFill>
                <a:latin typeface="Calibri"/>
                <a:cs typeface="Calibri"/>
              </a:rPr>
              <a:t>Skills,</a:t>
            </a:r>
            <a:r>
              <a:rPr dirty="0" sz="1300" spc="-30" i="1">
                <a:solidFill>
                  <a:srgbClr val="9DCCC7"/>
                </a:solidFill>
                <a:latin typeface="Calibri"/>
                <a:cs typeface="Calibri"/>
              </a:rPr>
              <a:t> </a:t>
            </a:r>
            <a:r>
              <a:rPr dirty="0" sz="1300" i="1">
                <a:solidFill>
                  <a:srgbClr val="9DCCC7"/>
                </a:solidFill>
                <a:latin typeface="Calibri"/>
                <a:cs typeface="Calibri"/>
              </a:rPr>
              <a:t>Industry</a:t>
            </a:r>
            <a:r>
              <a:rPr dirty="0" sz="1300" spc="-35" i="1">
                <a:solidFill>
                  <a:srgbClr val="9DCCC7"/>
                </a:solidFill>
                <a:latin typeface="Calibri"/>
                <a:cs typeface="Calibri"/>
              </a:rPr>
              <a:t> </a:t>
            </a:r>
            <a:r>
              <a:rPr dirty="0" sz="1300" spc="-10" i="1">
                <a:solidFill>
                  <a:srgbClr val="9DCCC7"/>
                </a:solidFill>
                <a:latin typeface="Calibri"/>
                <a:cs typeface="Calibri"/>
              </a:rPr>
              <a:t>Trends</a:t>
            </a:r>
            <a:r>
              <a:rPr dirty="0" sz="1300" spc="-25" i="1">
                <a:solidFill>
                  <a:srgbClr val="9DCCC7"/>
                </a:solidFill>
                <a:latin typeface="Calibri"/>
                <a:cs typeface="Calibri"/>
              </a:rPr>
              <a:t> </a:t>
            </a:r>
            <a:r>
              <a:rPr dirty="0" sz="1300" i="1">
                <a:solidFill>
                  <a:srgbClr val="9DCCC7"/>
                </a:solidFill>
                <a:latin typeface="Calibri"/>
                <a:cs typeface="Calibri"/>
              </a:rPr>
              <a:t>&amp;</a:t>
            </a:r>
            <a:r>
              <a:rPr dirty="0" sz="1300" spc="-30" i="1">
                <a:solidFill>
                  <a:srgbClr val="9DCCC7"/>
                </a:solidFill>
                <a:latin typeface="Calibri"/>
                <a:cs typeface="Calibri"/>
              </a:rPr>
              <a:t> </a:t>
            </a:r>
            <a:r>
              <a:rPr dirty="0" sz="1300" i="1">
                <a:solidFill>
                  <a:srgbClr val="9DCCC7"/>
                </a:solidFill>
                <a:latin typeface="Calibri"/>
                <a:cs typeface="Calibri"/>
              </a:rPr>
              <a:t>Career</a:t>
            </a:r>
            <a:r>
              <a:rPr dirty="0" sz="1300" spc="-20" i="1">
                <a:solidFill>
                  <a:srgbClr val="9DCCC7"/>
                </a:solidFill>
                <a:latin typeface="Calibri"/>
                <a:cs typeface="Calibri"/>
              </a:rPr>
              <a:t> </a:t>
            </a:r>
            <a:r>
              <a:rPr dirty="0" sz="1300" spc="-10" i="1">
                <a:solidFill>
                  <a:srgbClr val="9DCCC7"/>
                </a:solidFill>
                <a:latin typeface="Calibri"/>
                <a:cs typeface="Calibri"/>
              </a:rPr>
              <a:t>Insights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1157" y="2817712"/>
            <a:ext cx="3280410" cy="125095"/>
            <a:chOff x="371157" y="2817712"/>
            <a:chExt cx="3280410" cy="12509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1157" y="2817712"/>
              <a:ext cx="3279965" cy="12492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11124" y="2834642"/>
              <a:ext cx="3200400" cy="45720"/>
            </a:xfrm>
            <a:custGeom>
              <a:avLst/>
              <a:gdLst/>
              <a:ahLst/>
              <a:cxnLst/>
              <a:rect l="l" t="t" r="r" b="b"/>
              <a:pathLst>
                <a:path w="3200400" h="45719">
                  <a:moveTo>
                    <a:pt x="3200031" y="0"/>
                  </a:moveTo>
                  <a:lnTo>
                    <a:pt x="0" y="0"/>
                  </a:lnTo>
                  <a:lnTo>
                    <a:pt x="0" y="45364"/>
                  </a:lnTo>
                  <a:lnTo>
                    <a:pt x="1600200" y="45364"/>
                  </a:lnTo>
                  <a:lnTo>
                    <a:pt x="3200031" y="45364"/>
                  </a:lnTo>
                  <a:lnTo>
                    <a:pt x="3200031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488416" y="3031098"/>
            <a:ext cx="1886585" cy="592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5DE9D3"/>
                </a:solidFill>
                <a:latin typeface="Calibri"/>
                <a:cs typeface="Calibri"/>
              </a:rPr>
              <a:t>Ayush</a:t>
            </a:r>
            <a:r>
              <a:rPr dirty="0" sz="1200" spc="-45" b="1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5DE9D3"/>
                </a:solidFill>
                <a:latin typeface="Calibri"/>
                <a:cs typeface="Calibri"/>
              </a:rPr>
              <a:t>Rathod</a:t>
            </a:r>
            <a:r>
              <a:rPr dirty="0" sz="1200" spc="-45" b="1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5DE9D3"/>
                </a:solidFill>
                <a:latin typeface="Calibri"/>
                <a:cs typeface="Calibri"/>
              </a:rPr>
              <a:t>(Group</a:t>
            </a:r>
            <a:r>
              <a:rPr dirty="0" sz="1200" spc="-40" b="1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5DE9D3"/>
                </a:solidFill>
                <a:latin typeface="Calibri"/>
                <a:cs typeface="Calibri"/>
              </a:rPr>
              <a:t>Leader)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solidFill>
                  <a:srgbClr val="5DE9D3"/>
                </a:solidFill>
                <a:latin typeface="Calibri"/>
                <a:cs typeface="Calibri"/>
              </a:rPr>
              <a:t>Dorina</a:t>
            </a:r>
            <a:r>
              <a:rPr dirty="0" sz="1200" spc="-40" b="1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5DE9D3"/>
                </a:solidFill>
                <a:latin typeface="Calibri"/>
                <a:cs typeface="Calibri"/>
              </a:rPr>
              <a:t>Dongare</a:t>
            </a:r>
            <a:r>
              <a:rPr dirty="0" sz="1200" spc="-35" b="1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5DE9D3"/>
                </a:solidFill>
                <a:latin typeface="Calibri"/>
                <a:cs typeface="Calibri"/>
              </a:rPr>
              <a:t>(Co-Leader)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8416" y="3799333"/>
            <a:ext cx="10153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Kanchan</a:t>
            </a:r>
            <a:r>
              <a:rPr dirty="0" sz="12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Phogat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8416" y="4183458"/>
            <a:ext cx="9912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Sakshi</a:t>
            </a:r>
            <a:r>
              <a:rPr dirty="0" sz="12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Prajapati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8416" y="4567214"/>
            <a:ext cx="9912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Veesha</a:t>
            </a:r>
            <a:r>
              <a:rPr dirty="0" sz="1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Thakker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8416" y="4951338"/>
            <a:ext cx="8058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Prayag</a:t>
            </a:r>
            <a:r>
              <a:rPr dirty="0" sz="1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Calibri"/>
                <a:cs typeface="Calibri"/>
              </a:rPr>
              <a:t>Maru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983124" y="3908871"/>
            <a:ext cx="1354455" cy="439420"/>
            <a:chOff x="4983124" y="3908871"/>
            <a:chExt cx="1354455" cy="439420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83124" y="3908871"/>
              <a:ext cx="1353959" cy="43921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029200" y="3931921"/>
              <a:ext cx="1261745" cy="347345"/>
            </a:xfrm>
            <a:custGeom>
              <a:avLst/>
              <a:gdLst/>
              <a:ahLst/>
              <a:cxnLst/>
              <a:rect l="l" t="t" r="r" b="b"/>
              <a:pathLst>
                <a:path w="1261745" h="347345">
                  <a:moveTo>
                    <a:pt x="1261440" y="0"/>
                  </a:moveTo>
                  <a:lnTo>
                    <a:pt x="0" y="0"/>
                  </a:lnTo>
                  <a:lnTo>
                    <a:pt x="0" y="347040"/>
                  </a:lnTo>
                  <a:lnTo>
                    <a:pt x="630720" y="347040"/>
                  </a:lnTo>
                  <a:lnTo>
                    <a:pt x="1261440" y="347040"/>
                  </a:lnTo>
                  <a:lnTo>
                    <a:pt x="1261440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5029200" y="3931922"/>
            <a:ext cx="1261745" cy="347345"/>
          </a:xfrm>
          <a:prstGeom prst="rect">
            <a:avLst/>
          </a:prstGeom>
          <a:ln w="12599">
            <a:solidFill>
              <a:srgbClr val="13B7A5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Python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373075" y="3908871"/>
            <a:ext cx="1354455" cy="439420"/>
            <a:chOff x="6373075" y="3908871"/>
            <a:chExt cx="1354455" cy="439420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73075" y="3908871"/>
              <a:ext cx="1353959" cy="43921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419164" y="3931921"/>
              <a:ext cx="1261745" cy="347345"/>
            </a:xfrm>
            <a:custGeom>
              <a:avLst/>
              <a:gdLst/>
              <a:ahLst/>
              <a:cxnLst/>
              <a:rect l="l" t="t" r="r" b="b"/>
              <a:pathLst>
                <a:path w="1261745" h="347345">
                  <a:moveTo>
                    <a:pt x="1261440" y="0"/>
                  </a:moveTo>
                  <a:lnTo>
                    <a:pt x="0" y="0"/>
                  </a:lnTo>
                  <a:lnTo>
                    <a:pt x="0" y="347040"/>
                  </a:lnTo>
                  <a:lnTo>
                    <a:pt x="630720" y="347040"/>
                  </a:lnTo>
                  <a:lnTo>
                    <a:pt x="1261440" y="347040"/>
                  </a:lnTo>
                  <a:lnTo>
                    <a:pt x="1261440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6419164" y="3931922"/>
            <a:ext cx="1261745" cy="347345"/>
          </a:xfrm>
          <a:prstGeom prst="rect">
            <a:avLst/>
          </a:prstGeom>
          <a:ln w="12599">
            <a:solidFill>
              <a:srgbClr val="13B7A5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Pandas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763040" y="3908871"/>
            <a:ext cx="1354455" cy="439420"/>
            <a:chOff x="7763040" y="3908871"/>
            <a:chExt cx="1354455" cy="439420"/>
          </a:xfrm>
        </p:grpSpPr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63040" y="3908871"/>
              <a:ext cx="1353959" cy="439216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809115" y="3931921"/>
              <a:ext cx="1261745" cy="347345"/>
            </a:xfrm>
            <a:custGeom>
              <a:avLst/>
              <a:gdLst/>
              <a:ahLst/>
              <a:cxnLst/>
              <a:rect l="l" t="t" r="r" b="b"/>
              <a:pathLst>
                <a:path w="1261745" h="347345">
                  <a:moveTo>
                    <a:pt x="1261440" y="0"/>
                  </a:moveTo>
                  <a:lnTo>
                    <a:pt x="0" y="0"/>
                  </a:lnTo>
                  <a:lnTo>
                    <a:pt x="0" y="347040"/>
                  </a:lnTo>
                  <a:lnTo>
                    <a:pt x="630720" y="347040"/>
                  </a:lnTo>
                  <a:lnTo>
                    <a:pt x="1261440" y="347040"/>
                  </a:lnTo>
                  <a:lnTo>
                    <a:pt x="1261440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7809115" y="3931922"/>
            <a:ext cx="1261745" cy="347345"/>
          </a:xfrm>
          <a:prstGeom prst="rect">
            <a:avLst/>
          </a:prstGeom>
          <a:ln w="12599">
            <a:solidFill>
              <a:srgbClr val="13B7A5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dirty="0" sz="1000" spc="-20">
                <a:solidFill>
                  <a:srgbClr val="FFFFFF"/>
                </a:solidFill>
                <a:latin typeface="Calibri"/>
                <a:cs typeface="Calibri"/>
              </a:rPr>
              <a:t>NumPy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983124" y="4384435"/>
            <a:ext cx="1354455" cy="439420"/>
            <a:chOff x="4983124" y="4384435"/>
            <a:chExt cx="1354455" cy="439420"/>
          </a:xfrm>
        </p:grpSpPr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83124" y="4384435"/>
              <a:ext cx="1353959" cy="43920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029200" y="4407486"/>
              <a:ext cx="1261745" cy="347345"/>
            </a:xfrm>
            <a:custGeom>
              <a:avLst/>
              <a:gdLst/>
              <a:ahLst/>
              <a:cxnLst/>
              <a:rect l="l" t="t" r="r" b="b"/>
              <a:pathLst>
                <a:path w="1261745" h="347345">
                  <a:moveTo>
                    <a:pt x="1261440" y="0"/>
                  </a:moveTo>
                  <a:lnTo>
                    <a:pt x="0" y="0"/>
                  </a:lnTo>
                  <a:lnTo>
                    <a:pt x="0" y="347040"/>
                  </a:lnTo>
                  <a:lnTo>
                    <a:pt x="630720" y="347040"/>
                  </a:lnTo>
                  <a:lnTo>
                    <a:pt x="1261440" y="347040"/>
                  </a:lnTo>
                  <a:lnTo>
                    <a:pt x="1261440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5029200" y="4407486"/>
            <a:ext cx="1261745" cy="347345"/>
          </a:xfrm>
          <a:prstGeom prst="rect">
            <a:avLst/>
          </a:prstGeom>
          <a:ln w="12599">
            <a:solidFill>
              <a:srgbClr val="13B7A5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marL="396875">
              <a:lnSpc>
                <a:spcPct val="100000"/>
              </a:lnSpc>
              <a:spcBef>
                <a:spcPts val="350"/>
              </a:spcBef>
            </a:pP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Streamlit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373075" y="4384435"/>
            <a:ext cx="1354455" cy="439420"/>
            <a:chOff x="6373075" y="4384435"/>
            <a:chExt cx="1354455" cy="439420"/>
          </a:xfrm>
        </p:grpSpPr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73075" y="4384435"/>
              <a:ext cx="1353959" cy="439204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6419164" y="4407486"/>
              <a:ext cx="1261745" cy="347345"/>
            </a:xfrm>
            <a:custGeom>
              <a:avLst/>
              <a:gdLst/>
              <a:ahLst/>
              <a:cxnLst/>
              <a:rect l="l" t="t" r="r" b="b"/>
              <a:pathLst>
                <a:path w="1261745" h="347345">
                  <a:moveTo>
                    <a:pt x="1261440" y="0"/>
                  </a:moveTo>
                  <a:lnTo>
                    <a:pt x="0" y="0"/>
                  </a:lnTo>
                  <a:lnTo>
                    <a:pt x="0" y="347040"/>
                  </a:lnTo>
                  <a:lnTo>
                    <a:pt x="630720" y="347040"/>
                  </a:lnTo>
                  <a:lnTo>
                    <a:pt x="1261440" y="347040"/>
                  </a:lnTo>
                  <a:lnTo>
                    <a:pt x="1261440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6419164" y="4407486"/>
            <a:ext cx="1261745" cy="347345"/>
          </a:xfrm>
          <a:prstGeom prst="rect">
            <a:avLst/>
          </a:prstGeom>
          <a:ln w="12599">
            <a:solidFill>
              <a:srgbClr val="13B7A5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marL="267335">
              <a:lnSpc>
                <a:spcPct val="100000"/>
              </a:lnSpc>
              <a:spcBef>
                <a:spcPts val="350"/>
              </a:spcBef>
            </a:pP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EFFCF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-355" y="-353"/>
            <a:ext cx="9144000" cy="885825"/>
            <a:chOff x="-355" y="-353"/>
            <a:chExt cx="9144000" cy="8858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4"/>
              <a:ext cx="9143631" cy="88487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-355" y="-353"/>
              <a:ext cx="9144000" cy="822960"/>
            </a:xfrm>
            <a:custGeom>
              <a:avLst/>
              <a:gdLst/>
              <a:ahLst/>
              <a:cxnLst/>
              <a:rect l="l" t="t" r="r" b="b"/>
              <a:pathLst>
                <a:path w="9144000" h="822960">
                  <a:moveTo>
                    <a:pt x="9143631" y="0"/>
                  </a:moveTo>
                  <a:lnTo>
                    <a:pt x="0" y="0"/>
                  </a:lnTo>
                  <a:lnTo>
                    <a:pt x="0" y="822591"/>
                  </a:lnTo>
                  <a:lnTo>
                    <a:pt x="4572000" y="822591"/>
                  </a:lnTo>
                  <a:lnTo>
                    <a:pt x="9143631" y="822591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42696" y="105018"/>
            <a:ext cx="2429510" cy="4216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dirty="0" spc="-75"/>
              <a:t> </a:t>
            </a:r>
            <a:r>
              <a:rPr dirty="0"/>
              <a:t>This</a:t>
            </a:r>
            <a:r>
              <a:rPr dirty="0" spc="-80"/>
              <a:t> </a:t>
            </a:r>
            <a:r>
              <a:rPr dirty="0" spc="-10"/>
              <a:t>Matters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273596" y="982435"/>
            <a:ext cx="2744470" cy="2652395"/>
            <a:chOff x="273596" y="982435"/>
            <a:chExt cx="2744470" cy="265239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3596" y="982435"/>
              <a:ext cx="2743923" cy="265212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9684" y="1005486"/>
              <a:ext cx="2651760" cy="2560320"/>
            </a:xfrm>
            <a:custGeom>
              <a:avLst/>
              <a:gdLst/>
              <a:ahLst/>
              <a:cxnLst/>
              <a:rect l="l" t="t" r="r" b="b"/>
              <a:pathLst>
                <a:path w="2651760" h="2560320">
                  <a:moveTo>
                    <a:pt x="2651391" y="0"/>
                  </a:moveTo>
                  <a:lnTo>
                    <a:pt x="0" y="0"/>
                  </a:lnTo>
                  <a:lnTo>
                    <a:pt x="0" y="2559951"/>
                  </a:lnTo>
                  <a:lnTo>
                    <a:pt x="1325880" y="2559951"/>
                  </a:lnTo>
                  <a:lnTo>
                    <a:pt x="2651391" y="2559951"/>
                  </a:lnTo>
                  <a:lnTo>
                    <a:pt x="26513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9717" y="988544"/>
              <a:ext cx="2731325" cy="14329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19684" y="1005486"/>
              <a:ext cx="2651760" cy="64135"/>
            </a:xfrm>
            <a:custGeom>
              <a:avLst/>
              <a:gdLst/>
              <a:ahLst/>
              <a:cxnLst/>
              <a:rect l="l" t="t" r="r" b="b"/>
              <a:pathLst>
                <a:path w="2651760" h="64134">
                  <a:moveTo>
                    <a:pt x="2651391" y="0"/>
                  </a:moveTo>
                  <a:lnTo>
                    <a:pt x="0" y="0"/>
                  </a:lnTo>
                  <a:lnTo>
                    <a:pt x="0" y="63715"/>
                  </a:lnTo>
                  <a:lnTo>
                    <a:pt x="1325880" y="63715"/>
                  </a:lnTo>
                  <a:lnTo>
                    <a:pt x="2651391" y="63715"/>
                  </a:lnTo>
                  <a:lnTo>
                    <a:pt x="2651391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319684" y="1005486"/>
            <a:ext cx="2651760" cy="2560320"/>
          </a:xfrm>
          <a:prstGeom prst="rect">
            <a:avLst/>
          </a:prstGeom>
          <a:ln w="12599">
            <a:solidFill>
              <a:srgbClr val="CCFAF0"/>
            </a:solidFill>
          </a:ln>
        </p:spPr>
        <p:txBody>
          <a:bodyPr wrap="square" lIns="0" tIns="136525" rIns="0" bIns="0" rtlCol="0" vert="horz">
            <a:spAutoFit/>
          </a:bodyPr>
          <a:lstStyle/>
          <a:p>
            <a:pPr marL="817244">
              <a:lnSpc>
                <a:spcPct val="100000"/>
              </a:lnSpc>
              <a:spcBef>
                <a:spcPts val="1075"/>
              </a:spcBef>
            </a:pPr>
            <a:r>
              <a:rPr dirty="0" sz="4600" spc="-25" b="1">
                <a:solidFill>
                  <a:srgbClr val="0C9387"/>
                </a:solidFill>
                <a:latin typeface="Calibri"/>
                <a:cs typeface="Calibri"/>
              </a:rPr>
              <a:t>85%</a:t>
            </a:r>
            <a:endParaRPr sz="4600">
              <a:latin typeface="Calibri"/>
              <a:cs typeface="Calibri"/>
            </a:endParaRPr>
          </a:p>
          <a:p>
            <a:pPr marL="89535">
              <a:lnSpc>
                <a:spcPct val="100000"/>
              </a:lnSpc>
              <a:spcBef>
                <a:spcPts val="2395"/>
              </a:spcBef>
            </a:pPr>
            <a:r>
              <a:rPr dirty="0" sz="1200">
                <a:solidFill>
                  <a:srgbClr val="1D283A"/>
                </a:solidFill>
                <a:latin typeface="Calibri"/>
                <a:cs typeface="Calibri"/>
              </a:rPr>
              <a:t>of</a:t>
            </a:r>
            <a:r>
              <a:rPr dirty="0" sz="1200" spc="-10">
                <a:solidFill>
                  <a:srgbClr val="1D283A"/>
                </a:solidFill>
                <a:latin typeface="Calibri"/>
                <a:cs typeface="Calibri"/>
              </a:rPr>
              <a:t> companies</a:t>
            </a:r>
            <a:r>
              <a:rPr dirty="0" sz="1200" spc="-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D283A"/>
                </a:solidFill>
                <a:latin typeface="Calibri"/>
                <a:cs typeface="Calibri"/>
              </a:rPr>
              <a:t>report</a:t>
            </a:r>
            <a:endParaRPr sz="1200">
              <a:latin typeface="Calibri"/>
              <a:cs typeface="Calibri"/>
            </a:endParaRPr>
          </a:p>
          <a:p>
            <a:pPr marL="782320">
              <a:lnSpc>
                <a:spcPct val="100000"/>
              </a:lnSpc>
            </a:pPr>
            <a:r>
              <a:rPr dirty="0" sz="1200">
                <a:solidFill>
                  <a:srgbClr val="1D283A"/>
                </a:solidFill>
                <a:latin typeface="Calibri"/>
                <a:cs typeface="Calibri"/>
              </a:rPr>
              <a:t>skill</a:t>
            </a:r>
            <a:r>
              <a:rPr dirty="0" sz="1200" spc="-3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D283A"/>
                </a:solidFill>
                <a:latin typeface="Calibri"/>
                <a:cs typeface="Calibri"/>
              </a:rPr>
              <a:t>gaps</a:t>
            </a:r>
            <a:r>
              <a:rPr dirty="0" sz="1200" spc="-4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D283A"/>
                </a:solidFill>
                <a:latin typeface="Calibri"/>
                <a:cs typeface="Calibri"/>
              </a:rPr>
              <a:t>in</a:t>
            </a:r>
            <a:r>
              <a:rPr dirty="0" sz="1200" spc="-2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D283A"/>
                </a:solidFill>
                <a:latin typeface="Calibri"/>
                <a:cs typeface="Calibri"/>
              </a:rPr>
              <a:t>hiring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199676" y="982435"/>
            <a:ext cx="2744470" cy="2652395"/>
            <a:chOff x="3199676" y="982435"/>
            <a:chExt cx="2744470" cy="265239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99676" y="982435"/>
              <a:ext cx="2743923" cy="265212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245764" y="1005486"/>
              <a:ext cx="2651760" cy="2560320"/>
            </a:xfrm>
            <a:custGeom>
              <a:avLst/>
              <a:gdLst/>
              <a:ahLst/>
              <a:cxnLst/>
              <a:rect l="l" t="t" r="r" b="b"/>
              <a:pathLst>
                <a:path w="2651760" h="2560320">
                  <a:moveTo>
                    <a:pt x="2651391" y="0"/>
                  </a:moveTo>
                  <a:lnTo>
                    <a:pt x="0" y="0"/>
                  </a:lnTo>
                  <a:lnTo>
                    <a:pt x="0" y="2559951"/>
                  </a:lnTo>
                  <a:lnTo>
                    <a:pt x="1325879" y="2559951"/>
                  </a:lnTo>
                  <a:lnTo>
                    <a:pt x="2651391" y="2559951"/>
                  </a:lnTo>
                  <a:lnTo>
                    <a:pt x="26513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05797" y="988544"/>
              <a:ext cx="2731325" cy="14329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245764" y="1005486"/>
              <a:ext cx="2651760" cy="64135"/>
            </a:xfrm>
            <a:custGeom>
              <a:avLst/>
              <a:gdLst/>
              <a:ahLst/>
              <a:cxnLst/>
              <a:rect l="l" t="t" r="r" b="b"/>
              <a:pathLst>
                <a:path w="2651760" h="64134">
                  <a:moveTo>
                    <a:pt x="2651391" y="0"/>
                  </a:moveTo>
                  <a:lnTo>
                    <a:pt x="0" y="0"/>
                  </a:lnTo>
                  <a:lnTo>
                    <a:pt x="0" y="63715"/>
                  </a:lnTo>
                  <a:lnTo>
                    <a:pt x="1325879" y="63715"/>
                  </a:lnTo>
                  <a:lnTo>
                    <a:pt x="2651391" y="63715"/>
                  </a:lnTo>
                  <a:lnTo>
                    <a:pt x="2651391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3245764" y="1005486"/>
            <a:ext cx="2651760" cy="2560320"/>
          </a:xfrm>
          <a:prstGeom prst="rect">
            <a:avLst/>
          </a:prstGeom>
          <a:ln w="12599">
            <a:solidFill>
              <a:srgbClr val="CCFAF0"/>
            </a:solidFill>
          </a:ln>
        </p:spPr>
        <p:txBody>
          <a:bodyPr wrap="square" lIns="0" tIns="1365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75"/>
              </a:spcBef>
            </a:pPr>
            <a:r>
              <a:rPr dirty="0" sz="4600" spc="-25" b="1">
                <a:solidFill>
                  <a:srgbClr val="0C9387"/>
                </a:solidFill>
                <a:latin typeface="Calibri"/>
                <a:cs typeface="Calibri"/>
              </a:rPr>
              <a:t>3x</a:t>
            </a:r>
            <a:endParaRPr sz="4600">
              <a:latin typeface="Calibri"/>
              <a:cs typeface="Calibri"/>
            </a:endParaRPr>
          </a:p>
          <a:p>
            <a:pPr marL="89535">
              <a:lnSpc>
                <a:spcPct val="100000"/>
              </a:lnSpc>
              <a:spcBef>
                <a:spcPts val="2395"/>
              </a:spcBef>
            </a:pPr>
            <a:r>
              <a:rPr dirty="0" sz="1200">
                <a:solidFill>
                  <a:srgbClr val="1D283A"/>
                </a:solidFill>
                <a:latin typeface="Calibri"/>
                <a:cs typeface="Calibri"/>
              </a:rPr>
              <a:t>more</a:t>
            </a:r>
            <a:r>
              <a:rPr dirty="0" sz="1200" spc="-3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D283A"/>
                </a:solidFill>
                <a:latin typeface="Calibri"/>
                <a:cs typeface="Calibri"/>
              </a:rPr>
              <a:t>job</a:t>
            </a:r>
            <a:r>
              <a:rPr dirty="0" sz="1200" spc="-2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D283A"/>
                </a:solidFill>
                <a:latin typeface="Calibri"/>
                <a:cs typeface="Calibri"/>
              </a:rPr>
              <a:t>postings</a:t>
            </a:r>
            <a:r>
              <a:rPr dirty="0" sz="1200" spc="-2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1D283A"/>
                </a:solidFill>
                <a:latin typeface="Calibri"/>
                <a:cs typeface="Calibri"/>
              </a:rPr>
              <a:t>for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200">
                <a:solidFill>
                  <a:srgbClr val="1D283A"/>
                </a:solidFill>
                <a:latin typeface="Calibri"/>
                <a:cs typeface="Calibri"/>
              </a:rPr>
              <a:t>data</a:t>
            </a:r>
            <a:r>
              <a:rPr dirty="0" sz="1200" spc="-5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D283A"/>
                </a:solidFill>
                <a:latin typeface="Calibri"/>
                <a:cs typeface="Calibri"/>
              </a:rPr>
              <a:t>roles</a:t>
            </a:r>
            <a:r>
              <a:rPr dirty="0" sz="1200" spc="-4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D283A"/>
                </a:solidFill>
                <a:latin typeface="Calibri"/>
                <a:cs typeface="Calibri"/>
              </a:rPr>
              <a:t>since</a:t>
            </a:r>
            <a:r>
              <a:rPr dirty="0" sz="1200" spc="-5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1D283A"/>
                </a:solidFill>
                <a:latin typeface="Calibri"/>
                <a:cs typeface="Calibri"/>
              </a:rPr>
              <a:t>2020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125755" y="982435"/>
            <a:ext cx="2744470" cy="2652395"/>
            <a:chOff x="6125755" y="982435"/>
            <a:chExt cx="2744470" cy="265239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25755" y="982435"/>
              <a:ext cx="2743923" cy="265212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171844" y="1005486"/>
              <a:ext cx="2651760" cy="2560320"/>
            </a:xfrm>
            <a:custGeom>
              <a:avLst/>
              <a:gdLst/>
              <a:ahLst/>
              <a:cxnLst/>
              <a:rect l="l" t="t" r="r" b="b"/>
              <a:pathLst>
                <a:path w="2651759" h="2560320">
                  <a:moveTo>
                    <a:pt x="2651391" y="0"/>
                  </a:moveTo>
                  <a:lnTo>
                    <a:pt x="0" y="0"/>
                  </a:lnTo>
                  <a:lnTo>
                    <a:pt x="0" y="2559951"/>
                  </a:lnTo>
                  <a:lnTo>
                    <a:pt x="1325879" y="2559951"/>
                  </a:lnTo>
                  <a:lnTo>
                    <a:pt x="2651391" y="2559951"/>
                  </a:lnTo>
                  <a:lnTo>
                    <a:pt x="26513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31877" y="988544"/>
              <a:ext cx="2731325" cy="14329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171844" y="1005486"/>
              <a:ext cx="2651760" cy="64135"/>
            </a:xfrm>
            <a:custGeom>
              <a:avLst/>
              <a:gdLst/>
              <a:ahLst/>
              <a:cxnLst/>
              <a:rect l="l" t="t" r="r" b="b"/>
              <a:pathLst>
                <a:path w="2651759" h="64134">
                  <a:moveTo>
                    <a:pt x="2651391" y="0"/>
                  </a:moveTo>
                  <a:lnTo>
                    <a:pt x="0" y="0"/>
                  </a:lnTo>
                  <a:lnTo>
                    <a:pt x="0" y="63715"/>
                  </a:lnTo>
                  <a:lnTo>
                    <a:pt x="1325879" y="63715"/>
                  </a:lnTo>
                  <a:lnTo>
                    <a:pt x="2651391" y="63715"/>
                  </a:lnTo>
                  <a:lnTo>
                    <a:pt x="2651391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6171844" y="1005486"/>
            <a:ext cx="2651760" cy="2560320"/>
          </a:xfrm>
          <a:prstGeom prst="rect">
            <a:avLst/>
          </a:prstGeom>
          <a:ln w="12599">
            <a:solidFill>
              <a:srgbClr val="CCFAF0"/>
            </a:solidFill>
          </a:ln>
        </p:spPr>
        <p:txBody>
          <a:bodyPr wrap="square" lIns="0" tIns="13652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075"/>
              </a:spcBef>
            </a:pPr>
            <a:r>
              <a:rPr dirty="0" sz="4600" spc="-25" b="1">
                <a:solidFill>
                  <a:srgbClr val="0C9387"/>
                </a:solidFill>
                <a:latin typeface="Calibri"/>
                <a:cs typeface="Calibri"/>
              </a:rPr>
              <a:t>65%</a:t>
            </a:r>
            <a:endParaRPr sz="4600">
              <a:latin typeface="Calibri"/>
              <a:cs typeface="Calibri"/>
            </a:endParaRPr>
          </a:p>
          <a:p>
            <a:pPr marL="89535">
              <a:lnSpc>
                <a:spcPct val="100000"/>
              </a:lnSpc>
              <a:spcBef>
                <a:spcPts val="2395"/>
              </a:spcBef>
            </a:pPr>
            <a:r>
              <a:rPr dirty="0" sz="1200">
                <a:solidFill>
                  <a:srgbClr val="1D283A"/>
                </a:solidFill>
                <a:latin typeface="Calibri"/>
                <a:cs typeface="Calibri"/>
              </a:rPr>
              <a:t>of</a:t>
            </a:r>
            <a:r>
              <a:rPr dirty="0" sz="1200" spc="-10">
                <a:solidFill>
                  <a:srgbClr val="1D283A"/>
                </a:solidFill>
                <a:latin typeface="Calibri"/>
                <a:cs typeface="Calibri"/>
              </a:rPr>
              <a:t> today's</a:t>
            </a:r>
            <a:r>
              <a:rPr dirty="0" sz="1200" spc="-1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D283A"/>
                </a:solidFill>
                <a:latin typeface="Calibri"/>
                <a:cs typeface="Calibri"/>
              </a:rPr>
              <a:t>students</a:t>
            </a:r>
            <a:r>
              <a:rPr dirty="0" sz="1200" spc="-1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D283A"/>
                </a:solidFill>
                <a:latin typeface="Calibri"/>
                <a:cs typeface="Calibri"/>
              </a:rPr>
              <a:t>will</a:t>
            </a:r>
            <a:r>
              <a:rPr dirty="0" sz="1200" spc="-1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1D283A"/>
                </a:solidFill>
                <a:latin typeface="Calibri"/>
                <a:cs typeface="Calibri"/>
              </a:rPr>
              <a:t>work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200">
                <a:solidFill>
                  <a:srgbClr val="1D283A"/>
                </a:solidFill>
                <a:latin typeface="Calibri"/>
                <a:cs typeface="Calibri"/>
              </a:rPr>
              <a:t>in</a:t>
            </a:r>
            <a:r>
              <a:rPr dirty="0" sz="1200" spc="-3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D283A"/>
                </a:solidFill>
                <a:latin typeface="Calibri"/>
                <a:cs typeface="Calibri"/>
              </a:rPr>
              <a:t>roles</a:t>
            </a:r>
            <a:r>
              <a:rPr dirty="0" sz="1200" spc="-3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D283A"/>
                </a:solidFill>
                <a:latin typeface="Calibri"/>
                <a:cs typeface="Calibri"/>
              </a:rPr>
              <a:t>that</a:t>
            </a:r>
            <a:r>
              <a:rPr dirty="0" sz="1200" spc="-3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D283A"/>
                </a:solidFill>
                <a:latin typeface="Calibri"/>
                <a:cs typeface="Calibri"/>
              </a:rPr>
              <a:t>don't</a:t>
            </a:r>
            <a:r>
              <a:rPr dirty="0" sz="1200" spc="-3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D283A"/>
                </a:solidFill>
                <a:latin typeface="Calibri"/>
                <a:cs typeface="Calibri"/>
              </a:rPr>
              <a:t>yet</a:t>
            </a:r>
            <a:r>
              <a:rPr dirty="0" sz="1200" spc="-3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1D283A"/>
                </a:solidFill>
                <a:latin typeface="Calibri"/>
                <a:cs typeface="Calibri"/>
              </a:rPr>
              <a:t>exist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844179" y="3963862"/>
            <a:ext cx="54444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solidFill>
                  <a:srgbClr val="63738A"/>
                </a:solidFill>
                <a:latin typeface="Calibri"/>
                <a:cs typeface="Calibri"/>
              </a:rPr>
              <a:t>Understanding</a:t>
            </a:r>
            <a:r>
              <a:rPr dirty="0" sz="1200" spc="-25" i="1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63738A"/>
                </a:solidFill>
                <a:latin typeface="Calibri"/>
                <a:cs typeface="Calibri"/>
              </a:rPr>
              <a:t>which</a:t>
            </a:r>
            <a:r>
              <a:rPr dirty="0" sz="1200" spc="-25" i="1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63738A"/>
                </a:solidFill>
                <a:latin typeface="Calibri"/>
                <a:cs typeface="Calibri"/>
              </a:rPr>
              <a:t>skills</a:t>
            </a:r>
            <a:r>
              <a:rPr dirty="0" sz="1200" spc="-30" i="1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63738A"/>
                </a:solidFill>
                <a:latin typeface="Calibri"/>
                <a:cs typeface="Calibri"/>
              </a:rPr>
              <a:t>are</a:t>
            </a:r>
            <a:r>
              <a:rPr dirty="0" sz="1200" spc="-30" i="1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63738A"/>
                </a:solidFill>
                <a:latin typeface="Calibri"/>
                <a:cs typeface="Calibri"/>
              </a:rPr>
              <a:t>in</a:t>
            </a:r>
            <a:r>
              <a:rPr dirty="0" sz="1200" spc="-25" i="1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63738A"/>
                </a:solidFill>
                <a:latin typeface="Calibri"/>
                <a:cs typeface="Calibri"/>
              </a:rPr>
              <a:t>demand</a:t>
            </a:r>
            <a:r>
              <a:rPr dirty="0" sz="1200" spc="-25" i="1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63738A"/>
                </a:solidFill>
                <a:latin typeface="Calibri"/>
                <a:cs typeface="Calibri"/>
              </a:rPr>
              <a:t>helps</a:t>
            </a:r>
            <a:r>
              <a:rPr dirty="0" sz="1200" spc="-30" i="1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63738A"/>
                </a:solidFill>
                <a:latin typeface="Calibri"/>
                <a:cs typeface="Calibri"/>
              </a:rPr>
              <a:t>students</a:t>
            </a:r>
            <a:r>
              <a:rPr dirty="0" sz="1200" spc="-30" i="1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63738A"/>
                </a:solidFill>
                <a:latin typeface="Calibri"/>
                <a:cs typeface="Calibri"/>
              </a:rPr>
              <a:t>make</a:t>
            </a:r>
            <a:r>
              <a:rPr dirty="0" sz="1200" spc="-30" i="1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63738A"/>
                </a:solidFill>
                <a:latin typeface="Calibri"/>
                <a:cs typeface="Calibri"/>
              </a:rPr>
              <a:t>smarter</a:t>
            </a:r>
            <a:r>
              <a:rPr dirty="0" sz="1200" spc="-20" i="1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63738A"/>
                </a:solidFill>
                <a:latin typeface="Calibri"/>
                <a:cs typeface="Calibri"/>
              </a:rPr>
              <a:t>career</a:t>
            </a:r>
            <a:r>
              <a:rPr dirty="0" sz="1200" spc="-20" i="1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200" spc="-10" i="1">
                <a:solidFill>
                  <a:srgbClr val="63738A"/>
                </a:solidFill>
                <a:latin typeface="Calibri"/>
                <a:cs typeface="Calibri"/>
              </a:rPr>
              <a:t>decisions.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dirty="0" spc="-80"/>
              <a:t> </a:t>
            </a:r>
            <a:r>
              <a:rPr dirty="0" spc="-10"/>
              <a:t>Statement</a:t>
            </a:r>
            <a:r>
              <a:rPr dirty="0" spc="-90"/>
              <a:t> </a:t>
            </a:r>
            <a:r>
              <a:rPr dirty="0"/>
              <a:t>&amp;</a:t>
            </a:r>
            <a:r>
              <a:rPr dirty="0" spc="-85"/>
              <a:t> </a:t>
            </a:r>
            <a:r>
              <a:rPr dirty="0" spc="-10"/>
              <a:t>Objectives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19316" y="936716"/>
            <a:ext cx="8505190" cy="1006475"/>
            <a:chOff x="319316" y="936716"/>
            <a:chExt cx="8505190" cy="10064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9316" y="936716"/>
              <a:ext cx="8504643" cy="100620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65404" y="959766"/>
              <a:ext cx="8412480" cy="914400"/>
            </a:xfrm>
            <a:custGeom>
              <a:avLst/>
              <a:gdLst/>
              <a:ahLst/>
              <a:cxnLst/>
              <a:rect l="l" t="t" r="r" b="b"/>
              <a:pathLst>
                <a:path w="8412480" h="914400">
                  <a:moveTo>
                    <a:pt x="8412111" y="0"/>
                  </a:moveTo>
                  <a:lnTo>
                    <a:pt x="0" y="0"/>
                  </a:lnTo>
                  <a:lnTo>
                    <a:pt x="0" y="914031"/>
                  </a:lnTo>
                  <a:lnTo>
                    <a:pt x="4206240" y="914031"/>
                  </a:lnTo>
                  <a:lnTo>
                    <a:pt x="8412111" y="914031"/>
                  </a:lnTo>
                  <a:lnTo>
                    <a:pt x="8412111" y="0"/>
                  </a:lnTo>
                  <a:close/>
                </a:path>
              </a:pathLst>
            </a:custGeom>
            <a:solidFill>
              <a:srgbClr val="EEF5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5805" y="942824"/>
              <a:ext cx="152641" cy="99362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65759" y="959766"/>
              <a:ext cx="73025" cy="914400"/>
            </a:xfrm>
            <a:custGeom>
              <a:avLst/>
              <a:gdLst/>
              <a:ahLst/>
              <a:cxnLst/>
              <a:rect l="l" t="t" r="r" b="b"/>
              <a:pathLst>
                <a:path w="73025" h="914400">
                  <a:moveTo>
                    <a:pt x="72720" y="0"/>
                  </a:moveTo>
                  <a:lnTo>
                    <a:pt x="0" y="0"/>
                  </a:lnTo>
                  <a:lnTo>
                    <a:pt x="0" y="914031"/>
                  </a:lnTo>
                  <a:lnTo>
                    <a:pt x="36360" y="914031"/>
                  </a:lnTo>
                  <a:lnTo>
                    <a:pt x="72720" y="914031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365404" y="959766"/>
            <a:ext cx="8412480" cy="914400"/>
          </a:xfrm>
          <a:prstGeom prst="rect">
            <a:avLst/>
          </a:prstGeom>
          <a:ln w="12599">
            <a:solidFill>
              <a:srgbClr val="BEDAFD"/>
            </a:solidFill>
          </a:ln>
        </p:spPr>
        <p:txBody>
          <a:bodyPr wrap="square" lIns="0" tIns="90170" rIns="0" bIns="0" rtlCol="0" vert="horz">
            <a:spAutoFit/>
          </a:bodyPr>
          <a:lstStyle/>
          <a:p>
            <a:pPr marL="272415" marR="2275205">
              <a:lnSpc>
                <a:spcPct val="100000"/>
              </a:lnSpc>
              <a:spcBef>
                <a:spcPts val="710"/>
              </a:spcBef>
            </a:pPr>
            <a:r>
              <a:rPr dirty="0" sz="1200" spc="-10">
                <a:solidFill>
                  <a:srgbClr val="1D283A"/>
                </a:solidFill>
                <a:latin typeface="Calibri"/>
                <a:cs typeface="Calibri"/>
              </a:rPr>
              <a:t>Problem:</a:t>
            </a:r>
            <a:r>
              <a:rPr dirty="0" sz="1200" spc="-2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D283A"/>
                </a:solidFill>
                <a:latin typeface="Calibri"/>
                <a:cs typeface="Calibri"/>
              </a:rPr>
              <a:t>Students</a:t>
            </a:r>
            <a:r>
              <a:rPr dirty="0" sz="1200" spc="-2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D283A"/>
                </a:solidFill>
                <a:latin typeface="Calibri"/>
                <a:cs typeface="Calibri"/>
              </a:rPr>
              <a:t>&amp;</a:t>
            </a:r>
            <a:r>
              <a:rPr dirty="0" sz="1200" spc="-2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D283A"/>
                </a:solidFill>
                <a:latin typeface="Calibri"/>
                <a:cs typeface="Calibri"/>
              </a:rPr>
              <a:t>professionals</a:t>
            </a:r>
            <a:r>
              <a:rPr dirty="0" sz="1200" spc="-2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D283A"/>
                </a:solidFill>
                <a:latin typeface="Calibri"/>
                <a:cs typeface="Calibri"/>
              </a:rPr>
              <a:t>lack</a:t>
            </a:r>
            <a:r>
              <a:rPr dirty="0" sz="1200" spc="-20">
                <a:solidFill>
                  <a:srgbClr val="1D283A"/>
                </a:solidFill>
                <a:latin typeface="Calibri"/>
                <a:cs typeface="Calibri"/>
              </a:rPr>
              <a:t> data-</a:t>
            </a:r>
            <a:r>
              <a:rPr dirty="0" sz="1200">
                <a:solidFill>
                  <a:srgbClr val="1D283A"/>
                </a:solidFill>
                <a:latin typeface="Calibri"/>
                <a:cs typeface="Calibri"/>
              </a:rPr>
              <a:t>driven</a:t>
            </a:r>
            <a:r>
              <a:rPr dirty="0" sz="1200" spc="-2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D283A"/>
                </a:solidFill>
                <a:latin typeface="Calibri"/>
                <a:cs typeface="Calibri"/>
              </a:rPr>
              <a:t>insight</a:t>
            </a:r>
            <a:r>
              <a:rPr dirty="0" sz="1200" spc="-2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D283A"/>
                </a:solidFill>
                <a:latin typeface="Calibri"/>
                <a:cs typeface="Calibri"/>
              </a:rPr>
              <a:t>into</a:t>
            </a:r>
            <a:r>
              <a:rPr dirty="0" sz="1200" spc="-1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D283A"/>
                </a:solidFill>
                <a:latin typeface="Calibri"/>
                <a:cs typeface="Calibri"/>
              </a:rPr>
              <a:t>which</a:t>
            </a:r>
            <a:r>
              <a:rPr dirty="0" sz="1200" spc="-2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D283A"/>
                </a:solidFill>
                <a:latin typeface="Calibri"/>
                <a:cs typeface="Calibri"/>
              </a:rPr>
              <a:t>skills</a:t>
            </a:r>
            <a:r>
              <a:rPr dirty="0" sz="1200" spc="-2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D283A"/>
                </a:solidFill>
                <a:latin typeface="Calibri"/>
                <a:cs typeface="Calibri"/>
              </a:rPr>
              <a:t>employers</a:t>
            </a:r>
            <a:r>
              <a:rPr dirty="0" sz="1200" spc="-2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D283A"/>
                </a:solidFill>
                <a:latin typeface="Calibri"/>
                <a:cs typeface="Calibri"/>
              </a:rPr>
              <a:t>demand, </a:t>
            </a:r>
            <a:r>
              <a:rPr dirty="0" sz="1200">
                <a:solidFill>
                  <a:srgbClr val="1D283A"/>
                </a:solidFill>
                <a:latin typeface="Calibri"/>
                <a:cs typeface="Calibri"/>
              </a:rPr>
              <a:t>leading</a:t>
            </a:r>
            <a:r>
              <a:rPr dirty="0" sz="1200" spc="-2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D283A"/>
                </a:solidFill>
                <a:latin typeface="Calibri"/>
                <a:cs typeface="Calibri"/>
              </a:rPr>
              <a:t>to</a:t>
            </a:r>
            <a:r>
              <a:rPr dirty="0" sz="1200" spc="-2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D283A"/>
                </a:solidFill>
                <a:latin typeface="Calibri"/>
                <a:cs typeface="Calibri"/>
              </a:rPr>
              <a:t>misaligned</a:t>
            </a:r>
            <a:r>
              <a:rPr dirty="0" sz="1200" spc="-3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D283A"/>
                </a:solidFill>
                <a:latin typeface="Calibri"/>
                <a:cs typeface="Calibri"/>
              </a:rPr>
              <a:t>career</a:t>
            </a:r>
            <a:r>
              <a:rPr dirty="0" sz="1200" spc="-2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D283A"/>
                </a:solidFill>
                <a:latin typeface="Calibri"/>
                <a:cs typeface="Calibri"/>
              </a:rPr>
              <a:t>preparation.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19316" y="1988631"/>
            <a:ext cx="4116070" cy="1143635"/>
            <a:chOff x="319316" y="1988631"/>
            <a:chExt cx="4116070" cy="114363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9316" y="1988631"/>
              <a:ext cx="4115523" cy="114336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65404" y="2011682"/>
              <a:ext cx="4023360" cy="1051560"/>
            </a:xfrm>
            <a:custGeom>
              <a:avLst/>
              <a:gdLst/>
              <a:ahLst/>
              <a:cxnLst/>
              <a:rect l="l" t="t" r="r" b="b"/>
              <a:pathLst>
                <a:path w="4023360" h="1051560">
                  <a:moveTo>
                    <a:pt x="4022991" y="0"/>
                  </a:moveTo>
                  <a:lnTo>
                    <a:pt x="0" y="0"/>
                  </a:lnTo>
                  <a:lnTo>
                    <a:pt x="0" y="1051204"/>
                  </a:lnTo>
                  <a:lnTo>
                    <a:pt x="2011680" y="1051204"/>
                  </a:lnTo>
                  <a:lnTo>
                    <a:pt x="4022991" y="1051204"/>
                  </a:lnTo>
                  <a:lnTo>
                    <a:pt x="4022991" y="0"/>
                  </a:lnTo>
                  <a:close/>
                </a:path>
              </a:pathLst>
            </a:custGeom>
            <a:solidFill>
              <a:srgbClr val="EFFC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65404" y="2011682"/>
              <a:ext cx="4023360" cy="1051560"/>
            </a:xfrm>
            <a:custGeom>
              <a:avLst/>
              <a:gdLst/>
              <a:ahLst/>
              <a:cxnLst/>
              <a:rect l="l" t="t" r="r" b="b"/>
              <a:pathLst>
                <a:path w="4023360" h="1051560">
                  <a:moveTo>
                    <a:pt x="2011680" y="1051204"/>
                  </a:moveTo>
                  <a:lnTo>
                    <a:pt x="0" y="1051204"/>
                  </a:lnTo>
                  <a:lnTo>
                    <a:pt x="0" y="0"/>
                  </a:lnTo>
                  <a:lnTo>
                    <a:pt x="4022991" y="0"/>
                  </a:lnTo>
                  <a:lnTo>
                    <a:pt x="4022991" y="1051204"/>
                  </a:lnTo>
                  <a:lnTo>
                    <a:pt x="2011680" y="1051204"/>
                  </a:lnTo>
                  <a:close/>
                </a:path>
              </a:pathLst>
            </a:custGeom>
            <a:ln w="12599">
              <a:solidFill>
                <a:srgbClr val="CCFA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5437" y="1994752"/>
              <a:ext cx="628205" cy="113076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65404" y="2011682"/>
              <a:ext cx="548640" cy="1051560"/>
            </a:xfrm>
            <a:custGeom>
              <a:avLst/>
              <a:gdLst/>
              <a:ahLst/>
              <a:cxnLst/>
              <a:rect l="l" t="t" r="r" b="b"/>
              <a:pathLst>
                <a:path w="548640" h="1051560">
                  <a:moveTo>
                    <a:pt x="548271" y="0"/>
                  </a:moveTo>
                  <a:lnTo>
                    <a:pt x="0" y="0"/>
                  </a:lnTo>
                  <a:lnTo>
                    <a:pt x="0" y="1051204"/>
                  </a:lnTo>
                  <a:lnTo>
                    <a:pt x="274320" y="1051204"/>
                  </a:lnTo>
                  <a:lnTo>
                    <a:pt x="548271" y="1051204"/>
                  </a:lnTo>
                  <a:lnTo>
                    <a:pt x="548271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4616996" y="1988631"/>
            <a:ext cx="4116070" cy="1143635"/>
            <a:chOff x="4616996" y="1988631"/>
            <a:chExt cx="4116070" cy="1143635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16996" y="1988631"/>
              <a:ext cx="4115523" cy="114336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663084" y="2011682"/>
              <a:ext cx="4023360" cy="1051560"/>
            </a:xfrm>
            <a:custGeom>
              <a:avLst/>
              <a:gdLst/>
              <a:ahLst/>
              <a:cxnLst/>
              <a:rect l="l" t="t" r="r" b="b"/>
              <a:pathLst>
                <a:path w="4023359" h="1051560">
                  <a:moveTo>
                    <a:pt x="4022991" y="0"/>
                  </a:moveTo>
                  <a:lnTo>
                    <a:pt x="0" y="0"/>
                  </a:lnTo>
                  <a:lnTo>
                    <a:pt x="0" y="1051204"/>
                  </a:lnTo>
                  <a:lnTo>
                    <a:pt x="2011679" y="1051204"/>
                  </a:lnTo>
                  <a:lnTo>
                    <a:pt x="4022991" y="1051204"/>
                  </a:lnTo>
                  <a:lnTo>
                    <a:pt x="4022991" y="0"/>
                  </a:lnTo>
                  <a:close/>
                </a:path>
              </a:pathLst>
            </a:custGeom>
            <a:solidFill>
              <a:srgbClr val="EFFC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663084" y="2011682"/>
              <a:ext cx="4023360" cy="1051560"/>
            </a:xfrm>
            <a:custGeom>
              <a:avLst/>
              <a:gdLst/>
              <a:ahLst/>
              <a:cxnLst/>
              <a:rect l="l" t="t" r="r" b="b"/>
              <a:pathLst>
                <a:path w="4023359" h="1051560">
                  <a:moveTo>
                    <a:pt x="2011679" y="1051204"/>
                  </a:moveTo>
                  <a:lnTo>
                    <a:pt x="0" y="1051204"/>
                  </a:lnTo>
                  <a:lnTo>
                    <a:pt x="0" y="0"/>
                  </a:lnTo>
                  <a:lnTo>
                    <a:pt x="4022991" y="0"/>
                  </a:lnTo>
                  <a:lnTo>
                    <a:pt x="4022991" y="1051204"/>
                  </a:lnTo>
                  <a:lnTo>
                    <a:pt x="2011679" y="1051204"/>
                  </a:lnTo>
                  <a:close/>
                </a:path>
              </a:pathLst>
            </a:custGeom>
            <a:ln w="12599">
              <a:solidFill>
                <a:srgbClr val="CCFA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23117" y="1994752"/>
              <a:ext cx="628205" cy="113076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663084" y="2011682"/>
              <a:ext cx="548640" cy="1051560"/>
            </a:xfrm>
            <a:custGeom>
              <a:avLst/>
              <a:gdLst/>
              <a:ahLst/>
              <a:cxnLst/>
              <a:rect l="l" t="t" r="r" b="b"/>
              <a:pathLst>
                <a:path w="548639" h="1051560">
                  <a:moveTo>
                    <a:pt x="548271" y="0"/>
                  </a:moveTo>
                  <a:lnTo>
                    <a:pt x="0" y="0"/>
                  </a:lnTo>
                  <a:lnTo>
                    <a:pt x="0" y="1051204"/>
                  </a:lnTo>
                  <a:lnTo>
                    <a:pt x="274319" y="1051204"/>
                  </a:lnTo>
                  <a:lnTo>
                    <a:pt x="548271" y="1051204"/>
                  </a:lnTo>
                  <a:lnTo>
                    <a:pt x="548271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537844" y="2043990"/>
            <a:ext cx="45154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4297045" algn="l"/>
              </a:tabLst>
            </a:pPr>
            <a:r>
              <a:rPr dirty="0" sz="1600" spc="-25" b="1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600" spc="-25" b="1">
                <a:solidFill>
                  <a:srgbClr val="FFFFFF"/>
                </a:solidFill>
                <a:latin typeface="Calibri"/>
                <a:cs typeface="Calibri"/>
              </a:rPr>
              <a:t>02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77125" y="2116698"/>
            <a:ext cx="57391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297045" algn="l"/>
              </a:tabLst>
            </a:pPr>
            <a:r>
              <a:rPr dirty="0" sz="1200" b="1">
                <a:solidFill>
                  <a:srgbClr val="0C1A29"/>
                </a:solidFill>
                <a:latin typeface="Calibri"/>
                <a:cs typeface="Calibri"/>
              </a:rPr>
              <a:t>Identify</a:t>
            </a:r>
            <a:r>
              <a:rPr dirty="0" sz="1200" spc="-45" b="1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C1A29"/>
                </a:solidFill>
                <a:latin typeface="Calibri"/>
                <a:cs typeface="Calibri"/>
              </a:rPr>
              <a:t>In-</a:t>
            </a:r>
            <a:r>
              <a:rPr dirty="0" sz="1200" b="1">
                <a:solidFill>
                  <a:srgbClr val="0C1A29"/>
                </a:solidFill>
                <a:latin typeface="Calibri"/>
                <a:cs typeface="Calibri"/>
              </a:rPr>
              <a:t>Demand</a:t>
            </a:r>
            <a:r>
              <a:rPr dirty="0" sz="1200" spc="-35" b="1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C1A29"/>
                </a:solidFill>
                <a:latin typeface="Calibri"/>
                <a:cs typeface="Calibri"/>
              </a:rPr>
              <a:t>Skills</a:t>
            </a:r>
            <a:r>
              <a:rPr dirty="0" sz="1200" b="1">
                <a:solidFill>
                  <a:srgbClr val="0C1A29"/>
                </a:solidFill>
                <a:latin typeface="Calibri"/>
                <a:cs typeface="Calibri"/>
              </a:rPr>
              <a:t>	</a:t>
            </a:r>
            <a:r>
              <a:rPr dirty="0" sz="1200" spc="-20" b="1">
                <a:solidFill>
                  <a:srgbClr val="0C1A29"/>
                </a:solidFill>
                <a:latin typeface="Calibri"/>
                <a:cs typeface="Calibri"/>
              </a:rPr>
              <a:t>Industry-</a:t>
            </a:r>
            <a:r>
              <a:rPr dirty="0" sz="1200" b="1">
                <a:solidFill>
                  <a:srgbClr val="0C1A29"/>
                </a:solidFill>
                <a:latin typeface="Calibri"/>
                <a:cs typeface="Calibri"/>
              </a:rPr>
              <a:t>Wise</a:t>
            </a:r>
            <a:r>
              <a:rPr dirty="0" sz="1200" spc="55" b="1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C1A29"/>
                </a:solidFill>
                <a:latin typeface="Calibri"/>
                <a:cs typeface="Calibri"/>
              </a:rPr>
              <a:t>Analysis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77125" y="2482471"/>
            <a:ext cx="710120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297045" algn="l"/>
              </a:tabLst>
            </a:pP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Find</a:t>
            </a:r>
            <a:r>
              <a:rPr dirty="0" sz="1000" spc="-2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which</a:t>
            </a:r>
            <a:r>
              <a:rPr dirty="0" sz="1000" spc="-3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skills</a:t>
            </a:r>
            <a:r>
              <a:rPr dirty="0" sz="1000" spc="-1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appear</a:t>
            </a:r>
            <a:r>
              <a:rPr dirty="0" sz="1000" spc="-3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most</a:t>
            </a:r>
            <a:r>
              <a:rPr dirty="0" sz="1000" spc="-1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in</a:t>
            </a:r>
            <a:r>
              <a:rPr dirty="0" sz="1000" spc="-3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job</a:t>
            </a:r>
            <a:r>
              <a:rPr dirty="0" sz="1000" spc="-3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3738A"/>
                </a:solidFill>
                <a:latin typeface="Calibri"/>
                <a:cs typeface="Calibri"/>
              </a:rPr>
              <a:t>postings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	</a:t>
            </a:r>
            <a:r>
              <a:rPr dirty="0" sz="1000" spc="-10">
                <a:solidFill>
                  <a:srgbClr val="63738A"/>
                </a:solidFill>
                <a:latin typeface="Calibri"/>
                <a:cs typeface="Calibri"/>
              </a:rPr>
              <a:t>Understand</a:t>
            </a:r>
            <a:r>
              <a:rPr dirty="0" sz="1000" spc="-2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skill</a:t>
            </a:r>
            <a:r>
              <a:rPr dirty="0" sz="1000" spc="-2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needs</a:t>
            </a:r>
            <a:r>
              <a:rPr dirty="0" sz="1000" spc="-2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across</a:t>
            </a:r>
            <a:r>
              <a:rPr dirty="0" sz="1000" spc="-2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 spc="-40">
                <a:solidFill>
                  <a:srgbClr val="63738A"/>
                </a:solidFill>
                <a:latin typeface="Calibri"/>
                <a:cs typeface="Calibri"/>
              </a:rPr>
              <a:t>IT,</a:t>
            </a:r>
            <a:r>
              <a:rPr dirty="0" sz="1000" spc="-1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Data</a:t>
            </a:r>
            <a:r>
              <a:rPr dirty="0" sz="1000" spc="-1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3738A"/>
                </a:solidFill>
                <a:latin typeface="Calibri"/>
                <a:cs typeface="Calibri"/>
              </a:rPr>
              <a:t>Science,</a:t>
            </a:r>
            <a:r>
              <a:rPr dirty="0" sz="1000" spc="-1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3738A"/>
                </a:solidFill>
                <a:latin typeface="Calibri"/>
                <a:cs typeface="Calibri"/>
              </a:rPr>
              <a:t>Finance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19316" y="3268791"/>
            <a:ext cx="4116070" cy="1143635"/>
            <a:chOff x="319316" y="3268791"/>
            <a:chExt cx="4116070" cy="1143635"/>
          </a:xfrm>
        </p:grpSpPr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9316" y="3268791"/>
              <a:ext cx="4115523" cy="114336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65404" y="3291842"/>
              <a:ext cx="4023360" cy="1051560"/>
            </a:xfrm>
            <a:custGeom>
              <a:avLst/>
              <a:gdLst/>
              <a:ahLst/>
              <a:cxnLst/>
              <a:rect l="l" t="t" r="r" b="b"/>
              <a:pathLst>
                <a:path w="4023360" h="1051560">
                  <a:moveTo>
                    <a:pt x="4022991" y="0"/>
                  </a:moveTo>
                  <a:lnTo>
                    <a:pt x="0" y="0"/>
                  </a:lnTo>
                  <a:lnTo>
                    <a:pt x="0" y="1051204"/>
                  </a:lnTo>
                  <a:lnTo>
                    <a:pt x="2011680" y="1051204"/>
                  </a:lnTo>
                  <a:lnTo>
                    <a:pt x="4022991" y="1051204"/>
                  </a:lnTo>
                  <a:lnTo>
                    <a:pt x="4022991" y="0"/>
                  </a:lnTo>
                  <a:close/>
                </a:path>
              </a:pathLst>
            </a:custGeom>
            <a:solidFill>
              <a:srgbClr val="EFFC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65404" y="3291842"/>
              <a:ext cx="4023360" cy="1051560"/>
            </a:xfrm>
            <a:custGeom>
              <a:avLst/>
              <a:gdLst/>
              <a:ahLst/>
              <a:cxnLst/>
              <a:rect l="l" t="t" r="r" b="b"/>
              <a:pathLst>
                <a:path w="4023360" h="1051560">
                  <a:moveTo>
                    <a:pt x="2011680" y="1051204"/>
                  </a:moveTo>
                  <a:lnTo>
                    <a:pt x="0" y="1051204"/>
                  </a:lnTo>
                  <a:lnTo>
                    <a:pt x="0" y="0"/>
                  </a:lnTo>
                  <a:lnTo>
                    <a:pt x="4022991" y="0"/>
                  </a:lnTo>
                  <a:lnTo>
                    <a:pt x="4022991" y="1051204"/>
                  </a:lnTo>
                  <a:lnTo>
                    <a:pt x="2011680" y="1051204"/>
                  </a:lnTo>
                  <a:close/>
                </a:path>
              </a:pathLst>
            </a:custGeom>
            <a:ln w="12599">
              <a:solidFill>
                <a:srgbClr val="CCFA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5437" y="3274912"/>
              <a:ext cx="628205" cy="113076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65404" y="3291842"/>
              <a:ext cx="548640" cy="1051560"/>
            </a:xfrm>
            <a:custGeom>
              <a:avLst/>
              <a:gdLst/>
              <a:ahLst/>
              <a:cxnLst/>
              <a:rect l="l" t="t" r="r" b="b"/>
              <a:pathLst>
                <a:path w="548640" h="1051560">
                  <a:moveTo>
                    <a:pt x="548271" y="0"/>
                  </a:moveTo>
                  <a:lnTo>
                    <a:pt x="0" y="0"/>
                  </a:lnTo>
                  <a:lnTo>
                    <a:pt x="0" y="1051204"/>
                  </a:lnTo>
                  <a:lnTo>
                    <a:pt x="274320" y="1051204"/>
                  </a:lnTo>
                  <a:lnTo>
                    <a:pt x="548271" y="1051204"/>
                  </a:lnTo>
                  <a:lnTo>
                    <a:pt x="548271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537844" y="3324150"/>
            <a:ext cx="21780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FFFFFF"/>
                </a:solidFill>
                <a:latin typeface="Calibri"/>
                <a:cs typeface="Calibri"/>
              </a:rPr>
              <a:t>03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77125" y="3396858"/>
            <a:ext cx="14262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solidFill>
                  <a:srgbClr val="0C1A29"/>
                </a:solidFill>
                <a:latin typeface="Calibri"/>
                <a:cs typeface="Calibri"/>
              </a:rPr>
              <a:t>Location-</a:t>
            </a:r>
            <a:r>
              <a:rPr dirty="0" sz="1200" b="1">
                <a:solidFill>
                  <a:srgbClr val="0C1A29"/>
                </a:solidFill>
                <a:latin typeface="Calibri"/>
                <a:cs typeface="Calibri"/>
              </a:rPr>
              <a:t>Based</a:t>
            </a:r>
            <a:r>
              <a:rPr dirty="0" sz="1200" spc="45" b="1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C1A29"/>
                </a:solidFill>
                <a:latin typeface="Calibri"/>
                <a:cs typeface="Calibri"/>
              </a:rPr>
              <a:t>Trends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77125" y="3762631"/>
            <a:ext cx="259842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63738A"/>
                </a:solidFill>
                <a:latin typeface="Calibri"/>
                <a:cs typeface="Calibri"/>
              </a:rPr>
              <a:t>Discover</a:t>
            </a:r>
            <a:r>
              <a:rPr dirty="0" sz="1000" spc="-3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which</a:t>
            </a:r>
            <a:r>
              <a:rPr dirty="0" sz="1000" spc="-3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cities</a:t>
            </a:r>
            <a:r>
              <a:rPr dirty="0" sz="1000" spc="-3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have</a:t>
            </a:r>
            <a:r>
              <a:rPr dirty="0" sz="1000" spc="-3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the</a:t>
            </a:r>
            <a:r>
              <a:rPr dirty="0" sz="1000" spc="-2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highest</a:t>
            </a:r>
            <a:r>
              <a:rPr dirty="0" sz="1000" spc="-2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job</a:t>
            </a:r>
            <a:r>
              <a:rPr dirty="0" sz="1000" spc="-2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3738A"/>
                </a:solidFill>
                <a:latin typeface="Calibri"/>
                <a:cs typeface="Calibri"/>
              </a:rPr>
              <a:t>demand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616996" y="3268791"/>
            <a:ext cx="4116070" cy="1143635"/>
            <a:chOff x="4616996" y="3268791"/>
            <a:chExt cx="4116070" cy="1143635"/>
          </a:xfrm>
        </p:grpSpPr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16996" y="3268791"/>
              <a:ext cx="4115523" cy="114336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663084" y="3291842"/>
              <a:ext cx="4023360" cy="1051560"/>
            </a:xfrm>
            <a:custGeom>
              <a:avLst/>
              <a:gdLst/>
              <a:ahLst/>
              <a:cxnLst/>
              <a:rect l="l" t="t" r="r" b="b"/>
              <a:pathLst>
                <a:path w="4023359" h="1051560">
                  <a:moveTo>
                    <a:pt x="4022991" y="0"/>
                  </a:moveTo>
                  <a:lnTo>
                    <a:pt x="0" y="0"/>
                  </a:lnTo>
                  <a:lnTo>
                    <a:pt x="0" y="1051204"/>
                  </a:lnTo>
                  <a:lnTo>
                    <a:pt x="2011679" y="1051204"/>
                  </a:lnTo>
                  <a:lnTo>
                    <a:pt x="4022991" y="1051204"/>
                  </a:lnTo>
                  <a:lnTo>
                    <a:pt x="4022991" y="0"/>
                  </a:lnTo>
                  <a:close/>
                </a:path>
              </a:pathLst>
            </a:custGeom>
            <a:solidFill>
              <a:srgbClr val="EFFC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663084" y="3291842"/>
              <a:ext cx="4023360" cy="1051560"/>
            </a:xfrm>
            <a:custGeom>
              <a:avLst/>
              <a:gdLst/>
              <a:ahLst/>
              <a:cxnLst/>
              <a:rect l="l" t="t" r="r" b="b"/>
              <a:pathLst>
                <a:path w="4023359" h="1051560">
                  <a:moveTo>
                    <a:pt x="2011679" y="1051204"/>
                  </a:moveTo>
                  <a:lnTo>
                    <a:pt x="0" y="1051204"/>
                  </a:lnTo>
                  <a:lnTo>
                    <a:pt x="0" y="0"/>
                  </a:lnTo>
                  <a:lnTo>
                    <a:pt x="4022991" y="0"/>
                  </a:lnTo>
                  <a:lnTo>
                    <a:pt x="4022991" y="1051204"/>
                  </a:lnTo>
                  <a:lnTo>
                    <a:pt x="2011679" y="1051204"/>
                  </a:lnTo>
                  <a:close/>
                </a:path>
              </a:pathLst>
            </a:custGeom>
            <a:ln w="12599">
              <a:solidFill>
                <a:srgbClr val="CCFA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23117" y="3274912"/>
              <a:ext cx="628205" cy="1130769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4663084" y="3291842"/>
              <a:ext cx="548640" cy="1051560"/>
            </a:xfrm>
            <a:custGeom>
              <a:avLst/>
              <a:gdLst/>
              <a:ahLst/>
              <a:cxnLst/>
              <a:rect l="l" t="t" r="r" b="b"/>
              <a:pathLst>
                <a:path w="548639" h="1051560">
                  <a:moveTo>
                    <a:pt x="548271" y="0"/>
                  </a:moveTo>
                  <a:lnTo>
                    <a:pt x="0" y="0"/>
                  </a:lnTo>
                  <a:lnTo>
                    <a:pt x="0" y="1051204"/>
                  </a:lnTo>
                  <a:lnTo>
                    <a:pt x="274319" y="1051204"/>
                  </a:lnTo>
                  <a:lnTo>
                    <a:pt x="548271" y="1051204"/>
                  </a:lnTo>
                  <a:lnTo>
                    <a:pt x="548271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4835525" y="3324150"/>
            <a:ext cx="21780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FFFFFF"/>
                </a:solidFill>
                <a:latin typeface="Calibri"/>
                <a:cs typeface="Calibri"/>
              </a:rPr>
              <a:t>04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374805" y="3396858"/>
            <a:ext cx="17418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0C1A29"/>
                </a:solidFill>
                <a:latin typeface="Calibri"/>
                <a:cs typeface="Calibri"/>
              </a:rPr>
              <a:t>Data-</a:t>
            </a:r>
            <a:r>
              <a:rPr dirty="0" sz="1200" b="1">
                <a:solidFill>
                  <a:srgbClr val="0C1A29"/>
                </a:solidFill>
                <a:latin typeface="Calibri"/>
                <a:cs typeface="Calibri"/>
              </a:rPr>
              <a:t>Driven</a:t>
            </a:r>
            <a:r>
              <a:rPr dirty="0" sz="1200" spc="-45" b="1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C1A29"/>
                </a:solidFill>
                <a:latin typeface="Calibri"/>
                <a:cs typeface="Calibri"/>
              </a:rPr>
              <a:t>Career</a:t>
            </a:r>
            <a:r>
              <a:rPr dirty="0" sz="1200" spc="-45" b="1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C1A29"/>
                </a:solidFill>
                <a:latin typeface="Calibri"/>
                <a:cs typeface="Calibri"/>
              </a:rPr>
              <a:t>Insights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374805" y="3762631"/>
            <a:ext cx="285750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Help</a:t>
            </a:r>
            <a:r>
              <a:rPr dirty="0" sz="1000" spc="-3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3738A"/>
                </a:solidFill>
                <a:latin typeface="Calibri"/>
                <a:cs typeface="Calibri"/>
              </a:rPr>
              <a:t>students</a:t>
            </a:r>
            <a:r>
              <a:rPr dirty="0" sz="1000" spc="-1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3738A"/>
                </a:solidFill>
                <a:latin typeface="Calibri"/>
                <a:cs typeface="Calibri"/>
              </a:rPr>
              <a:t>make</a:t>
            </a:r>
            <a:r>
              <a:rPr dirty="0" sz="1000" spc="-2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3738A"/>
                </a:solidFill>
                <a:latin typeface="Calibri"/>
                <a:cs typeface="Calibri"/>
              </a:rPr>
              <a:t>informed</a:t>
            </a:r>
            <a:r>
              <a:rPr dirty="0" sz="1000" spc="-3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career</a:t>
            </a:r>
            <a:r>
              <a:rPr dirty="0" sz="1000" spc="-2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planning</a:t>
            </a:r>
            <a:r>
              <a:rPr dirty="0" sz="1000" spc="-2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3738A"/>
                </a:solidFill>
                <a:latin typeface="Calibri"/>
                <a:cs typeface="Calibri"/>
              </a:rPr>
              <a:t>decisions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Dataset</a:t>
            </a:r>
            <a:r>
              <a:rPr dirty="0" spc="-135"/>
              <a:t> </a:t>
            </a:r>
            <a:r>
              <a:rPr dirty="0" spc="-1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2696" y="992430"/>
            <a:ext cx="104902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0C1A29"/>
                </a:solidFill>
                <a:latin typeface="Calibri"/>
                <a:cs typeface="Calibri"/>
              </a:rPr>
              <a:t>Data</a:t>
            </a:r>
            <a:r>
              <a:rPr dirty="0" sz="1500" spc="-60" b="1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0C1A29"/>
                </a:solidFill>
                <a:latin typeface="Calibri"/>
                <a:cs typeface="Calibri"/>
              </a:rPr>
              <a:t>Sources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25437" y="1491464"/>
            <a:ext cx="537210" cy="536575"/>
            <a:chOff x="325437" y="1491464"/>
            <a:chExt cx="537210" cy="5365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5437" y="1491464"/>
              <a:ext cx="536765" cy="53642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65404" y="150840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6831" y="0"/>
                  </a:moveTo>
                  <a:lnTo>
                    <a:pt x="0" y="0"/>
                  </a:lnTo>
                  <a:lnTo>
                    <a:pt x="0" y="456831"/>
                  </a:lnTo>
                  <a:lnTo>
                    <a:pt x="228600" y="456831"/>
                  </a:lnTo>
                  <a:lnTo>
                    <a:pt x="456831" y="456831"/>
                  </a:lnTo>
                  <a:lnTo>
                    <a:pt x="456831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36295" y="1541058"/>
            <a:ext cx="1155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7056" y="1473240"/>
            <a:ext cx="1859280" cy="51689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300" spc="-10" b="1">
                <a:solidFill>
                  <a:srgbClr val="0C1A29"/>
                </a:solidFill>
                <a:latin typeface="Calibri"/>
                <a:cs typeface="Calibri"/>
              </a:rPr>
              <a:t>LinkedIn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100">
                <a:solidFill>
                  <a:srgbClr val="63738A"/>
                </a:solidFill>
                <a:latin typeface="Calibri"/>
                <a:cs typeface="Calibri"/>
              </a:rPr>
              <a:t>Professional</a:t>
            </a:r>
            <a:r>
              <a:rPr dirty="0" sz="1100" spc="-2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38A"/>
                </a:solidFill>
                <a:latin typeface="Calibri"/>
                <a:cs typeface="Calibri"/>
              </a:rPr>
              <a:t>job</a:t>
            </a:r>
            <a:r>
              <a:rPr dirty="0" sz="1100" spc="-2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38A"/>
                </a:solidFill>
                <a:latin typeface="Calibri"/>
                <a:cs typeface="Calibri"/>
              </a:rPr>
              <a:t>postings</a:t>
            </a:r>
            <a:r>
              <a:rPr dirty="0" sz="1100" spc="-2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38A"/>
                </a:solidFill>
                <a:latin typeface="Calibri"/>
                <a:cs typeface="Calibri"/>
              </a:rPr>
              <a:t>&amp;</a:t>
            </a:r>
            <a:r>
              <a:rPr dirty="0" sz="1100" spc="-3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63738A"/>
                </a:solidFill>
                <a:latin typeface="Calibri"/>
                <a:cs typeface="Calibri"/>
              </a:rPr>
              <a:t>skills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25437" y="2314424"/>
            <a:ext cx="537210" cy="536575"/>
            <a:chOff x="325437" y="2314424"/>
            <a:chExt cx="537210" cy="53657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5437" y="2314424"/>
              <a:ext cx="536765" cy="53642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65404" y="233136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6831" y="0"/>
                  </a:moveTo>
                  <a:lnTo>
                    <a:pt x="0" y="0"/>
                  </a:lnTo>
                  <a:lnTo>
                    <a:pt x="0" y="456831"/>
                  </a:lnTo>
                  <a:lnTo>
                    <a:pt x="228600" y="456831"/>
                  </a:lnTo>
                  <a:lnTo>
                    <a:pt x="456831" y="456831"/>
                  </a:lnTo>
                  <a:lnTo>
                    <a:pt x="456831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536295" y="2364018"/>
            <a:ext cx="1155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7056" y="2296200"/>
            <a:ext cx="1448435" cy="51689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300" spc="-10" b="1">
                <a:solidFill>
                  <a:srgbClr val="0C1A29"/>
                </a:solidFill>
                <a:latin typeface="Calibri"/>
                <a:cs typeface="Calibri"/>
              </a:rPr>
              <a:t>Naukri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100">
                <a:solidFill>
                  <a:srgbClr val="63738A"/>
                </a:solidFill>
                <a:latin typeface="Calibri"/>
                <a:cs typeface="Calibri"/>
              </a:rPr>
              <a:t>Indian</a:t>
            </a:r>
            <a:r>
              <a:rPr dirty="0" sz="1100" spc="-3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38A"/>
                </a:solidFill>
                <a:latin typeface="Calibri"/>
                <a:cs typeface="Calibri"/>
              </a:rPr>
              <a:t>job</a:t>
            </a:r>
            <a:r>
              <a:rPr dirty="0" sz="1100" spc="-3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38A"/>
                </a:solidFill>
                <a:latin typeface="Calibri"/>
                <a:cs typeface="Calibri"/>
              </a:rPr>
              <a:t>market</a:t>
            </a:r>
            <a:r>
              <a:rPr dirty="0" sz="1100" spc="-2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63738A"/>
                </a:solidFill>
                <a:latin typeface="Calibri"/>
                <a:cs typeface="Calibri"/>
              </a:rPr>
              <a:t>listings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25437" y="3137384"/>
            <a:ext cx="537210" cy="536575"/>
            <a:chOff x="325437" y="3137384"/>
            <a:chExt cx="537210" cy="53657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5437" y="3137384"/>
              <a:ext cx="536765" cy="53642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65404" y="315432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6831" y="0"/>
                  </a:moveTo>
                  <a:lnTo>
                    <a:pt x="0" y="0"/>
                  </a:lnTo>
                  <a:lnTo>
                    <a:pt x="0" y="456831"/>
                  </a:lnTo>
                  <a:lnTo>
                    <a:pt x="228600" y="456831"/>
                  </a:lnTo>
                  <a:lnTo>
                    <a:pt x="456831" y="456831"/>
                  </a:lnTo>
                  <a:lnTo>
                    <a:pt x="456831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536295" y="3186978"/>
            <a:ext cx="1155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37056" y="3119160"/>
            <a:ext cx="1747520" cy="51689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300" spc="-10" b="1">
                <a:solidFill>
                  <a:srgbClr val="0C1A29"/>
                </a:solidFill>
                <a:latin typeface="Calibri"/>
                <a:cs typeface="Calibri"/>
              </a:rPr>
              <a:t>Kaggle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100">
                <a:solidFill>
                  <a:srgbClr val="63738A"/>
                </a:solidFill>
                <a:latin typeface="Calibri"/>
                <a:cs typeface="Calibri"/>
              </a:rPr>
              <a:t>Open</a:t>
            </a:r>
            <a:r>
              <a:rPr dirty="0" sz="1100" spc="-2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38A"/>
                </a:solidFill>
                <a:latin typeface="Calibri"/>
                <a:cs typeface="Calibri"/>
              </a:rPr>
              <a:t>datasets</a:t>
            </a:r>
            <a:r>
              <a:rPr dirty="0" sz="1100" spc="-1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38A"/>
                </a:solidFill>
                <a:latin typeface="Calibri"/>
                <a:cs typeface="Calibri"/>
              </a:rPr>
              <a:t>&amp;</a:t>
            </a:r>
            <a:r>
              <a:rPr dirty="0" sz="1100" spc="-2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63738A"/>
                </a:solidFill>
                <a:latin typeface="Calibri"/>
                <a:cs typeface="Calibri"/>
              </a:rPr>
              <a:t>competitions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525555" y="937071"/>
            <a:ext cx="4298950" cy="3612515"/>
            <a:chOff x="4525555" y="937071"/>
            <a:chExt cx="4298950" cy="361251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25555" y="937071"/>
              <a:ext cx="4298403" cy="361224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571644" y="960122"/>
              <a:ext cx="4206240" cy="3520440"/>
            </a:xfrm>
            <a:custGeom>
              <a:avLst/>
              <a:gdLst/>
              <a:ahLst/>
              <a:cxnLst/>
              <a:rect l="l" t="t" r="r" b="b"/>
              <a:pathLst>
                <a:path w="4206240" h="3520440">
                  <a:moveTo>
                    <a:pt x="4205871" y="0"/>
                  </a:moveTo>
                  <a:lnTo>
                    <a:pt x="0" y="0"/>
                  </a:lnTo>
                  <a:lnTo>
                    <a:pt x="0" y="3520084"/>
                  </a:lnTo>
                  <a:lnTo>
                    <a:pt x="2103120" y="3520084"/>
                  </a:lnTo>
                  <a:lnTo>
                    <a:pt x="4205871" y="3520084"/>
                  </a:lnTo>
                  <a:lnTo>
                    <a:pt x="4205871" y="0"/>
                  </a:lnTo>
                  <a:close/>
                </a:path>
              </a:pathLst>
            </a:custGeom>
            <a:solidFill>
              <a:srgbClr val="EFFC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31677" y="943192"/>
              <a:ext cx="4285805" cy="49069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571644" y="960122"/>
              <a:ext cx="4206240" cy="411480"/>
            </a:xfrm>
            <a:custGeom>
              <a:avLst/>
              <a:gdLst/>
              <a:ahLst/>
              <a:cxnLst/>
              <a:rect l="l" t="t" r="r" b="b"/>
              <a:pathLst>
                <a:path w="4206240" h="411480">
                  <a:moveTo>
                    <a:pt x="4205871" y="0"/>
                  </a:moveTo>
                  <a:lnTo>
                    <a:pt x="0" y="0"/>
                  </a:lnTo>
                  <a:lnTo>
                    <a:pt x="0" y="411124"/>
                  </a:lnTo>
                  <a:lnTo>
                    <a:pt x="2103120" y="411124"/>
                  </a:lnTo>
                  <a:lnTo>
                    <a:pt x="4205871" y="411124"/>
                  </a:lnTo>
                  <a:lnTo>
                    <a:pt x="4205871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4571644" y="960122"/>
            <a:ext cx="4206240" cy="3520440"/>
          </a:xfrm>
          <a:prstGeom prst="rect">
            <a:avLst/>
          </a:prstGeom>
          <a:ln w="12599">
            <a:solidFill>
              <a:srgbClr val="CCFAF0"/>
            </a:solidFill>
          </a:ln>
        </p:spPr>
        <p:txBody>
          <a:bodyPr wrap="square" lIns="0" tIns="4508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355"/>
              </a:spcBef>
            </a:pPr>
            <a:r>
              <a:rPr dirty="0" sz="1300" b="1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dirty="0" sz="13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alibri"/>
                <a:cs typeface="Calibri"/>
              </a:rPr>
              <a:t>Dataset</a:t>
            </a:r>
            <a:r>
              <a:rPr dirty="0" sz="13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alibri"/>
                <a:cs typeface="Calibri"/>
              </a:rPr>
              <a:t>Columns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616996" y="1485711"/>
            <a:ext cx="4024629" cy="530860"/>
            <a:chOff x="4616996" y="1485711"/>
            <a:chExt cx="4024629" cy="530860"/>
          </a:xfrm>
        </p:grpSpPr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16996" y="1485711"/>
              <a:ext cx="4024083" cy="53065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663084" y="1508762"/>
              <a:ext cx="3931920" cy="438784"/>
            </a:xfrm>
            <a:custGeom>
              <a:avLst/>
              <a:gdLst/>
              <a:ahLst/>
              <a:cxnLst/>
              <a:rect l="l" t="t" r="r" b="b"/>
              <a:pathLst>
                <a:path w="3931920" h="438785">
                  <a:moveTo>
                    <a:pt x="3931551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1965959" y="438480"/>
                  </a:lnTo>
                  <a:lnTo>
                    <a:pt x="3931551" y="438480"/>
                  </a:lnTo>
                  <a:lnTo>
                    <a:pt x="39315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4663084" y="1508762"/>
            <a:ext cx="3931920" cy="438784"/>
          </a:xfrm>
          <a:prstGeom prst="rect">
            <a:avLst/>
          </a:prstGeom>
          <a:ln w="12599">
            <a:solidFill>
              <a:srgbClr val="CCFAF0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marL="181610">
              <a:lnSpc>
                <a:spcPct val="100000"/>
              </a:lnSpc>
              <a:spcBef>
                <a:spcPts val="350"/>
              </a:spcBef>
              <a:tabLst>
                <a:tab pos="1735455" algn="l"/>
              </a:tabLst>
            </a:pPr>
            <a:r>
              <a:rPr dirty="0" sz="1100" b="1">
                <a:solidFill>
                  <a:srgbClr val="0C9387"/>
                </a:solidFill>
                <a:latin typeface="Calibri"/>
                <a:cs typeface="Calibri"/>
              </a:rPr>
              <a:t>Job</a:t>
            </a:r>
            <a:r>
              <a:rPr dirty="0" sz="1100" spc="-15" b="1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0C9387"/>
                </a:solidFill>
                <a:latin typeface="Calibri"/>
                <a:cs typeface="Calibri"/>
              </a:rPr>
              <a:t>Title</a:t>
            </a:r>
            <a:r>
              <a:rPr dirty="0" sz="1100" b="1">
                <a:solidFill>
                  <a:srgbClr val="0C9387"/>
                </a:solidFill>
                <a:latin typeface="Calibri"/>
                <a:cs typeface="Calibri"/>
              </a:rPr>
              <a:t>	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Role</a:t>
            </a:r>
            <a:r>
              <a:rPr dirty="0" sz="1100" spc="-2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name</a:t>
            </a:r>
            <a:r>
              <a:rPr dirty="0" sz="1100" spc="-4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from</a:t>
            </a:r>
            <a:r>
              <a:rPr dirty="0" sz="1100" spc="-2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posting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616996" y="1997635"/>
            <a:ext cx="4024629" cy="530860"/>
            <a:chOff x="4616996" y="1997635"/>
            <a:chExt cx="4024629" cy="530860"/>
          </a:xfrm>
        </p:grpSpPr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16996" y="1997635"/>
              <a:ext cx="4024083" cy="530644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663084" y="2020686"/>
              <a:ext cx="3931920" cy="438784"/>
            </a:xfrm>
            <a:custGeom>
              <a:avLst/>
              <a:gdLst/>
              <a:ahLst/>
              <a:cxnLst/>
              <a:rect l="l" t="t" r="r" b="b"/>
              <a:pathLst>
                <a:path w="3931920" h="438785">
                  <a:moveTo>
                    <a:pt x="3931551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1965959" y="438480"/>
                  </a:lnTo>
                  <a:lnTo>
                    <a:pt x="3931551" y="438480"/>
                  </a:lnTo>
                  <a:lnTo>
                    <a:pt x="3931551" y="0"/>
                  </a:lnTo>
                  <a:close/>
                </a:path>
              </a:pathLst>
            </a:custGeom>
            <a:solidFill>
              <a:srgbClr val="E7FC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4663084" y="2020686"/>
            <a:ext cx="3931920" cy="438784"/>
          </a:xfrm>
          <a:prstGeom prst="rect">
            <a:avLst/>
          </a:prstGeom>
          <a:ln w="12599">
            <a:solidFill>
              <a:srgbClr val="CCFAF0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marL="181610">
              <a:lnSpc>
                <a:spcPct val="100000"/>
              </a:lnSpc>
              <a:spcBef>
                <a:spcPts val="350"/>
              </a:spcBef>
              <a:tabLst>
                <a:tab pos="1735455" algn="l"/>
              </a:tabLst>
            </a:pPr>
            <a:r>
              <a:rPr dirty="0" sz="1100" spc="-10" b="1">
                <a:solidFill>
                  <a:srgbClr val="0C9387"/>
                </a:solidFill>
                <a:latin typeface="Calibri"/>
                <a:cs typeface="Calibri"/>
              </a:rPr>
              <a:t>Company</a:t>
            </a:r>
            <a:r>
              <a:rPr dirty="0" sz="1100" b="1">
                <a:solidFill>
                  <a:srgbClr val="0C9387"/>
                </a:solidFill>
                <a:latin typeface="Calibri"/>
                <a:cs typeface="Calibri"/>
              </a:rPr>
              <a:t>	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Hiring</a:t>
            </a:r>
            <a:r>
              <a:rPr dirty="0" sz="1100" spc="-2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organization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616996" y="2509915"/>
            <a:ext cx="4024629" cy="530860"/>
            <a:chOff x="4616996" y="2509915"/>
            <a:chExt cx="4024629" cy="530860"/>
          </a:xfrm>
        </p:grpSpPr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16996" y="2509915"/>
              <a:ext cx="4024083" cy="530644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663084" y="2532966"/>
              <a:ext cx="3931920" cy="438784"/>
            </a:xfrm>
            <a:custGeom>
              <a:avLst/>
              <a:gdLst/>
              <a:ahLst/>
              <a:cxnLst/>
              <a:rect l="l" t="t" r="r" b="b"/>
              <a:pathLst>
                <a:path w="3931920" h="438785">
                  <a:moveTo>
                    <a:pt x="3931551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1965959" y="438480"/>
                  </a:lnTo>
                  <a:lnTo>
                    <a:pt x="3931551" y="438480"/>
                  </a:lnTo>
                  <a:lnTo>
                    <a:pt x="39315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4663084" y="2532966"/>
            <a:ext cx="3931920" cy="438784"/>
          </a:xfrm>
          <a:prstGeom prst="rect">
            <a:avLst/>
          </a:prstGeom>
          <a:ln w="12599">
            <a:solidFill>
              <a:srgbClr val="CCFAF0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marL="181610">
              <a:lnSpc>
                <a:spcPct val="100000"/>
              </a:lnSpc>
              <a:spcBef>
                <a:spcPts val="350"/>
              </a:spcBef>
              <a:tabLst>
                <a:tab pos="1735455" algn="l"/>
              </a:tabLst>
            </a:pPr>
            <a:r>
              <a:rPr dirty="0" sz="1100" spc="-10" b="1">
                <a:solidFill>
                  <a:srgbClr val="0C9387"/>
                </a:solidFill>
                <a:latin typeface="Calibri"/>
                <a:cs typeface="Calibri"/>
              </a:rPr>
              <a:t>Location</a:t>
            </a:r>
            <a:r>
              <a:rPr dirty="0" sz="1100" b="1">
                <a:solidFill>
                  <a:srgbClr val="0C9387"/>
                </a:solidFill>
                <a:latin typeface="Calibri"/>
                <a:cs typeface="Calibri"/>
              </a:rPr>
              <a:t>	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City</a:t>
            </a:r>
            <a:r>
              <a:rPr dirty="0" sz="1100" spc="-1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/</a:t>
            </a:r>
            <a:r>
              <a:rPr dirty="0" sz="1100" spc="-2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State</a:t>
            </a:r>
            <a:r>
              <a:rPr dirty="0" sz="1100" spc="-1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/</a:t>
            </a:r>
            <a:r>
              <a:rPr dirty="0" sz="1100" spc="-2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Country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616996" y="3021839"/>
            <a:ext cx="4024629" cy="530860"/>
            <a:chOff x="4616996" y="3021839"/>
            <a:chExt cx="4024629" cy="530860"/>
          </a:xfrm>
        </p:grpSpPr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16996" y="3021839"/>
              <a:ext cx="4024083" cy="530644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663084" y="3044877"/>
              <a:ext cx="3931920" cy="438784"/>
            </a:xfrm>
            <a:custGeom>
              <a:avLst/>
              <a:gdLst/>
              <a:ahLst/>
              <a:cxnLst/>
              <a:rect l="l" t="t" r="r" b="b"/>
              <a:pathLst>
                <a:path w="3931920" h="438785">
                  <a:moveTo>
                    <a:pt x="3931551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1965959" y="438480"/>
                  </a:lnTo>
                  <a:lnTo>
                    <a:pt x="3931551" y="438480"/>
                  </a:lnTo>
                  <a:lnTo>
                    <a:pt x="3931551" y="0"/>
                  </a:lnTo>
                  <a:close/>
                </a:path>
              </a:pathLst>
            </a:custGeom>
            <a:solidFill>
              <a:srgbClr val="E7FC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4663084" y="3044877"/>
            <a:ext cx="3931920" cy="438784"/>
          </a:xfrm>
          <a:prstGeom prst="rect">
            <a:avLst/>
          </a:prstGeom>
          <a:ln w="12599">
            <a:solidFill>
              <a:srgbClr val="CCFAF0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marL="181610">
              <a:lnSpc>
                <a:spcPct val="100000"/>
              </a:lnSpc>
              <a:spcBef>
                <a:spcPts val="350"/>
              </a:spcBef>
              <a:tabLst>
                <a:tab pos="1735455" algn="l"/>
              </a:tabLst>
            </a:pPr>
            <a:r>
              <a:rPr dirty="0" sz="1100" b="1">
                <a:solidFill>
                  <a:srgbClr val="0C9387"/>
                </a:solidFill>
                <a:latin typeface="Calibri"/>
                <a:cs typeface="Calibri"/>
              </a:rPr>
              <a:t>Required</a:t>
            </a:r>
            <a:r>
              <a:rPr dirty="0" sz="1100" spc="-60" b="1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0C9387"/>
                </a:solidFill>
                <a:latin typeface="Calibri"/>
                <a:cs typeface="Calibri"/>
              </a:rPr>
              <a:t>Skills</a:t>
            </a:r>
            <a:r>
              <a:rPr dirty="0" sz="1100" b="1">
                <a:solidFill>
                  <a:srgbClr val="0C9387"/>
                </a:solidFill>
                <a:latin typeface="Calibri"/>
                <a:cs typeface="Calibri"/>
              </a:rPr>
              <a:t>	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Python,</a:t>
            </a:r>
            <a:r>
              <a:rPr dirty="0" sz="1100" spc="-2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SQL,</a:t>
            </a:r>
            <a:r>
              <a:rPr dirty="0" sz="1100" spc="-1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Excel,</a:t>
            </a:r>
            <a:r>
              <a:rPr dirty="0" sz="1100" spc="-1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1D283A"/>
                </a:solidFill>
                <a:latin typeface="Calibri"/>
                <a:cs typeface="Calibri"/>
              </a:rPr>
              <a:t>etc.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4616996" y="3534119"/>
            <a:ext cx="4024629" cy="530860"/>
            <a:chOff x="4616996" y="3534119"/>
            <a:chExt cx="4024629" cy="530860"/>
          </a:xfrm>
        </p:grpSpPr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16996" y="3534119"/>
              <a:ext cx="4024083" cy="530644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4663084" y="3557157"/>
              <a:ext cx="3931920" cy="438784"/>
            </a:xfrm>
            <a:custGeom>
              <a:avLst/>
              <a:gdLst/>
              <a:ahLst/>
              <a:cxnLst/>
              <a:rect l="l" t="t" r="r" b="b"/>
              <a:pathLst>
                <a:path w="3931920" h="438785">
                  <a:moveTo>
                    <a:pt x="3931551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1965959" y="438480"/>
                  </a:lnTo>
                  <a:lnTo>
                    <a:pt x="3931551" y="438480"/>
                  </a:lnTo>
                  <a:lnTo>
                    <a:pt x="39315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4663084" y="3557157"/>
            <a:ext cx="3931920" cy="438784"/>
          </a:xfrm>
          <a:prstGeom prst="rect">
            <a:avLst/>
          </a:prstGeom>
          <a:ln w="12599">
            <a:solidFill>
              <a:srgbClr val="CCFAF0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marL="181610">
              <a:lnSpc>
                <a:spcPct val="100000"/>
              </a:lnSpc>
              <a:spcBef>
                <a:spcPts val="350"/>
              </a:spcBef>
              <a:tabLst>
                <a:tab pos="1735455" algn="l"/>
              </a:tabLst>
            </a:pPr>
            <a:r>
              <a:rPr dirty="0" sz="1100" b="1">
                <a:solidFill>
                  <a:srgbClr val="0C9387"/>
                </a:solidFill>
                <a:latin typeface="Calibri"/>
                <a:cs typeface="Calibri"/>
              </a:rPr>
              <a:t>Experience</a:t>
            </a:r>
            <a:r>
              <a:rPr dirty="0" sz="1100" spc="-25" b="1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0C9387"/>
                </a:solidFill>
                <a:latin typeface="Calibri"/>
                <a:cs typeface="Calibri"/>
              </a:rPr>
              <a:t>Level</a:t>
            </a:r>
            <a:r>
              <a:rPr dirty="0" sz="1100" b="1">
                <a:solidFill>
                  <a:srgbClr val="0C9387"/>
                </a:solidFill>
                <a:latin typeface="Calibri"/>
                <a:cs typeface="Calibri"/>
              </a:rPr>
              <a:t>	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Entry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/</a:t>
            </a:r>
            <a:r>
              <a:rPr dirty="0" sz="1100" spc="-1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Mid</a:t>
            </a:r>
            <a:r>
              <a:rPr dirty="0" sz="1100" spc="-1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/</a:t>
            </a:r>
            <a:r>
              <a:rPr dirty="0" sz="1100" spc="-1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Senior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230181" y="4649662"/>
            <a:ext cx="268478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i="1">
                <a:solidFill>
                  <a:srgbClr val="63738A"/>
                </a:solidFill>
                <a:latin typeface="Calibri"/>
                <a:cs typeface="Calibri"/>
              </a:rPr>
              <a:t>Dataset:</a:t>
            </a:r>
            <a:r>
              <a:rPr dirty="0" sz="1000" spc="-15" i="1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 spc="-10" i="1">
                <a:solidFill>
                  <a:srgbClr val="63738A"/>
                </a:solidFill>
                <a:latin typeface="Calibri"/>
                <a:cs typeface="Calibri"/>
              </a:rPr>
              <a:t>10,000+ </a:t>
            </a:r>
            <a:r>
              <a:rPr dirty="0" sz="1000" i="1">
                <a:solidFill>
                  <a:srgbClr val="63738A"/>
                </a:solidFill>
                <a:latin typeface="Calibri"/>
                <a:cs typeface="Calibri"/>
              </a:rPr>
              <a:t>job</a:t>
            </a:r>
            <a:r>
              <a:rPr dirty="0" sz="1000" spc="-10" i="1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63738A"/>
                </a:solidFill>
                <a:latin typeface="Calibri"/>
                <a:cs typeface="Calibri"/>
              </a:rPr>
              <a:t>postings</a:t>
            </a:r>
            <a:r>
              <a:rPr dirty="0" sz="1000" spc="215" i="1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63738A"/>
                </a:solidFill>
                <a:latin typeface="Calibri"/>
                <a:cs typeface="Calibri"/>
              </a:rPr>
              <a:t>|</a:t>
            </a:r>
            <a:r>
              <a:rPr dirty="0" sz="1000" spc="204" i="1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63738A"/>
                </a:solidFill>
                <a:latin typeface="Calibri"/>
                <a:cs typeface="Calibri"/>
              </a:rPr>
              <a:t>Period:</a:t>
            </a:r>
            <a:r>
              <a:rPr dirty="0" sz="1000" spc="-15" i="1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 spc="-20" i="1">
                <a:solidFill>
                  <a:srgbClr val="63738A"/>
                </a:solidFill>
                <a:latin typeface="Calibri"/>
                <a:cs typeface="Calibri"/>
              </a:rPr>
              <a:t>2023–2025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Methodology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73964" y="982435"/>
            <a:ext cx="1601470" cy="3292475"/>
            <a:chOff x="273964" y="982435"/>
            <a:chExt cx="1601470" cy="32924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3964" y="982435"/>
              <a:ext cx="1600923" cy="329220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20040" y="1005486"/>
              <a:ext cx="1508760" cy="3200400"/>
            </a:xfrm>
            <a:custGeom>
              <a:avLst/>
              <a:gdLst/>
              <a:ahLst/>
              <a:cxnLst/>
              <a:rect l="l" t="t" r="r" b="b"/>
              <a:pathLst>
                <a:path w="1508760" h="3200400">
                  <a:moveTo>
                    <a:pt x="1508404" y="0"/>
                  </a:moveTo>
                  <a:lnTo>
                    <a:pt x="0" y="0"/>
                  </a:lnTo>
                  <a:lnTo>
                    <a:pt x="0" y="3200031"/>
                  </a:lnTo>
                  <a:lnTo>
                    <a:pt x="754202" y="3200031"/>
                  </a:lnTo>
                  <a:lnTo>
                    <a:pt x="1508404" y="3200031"/>
                  </a:lnTo>
                  <a:lnTo>
                    <a:pt x="1508404" y="0"/>
                  </a:lnTo>
                  <a:close/>
                </a:path>
              </a:pathLst>
            </a:custGeom>
            <a:solidFill>
              <a:srgbClr val="EFFC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20040" y="1005486"/>
              <a:ext cx="1508760" cy="3200400"/>
            </a:xfrm>
            <a:custGeom>
              <a:avLst/>
              <a:gdLst/>
              <a:ahLst/>
              <a:cxnLst/>
              <a:rect l="l" t="t" r="r" b="b"/>
              <a:pathLst>
                <a:path w="1508760" h="3200400">
                  <a:moveTo>
                    <a:pt x="754202" y="3200031"/>
                  </a:moveTo>
                  <a:lnTo>
                    <a:pt x="0" y="3200031"/>
                  </a:lnTo>
                  <a:lnTo>
                    <a:pt x="0" y="0"/>
                  </a:lnTo>
                  <a:lnTo>
                    <a:pt x="1508404" y="0"/>
                  </a:lnTo>
                  <a:lnTo>
                    <a:pt x="1508404" y="3200031"/>
                  </a:lnTo>
                  <a:lnTo>
                    <a:pt x="754202" y="3200031"/>
                  </a:lnTo>
                  <a:close/>
                </a:path>
              </a:pathLst>
            </a:custGeom>
            <a:ln w="12599">
              <a:solidFill>
                <a:srgbClr val="13B7A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1565" y="1080340"/>
              <a:ext cx="737996" cy="73766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31520" y="1097282"/>
              <a:ext cx="658495" cy="658495"/>
            </a:xfrm>
            <a:custGeom>
              <a:avLst/>
              <a:gdLst/>
              <a:ahLst/>
              <a:cxnLst/>
              <a:rect l="l" t="t" r="r" b="b"/>
              <a:pathLst>
                <a:path w="658494" h="658494">
                  <a:moveTo>
                    <a:pt x="658075" y="0"/>
                  </a:moveTo>
                  <a:lnTo>
                    <a:pt x="0" y="0"/>
                  </a:lnTo>
                  <a:lnTo>
                    <a:pt x="0" y="658075"/>
                  </a:lnTo>
                  <a:lnTo>
                    <a:pt x="329044" y="658075"/>
                  </a:lnTo>
                  <a:lnTo>
                    <a:pt x="658075" y="658075"/>
                  </a:lnTo>
                  <a:lnTo>
                    <a:pt x="658075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984135" y="1129577"/>
            <a:ext cx="1543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3064" y="1933830"/>
            <a:ext cx="29718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0" b="1">
                <a:solidFill>
                  <a:srgbClr val="0C1A29"/>
                </a:solidFill>
                <a:latin typeface="Calibri"/>
                <a:cs typeface="Calibri"/>
              </a:rPr>
              <a:t>Data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2096" y="2101585"/>
            <a:ext cx="60452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0C1A29"/>
                </a:solidFill>
                <a:latin typeface="Calibri"/>
                <a:cs typeface="Calibri"/>
              </a:rPr>
              <a:t>Collection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3064" y="2573911"/>
            <a:ext cx="10795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1D283A"/>
                </a:solidFill>
                <a:latin typeface="Calibri"/>
                <a:cs typeface="Calibri"/>
              </a:rPr>
              <a:t>LinkedIn,</a:t>
            </a:r>
            <a:r>
              <a:rPr dirty="0" sz="100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D283A"/>
                </a:solidFill>
                <a:latin typeface="Calibri"/>
                <a:cs typeface="Calibri"/>
              </a:rPr>
              <a:t>Naukri</a:t>
            </a:r>
            <a:endParaRPr sz="1000">
              <a:latin typeface="Calibri"/>
              <a:cs typeface="Calibri"/>
            </a:endParaRPr>
          </a:p>
          <a:p>
            <a:pPr marL="196215">
              <a:lnSpc>
                <a:spcPct val="100000"/>
              </a:lnSpc>
            </a:pPr>
            <a:r>
              <a:rPr dirty="0" sz="1000">
                <a:solidFill>
                  <a:srgbClr val="1D283A"/>
                </a:solidFill>
                <a:latin typeface="Calibri"/>
                <a:cs typeface="Calibri"/>
              </a:rPr>
              <a:t>&amp;</a:t>
            </a:r>
            <a:r>
              <a:rPr dirty="0" sz="1000" spc="-1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D283A"/>
                </a:solidFill>
                <a:latin typeface="Calibri"/>
                <a:cs typeface="Calibri"/>
              </a:rPr>
              <a:t>Kaggle</a:t>
            </a:r>
            <a:r>
              <a:rPr dirty="0" sz="1000" spc="-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D283A"/>
                </a:solidFill>
                <a:latin typeface="Calibri"/>
                <a:cs typeface="Calibri"/>
              </a:rPr>
              <a:t>sources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788845" y="982435"/>
            <a:ext cx="1805305" cy="3292475"/>
            <a:chOff x="1788845" y="982435"/>
            <a:chExt cx="1805305" cy="3292475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88845" y="1372668"/>
              <a:ext cx="280796" cy="17064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828800" y="1389597"/>
              <a:ext cx="201295" cy="91440"/>
            </a:xfrm>
            <a:custGeom>
              <a:avLst/>
              <a:gdLst/>
              <a:ahLst/>
              <a:cxnLst/>
              <a:rect l="l" t="t" r="r" b="b"/>
              <a:pathLst>
                <a:path w="201294" h="91440">
                  <a:moveTo>
                    <a:pt x="200875" y="0"/>
                  </a:moveTo>
                  <a:lnTo>
                    <a:pt x="0" y="0"/>
                  </a:lnTo>
                  <a:lnTo>
                    <a:pt x="0" y="91084"/>
                  </a:lnTo>
                  <a:lnTo>
                    <a:pt x="100444" y="91084"/>
                  </a:lnTo>
                  <a:lnTo>
                    <a:pt x="200875" y="91084"/>
                  </a:lnTo>
                  <a:lnTo>
                    <a:pt x="200875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92960" y="982435"/>
              <a:ext cx="1600923" cy="329220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039035" y="1005486"/>
              <a:ext cx="1508760" cy="3200400"/>
            </a:xfrm>
            <a:custGeom>
              <a:avLst/>
              <a:gdLst/>
              <a:ahLst/>
              <a:cxnLst/>
              <a:rect l="l" t="t" r="r" b="b"/>
              <a:pathLst>
                <a:path w="1508760" h="3200400">
                  <a:moveTo>
                    <a:pt x="1508404" y="0"/>
                  </a:moveTo>
                  <a:lnTo>
                    <a:pt x="0" y="0"/>
                  </a:lnTo>
                  <a:lnTo>
                    <a:pt x="0" y="3200031"/>
                  </a:lnTo>
                  <a:lnTo>
                    <a:pt x="754202" y="3200031"/>
                  </a:lnTo>
                  <a:lnTo>
                    <a:pt x="1508404" y="3200031"/>
                  </a:lnTo>
                  <a:lnTo>
                    <a:pt x="1508404" y="0"/>
                  </a:lnTo>
                  <a:close/>
                </a:path>
              </a:pathLst>
            </a:custGeom>
            <a:solidFill>
              <a:srgbClr val="CC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039035" y="1005486"/>
              <a:ext cx="1508760" cy="3200400"/>
            </a:xfrm>
            <a:custGeom>
              <a:avLst/>
              <a:gdLst/>
              <a:ahLst/>
              <a:cxnLst/>
              <a:rect l="l" t="t" r="r" b="b"/>
              <a:pathLst>
                <a:path w="1508760" h="3200400">
                  <a:moveTo>
                    <a:pt x="754202" y="3200031"/>
                  </a:moveTo>
                  <a:lnTo>
                    <a:pt x="0" y="3200031"/>
                  </a:lnTo>
                  <a:lnTo>
                    <a:pt x="0" y="0"/>
                  </a:lnTo>
                  <a:lnTo>
                    <a:pt x="1508404" y="0"/>
                  </a:lnTo>
                  <a:lnTo>
                    <a:pt x="1508404" y="3200031"/>
                  </a:lnTo>
                  <a:lnTo>
                    <a:pt x="754202" y="3200031"/>
                  </a:lnTo>
                  <a:close/>
                </a:path>
              </a:pathLst>
            </a:custGeom>
            <a:ln w="12599">
              <a:solidFill>
                <a:srgbClr val="13B7A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10561" y="1080340"/>
              <a:ext cx="737997" cy="73766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450515" y="1097282"/>
              <a:ext cx="658495" cy="658495"/>
            </a:xfrm>
            <a:custGeom>
              <a:avLst/>
              <a:gdLst/>
              <a:ahLst/>
              <a:cxnLst/>
              <a:rect l="l" t="t" r="r" b="b"/>
              <a:pathLst>
                <a:path w="658494" h="658494">
                  <a:moveTo>
                    <a:pt x="658088" y="0"/>
                  </a:moveTo>
                  <a:lnTo>
                    <a:pt x="0" y="0"/>
                  </a:lnTo>
                  <a:lnTo>
                    <a:pt x="0" y="658075"/>
                  </a:lnTo>
                  <a:lnTo>
                    <a:pt x="329044" y="658075"/>
                  </a:lnTo>
                  <a:lnTo>
                    <a:pt x="658088" y="658075"/>
                  </a:lnTo>
                  <a:lnTo>
                    <a:pt x="658088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2703144" y="1129577"/>
            <a:ext cx="1543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62060" y="1933830"/>
            <a:ext cx="29718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0" b="1">
                <a:solidFill>
                  <a:srgbClr val="0C1A29"/>
                </a:solidFill>
                <a:latin typeface="Calibri"/>
                <a:cs typeface="Calibri"/>
              </a:rPr>
              <a:t>Data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31783" y="2101585"/>
            <a:ext cx="5245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0C1A29"/>
                </a:solidFill>
                <a:latin typeface="Calibri"/>
                <a:cs typeface="Calibri"/>
              </a:rPr>
              <a:t>Cleaning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62060" y="2573911"/>
            <a:ext cx="10890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655" marR="5080" indent="-27559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1D283A"/>
                </a:solidFill>
                <a:latin typeface="Calibri"/>
                <a:cs typeface="Calibri"/>
              </a:rPr>
              <a:t>Removed</a:t>
            </a:r>
            <a:r>
              <a:rPr dirty="0" sz="1000" spc="-2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D283A"/>
                </a:solidFill>
                <a:latin typeface="Calibri"/>
                <a:cs typeface="Calibri"/>
              </a:rPr>
              <a:t>duplicates, </a:t>
            </a:r>
            <a:r>
              <a:rPr dirty="0" sz="1000">
                <a:solidFill>
                  <a:srgbClr val="1D283A"/>
                </a:solidFill>
                <a:latin typeface="Calibri"/>
                <a:cs typeface="Calibri"/>
              </a:rPr>
              <a:t>handled</a:t>
            </a:r>
            <a:r>
              <a:rPr dirty="0" sz="1000" spc="-4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D283A"/>
                </a:solidFill>
                <a:latin typeface="Calibri"/>
                <a:cs typeface="Calibri"/>
              </a:rPr>
              <a:t>nulls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507841" y="982435"/>
            <a:ext cx="1805305" cy="3292475"/>
            <a:chOff x="3507841" y="982435"/>
            <a:chExt cx="1805305" cy="3292475"/>
          </a:xfrm>
        </p:grpSpPr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07841" y="1372668"/>
              <a:ext cx="280796" cy="17064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547795" y="1389597"/>
              <a:ext cx="201295" cy="91440"/>
            </a:xfrm>
            <a:custGeom>
              <a:avLst/>
              <a:gdLst/>
              <a:ahLst/>
              <a:cxnLst/>
              <a:rect l="l" t="t" r="r" b="b"/>
              <a:pathLst>
                <a:path w="201295" h="91440">
                  <a:moveTo>
                    <a:pt x="200888" y="0"/>
                  </a:moveTo>
                  <a:lnTo>
                    <a:pt x="0" y="0"/>
                  </a:lnTo>
                  <a:lnTo>
                    <a:pt x="0" y="91084"/>
                  </a:lnTo>
                  <a:lnTo>
                    <a:pt x="100444" y="91084"/>
                  </a:lnTo>
                  <a:lnTo>
                    <a:pt x="200888" y="91084"/>
                  </a:lnTo>
                  <a:lnTo>
                    <a:pt x="200888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11956" y="982435"/>
              <a:ext cx="1600923" cy="3292208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758044" y="1005486"/>
              <a:ext cx="1508760" cy="3200400"/>
            </a:xfrm>
            <a:custGeom>
              <a:avLst/>
              <a:gdLst/>
              <a:ahLst/>
              <a:cxnLst/>
              <a:rect l="l" t="t" r="r" b="b"/>
              <a:pathLst>
                <a:path w="1508760" h="3200400">
                  <a:moveTo>
                    <a:pt x="1508391" y="0"/>
                  </a:moveTo>
                  <a:lnTo>
                    <a:pt x="0" y="0"/>
                  </a:lnTo>
                  <a:lnTo>
                    <a:pt x="0" y="3200031"/>
                  </a:lnTo>
                  <a:lnTo>
                    <a:pt x="754189" y="3200031"/>
                  </a:lnTo>
                  <a:lnTo>
                    <a:pt x="1508391" y="3200031"/>
                  </a:lnTo>
                  <a:lnTo>
                    <a:pt x="1508391" y="0"/>
                  </a:lnTo>
                  <a:close/>
                </a:path>
              </a:pathLst>
            </a:custGeom>
            <a:solidFill>
              <a:srgbClr val="EFFC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758044" y="1005486"/>
              <a:ext cx="1508760" cy="3200400"/>
            </a:xfrm>
            <a:custGeom>
              <a:avLst/>
              <a:gdLst/>
              <a:ahLst/>
              <a:cxnLst/>
              <a:rect l="l" t="t" r="r" b="b"/>
              <a:pathLst>
                <a:path w="1508760" h="3200400">
                  <a:moveTo>
                    <a:pt x="754189" y="3200031"/>
                  </a:moveTo>
                  <a:lnTo>
                    <a:pt x="0" y="3200031"/>
                  </a:lnTo>
                  <a:lnTo>
                    <a:pt x="0" y="0"/>
                  </a:lnTo>
                  <a:lnTo>
                    <a:pt x="1508391" y="0"/>
                  </a:lnTo>
                  <a:lnTo>
                    <a:pt x="1508391" y="3200031"/>
                  </a:lnTo>
                  <a:lnTo>
                    <a:pt x="754189" y="3200031"/>
                  </a:lnTo>
                  <a:close/>
                </a:path>
              </a:pathLst>
            </a:custGeom>
            <a:ln w="12599">
              <a:solidFill>
                <a:srgbClr val="13B7A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29557" y="1080340"/>
              <a:ext cx="737997" cy="737666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169524" y="1097282"/>
              <a:ext cx="658495" cy="658495"/>
            </a:xfrm>
            <a:custGeom>
              <a:avLst/>
              <a:gdLst/>
              <a:ahLst/>
              <a:cxnLst/>
              <a:rect l="l" t="t" r="r" b="b"/>
              <a:pathLst>
                <a:path w="658495" h="658494">
                  <a:moveTo>
                    <a:pt x="658075" y="0"/>
                  </a:moveTo>
                  <a:lnTo>
                    <a:pt x="0" y="0"/>
                  </a:lnTo>
                  <a:lnTo>
                    <a:pt x="0" y="658075"/>
                  </a:lnTo>
                  <a:lnTo>
                    <a:pt x="329031" y="658075"/>
                  </a:lnTo>
                  <a:lnTo>
                    <a:pt x="658075" y="658075"/>
                  </a:lnTo>
                  <a:lnTo>
                    <a:pt x="658075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4422140" y="1129577"/>
            <a:ext cx="1543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881056" y="1933830"/>
            <a:ext cx="29718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0" b="1">
                <a:solidFill>
                  <a:srgbClr val="0C1A29"/>
                </a:solidFill>
                <a:latin typeface="Calibri"/>
                <a:cs typeface="Calibri"/>
              </a:rPr>
              <a:t>Data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192816" y="2101585"/>
            <a:ext cx="64008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0C1A29"/>
                </a:solidFill>
                <a:latin typeface="Calibri"/>
                <a:cs typeface="Calibri"/>
              </a:rPr>
              <a:t>Processing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881056" y="2573911"/>
            <a:ext cx="10966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1D283A"/>
                </a:solidFill>
                <a:latin typeface="Calibri"/>
                <a:cs typeface="Calibri"/>
              </a:rPr>
              <a:t>Split</a:t>
            </a:r>
            <a:r>
              <a:rPr dirty="0" sz="1000" spc="-3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D283A"/>
                </a:solidFill>
                <a:latin typeface="Calibri"/>
                <a:cs typeface="Calibri"/>
              </a:rPr>
              <a:t>skills,</a:t>
            </a:r>
            <a:endParaRPr sz="1000">
              <a:latin typeface="Calibri"/>
              <a:cs typeface="Calibri"/>
            </a:endParaRPr>
          </a:p>
          <a:p>
            <a:pPr marL="180340">
              <a:lnSpc>
                <a:spcPct val="100000"/>
              </a:lnSpc>
            </a:pPr>
            <a:r>
              <a:rPr dirty="0" sz="1000" spc="-10">
                <a:solidFill>
                  <a:srgbClr val="1D283A"/>
                </a:solidFill>
                <a:latin typeface="Calibri"/>
                <a:cs typeface="Calibri"/>
              </a:rPr>
              <a:t>normalized</a:t>
            </a:r>
            <a:r>
              <a:rPr dirty="0" sz="100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D283A"/>
                </a:solidFill>
                <a:latin typeface="Calibri"/>
                <a:cs typeface="Calibri"/>
              </a:rPr>
              <a:t>salary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226837" y="982435"/>
            <a:ext cx="1805939" cy="3292475"/>
            <a:chOff x="5226837" y="982435"/>
            <a:chExt cx="1805939" cy="3292475"/>
          </a:xfrm>
        </p:grpSpPr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26837" y="1372668"/>
              <a:ext cx="280796" cy="170649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5266804" y="1389597"/>
              <a:ext cx="201295" cy="91440"/>
            </a:xfrm>
            <a:custGeom>
              <a:avLst/>
              <a:gdLst/>
              <a:ahLst/>
              <a:cxnLst/>
              <a:rect l="l" t="t" r="r" b="b"/>
              <a:pathLst>
                <a:path w="201295" h="91440">
                  <a:moveTo>
                    <a:pt x="200875" y="0"/>
                  </a:moveTo>
                  <a:lnTo>
                    <a:pt x="0" y="0"/>
                  </a:lnTo>
                  <a:lnTo>
                    <a:pt x="0" y="91084"/>
                  </a:lnTo>
                  <a:lnTo>
                    <a:pt x="100431" y="91084"/>
                  </a:lnTo>
                  <a:lnTo>
                    <a:pt x="200875" y="91084"/>
                  </a:lnTo>
                  <a:lnTo>
                    <a:pt x="200875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31320" y="982435"/>
              <a:ext cx="1600923" cy="3292208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5477395" y="1005486"/>
              <a:ext cx="1508760" cy="3200400"/>
            </a:xfrm>
            <a:custGeom>
              <a:avLst/>
              <a:gdLst/>
              <a:ahLst/>
              <a:cxnLst/>
              <a:rect l="l" t="t" r="r" b="b"/>
              <a:pathLst>
                <a:path w="1508759" h="3200400">
                  <a:moveTo>
                    <a:pt x="1508404" y="0"/>
                  </a:moveTo>
                  <a:lnTo>
                    <a:pt x="0" y="0"/>
                  </a:lnTo>
                  <a:lnTo>
                    <a:pt x="0" y="3200031"/>
                  </a:lnTo>
                  <a:lnTo>
                    <a:pt x="754202" y="3200031"/>
                  </a:lnTo>
                  <a:lnTo>
                    <a:pt x="1508404" y="3200031"/>
                  </a:lnTo>
                  <a:lnTo>
                    <a:pt x="1508404" y="0"/>
                  </a:lnTo>
                  <a:close/>
                </a:path>
              </a:pathLst>
            </a:custGeom>
            <a:solidFill>
              <a:srgbClr val="CC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5477395" y="1005486"/>
              <a:ext cx="1508760" cy="3200400"/>
            </a:xfrm>
            <a:custGeom>
              <a:avLst/>
              <a:gdLst/>
              <a:ahLst/>
              <a:cxnLst/>
              <a:rect l="l" t="t" r="r" b="b"/>
              <a:pathLst>
                <a:path w="1508759" h="3200400">
                  <a:moveTo>
                    <a:pt x="754202" y="3200031"/>
                  </a:moveTo>
                  <a:lnTo>
                    <a:pt x="0" y="3200031"/>
                  </a:lnTo>
                  <a:lnTo>
                    <a:pt x="0" y="0"/>
                  </a:lnTo>
                  <a:lnTo>
                    <a:pt x="1508404" y="0"/>
                  </a:lnTo>
                  <a:lnTo>
                    <a:pt x="1508404" y="3200031"/>
                  </a:lnTo>
                  <a:lnTo>
                    <a:pt x="754202" y="3200031"/>
                  </a:lnTo>
                  <a:close/>
                </a:path>
              </a:pathLst>
            </a:custGeom>
            <a:ln w="12599">
              <a:solidFill>
                <a:srgbClr val="13B7A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48921" y="1080340"/>
              <a:ext cx="737996" cy="73766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5888875" y="1097282"/>
              <a:ext cx="658495" cy="658495"/>
            </a:xfrm>
            <a:custGeom>
              <a:avLst/>
              <a:gdLst/>
              <a:ahLst/>
              <a:cxnLst/>
              <a:rect l="l" t="t" r="r" b="b"/>
              <a:pathLst>
                <a:path w="658495" h="658494">
                  <a:moveTo>
                    <a:pt x="658088" y="0"/>
                  </a:moveTo>
                  <a:lnTo>
                    <a:pt x="0" y="0"/>
                  </a:lnTo>
                  <a:lnTo>
                    <a:pt x="0" y="658075"/>
                  </a:lnTo>
                  <a:lnTo>
                    <a:pt x="329044" y="658075"/>
                  </a:lnTo>
                  <a:lnTo>
                    <a:pt x="658088" y="658075"/>
                  </a:lnTo>
                  <a:lnTo>
                    <a:pt x="658088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6141504" y="1129577"/>
            <a:ext cx="1543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600420" y="1933830"/>
            <a:ext cx="29718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0" b="1">
                <a:solidFill>
                  <a:srgbClr val="0C1A29"/>
                </a:solidFill>
                <a:latin typeface="Calibri"/>
                <a:cs typeface="Calibri"/>
              </a:rPr>
              <a:t>Data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981306" y="2101585"/>
            <a:ext cx="49974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0C1A29"/>
                </a:solidFill>
                <a:latin typeface="Calibri"/>
                <a:cs typeface="Calibri"/>
              </a:rPr>
              <a:t>Analysis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600420" y="2573911"/>
            <a:ext cx="9690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1D283A"/>
                </a:solidFill>
                <a:latin typeface="Calibri"/>
                <a:cs typeface="Calibri"/>
              </a:rPr>
              <a:t>Python</a:t>
            </a:r>
            <a:r>
              <a:rPr dirty="0" sz="1000" spc="-4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D283A"/>
                </a:solidFill>
                <a:latin typeface="Calibri"/>
                <a:cs typeface="Calibri"/>
              </a:rPr>
              <a:t>(Pandas,</a:t>
            </a:r>
            <a:endParaRPr sz="1000">
              <a:latin typeface="Calibri"/>
              <a:cs typeface="Calibri"/>
            </a:endParaRPr>
          </a:p>
          <a:p>
            <a:pPr marL="306705">
              <a:lnSpc>
                <a:spcPct val="100000"/>
              </a:lnSpc>
            </a:pPr>
            <a:r>
              <a:rPr dirty="0" sz="1000">
                <a:solidFill>
                  <a:srgbClr val="1D283A"/>
                </a:solidFill>
                <a:latin typeface="Calibri"/>
                <a:cs typeface="Calibri"/>
              </a:rPr>
              <a:t>NumPy)</a:t>
            </a:r>
            <a:r>
              <a:rPr dirty="0" sz="1000" spc="-5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1D283A"/>
                </a:solidFill>
                <a:latin typeface="Calibri"/>
                <a:cs typeface="Calibri"/>
              </a:rPr>
              <a:t>EDA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6946201" y="982435"/>
            <a:ext cx="1805305" cy="3292475"/>
            <a:chOff x="6946201" y="982435"/>
            <a:chExt cx="1805305" cy="3292475"/>
          </a:xfrm>
        </p:grpSpPr>
        <p:pic>
          <p:nvPicPr>
            <p:cNvPr id="50" name="object 5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46201" y="1372668"/>
              <a:ext cx="280796" cy="170649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6986155" y="1389597"/>
              <a:ext cx="201295" cy="91440"/>
            </a:xfrm>
            <a:custGeom>
              <a:avLst/>
              <a:gdLst/>
              <a:ahLst/>
              <a:cxnLst/>
              <a:rect l="l" t="t" r="r" b="b"/>
              <a:pathLst>
                <a:path w="201295" h="91440">
                  <a:moveTo>
                    <a:pt x="200888" y="0"/>
                  </a:moveTo>
                  <a:lnTo>
                    <a:pt x="0" y="0"/>
                  </a:lnTo>
                  <a:lnTo>
                    <a:pt x="0" y="91084"/>
                  </a:lnTo>
                  <a:lnTo>
                    <a:pt x="100444" y="91084"/>
                  </a:lnTo>
                  <a:lnTo>
                    <a:pt x="200888" y="91084"/>
                  </a:lnTo>
                  <a:lnTo>
                    <a:pt x="200888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50316" y="982435"/>
              <a:ext cx="1600923" cy="3292208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7196404" y="1005486"/>
              <a:ext cx="1508760" cy="3200400"/>
            </a:xfrm>
            <a:custGeom>
              <a:avLst/>
              <a:gdLst/>
              <a:ahLst/>
              <a:cxnLst/>
              <a:rect l="l" t="t" r="r" b="b"/>
              <a:pathLst>
                <a:path w="1508759" h="3200400">
                  <a:moveTo>
                    <a:pt x="1508391" y="0"/>
                  </a:moveTo>
                  <a:lnTo>
                    <a:pt x="0" y="0"/>
                  </a:lnTo>
                  <a:lnTo>
                    <a:pt x="0" y="3200031"/>
                  </a:lnTo>
                  <a:lnTo>
                    <a:pt x="754189" y="3200031"/>
                  </a:lnTo>
                  <a:lnTo>
                    <a:pt x="1508391" y="3200031"/>
                  </a:lnTo>
                  <a:lnTo>
                    <a:pt x="1508391" y="0"/>
                  </a:lnTo>
                  <a:close/>
                </a:path>
              </a:pathLst>
            </a:custGeom>
            <a:solidFill>
              <a:srgbClr val="EFFC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67917" y="1080340"/>
              <a:ext cx="737997" cy="737666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7607884" y="1097282"/>
              <a:ext cx="658495" cy="658495"/>
            </a:xfrm>
            <a:custGeom>
              <a:avLst/>
              <a:gdLst/>
              <a:ahLst/>
              <a:cxnLst/>
              <a:rect l="l" t="t" r="r" b="b"/>
              <a:pathLst>
                <a:path w="658495" h="658494">
                  <a:moveTo>
                    <a:pt x="658075" y="0"/>
                  </a:moveTo>
                  <a:lnTo>
                    <a:pt x="0" y="0"/>
                  </a:lnTo>
                  <a:lnTo>
                    <a:pt x="0" y="658075"/>
                  </a:lnTo>
                  <a:lnTo>
                    <a:pt x="329031" y="658075"/>
                  </a:lnTo>
                  <a:lnTo>
                    <a:pt x="658075" y="658075"/>
                  </a:lnTo>
                  <a:lnTo>
                    <a:pt x="658075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7196404" y="1005486"/>
            <a:ext cx="1508760" cy="3200400"/>
          </a:xfrm>
          <a:prstGeom prst="rect">
            <a:avLst/>
          </a:prstGeom>
          <a:ln w="12599">
            <a:solidFill>
              <a:srgbClr val="13B7A5"/>
            </a:solidFill>
          </a:ln>
        </p:spPr>
        <p:txBody>
          <a:bodyPr wrap="square" lIns="0" tIns="136525" rIns="0" bIns="0" rtlCol="0" vert="horz">
            <a:spAutoFit/>
          </a:bodyPr>
          <a:lstStyle/>
          <a:p>
            <a:pPr algn="ctr" marR="17780">
              <a:lnSpc>
                <a:spcPct val="100000"/>
              </a:lnSpc>
              <a:spcBef>
                <a:spcPts val="1075"/>
              </a:spcBef>
            </a:pPr>
            <a:r>
              <a:rPr dirty="0" sz="2000" spc="-5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90"/>
              </a:spcBef>
            </a:pPr>
            <a:endParaRPr sz="2000">
              <a:latin typeface="Calibri"/>
              <a:cs typeface="Calibri"/>
            </a:endParaRPr>
          </a:p>
          <a:p>
            <a:pPr algn="r" marR="372110">
              <a:lnSpc>
                <a:spcPct val="100000"/>
              </a:lnSpc>
            </a:pPr>
            <a:r>
              <a:rPr dirty="0" sz="1100" spc="-10" b="1">
                <a:solidFill>
                  <a:srgbClr val="0C1A29"/>
                </a:solidFill>
                <a:latin typeface="Calibri"/>
                <a:cs typeface="Calibri"/>
              </a:rPr>
              <a:t>Visualization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5"/>
              </a:spcBef>
            </a:pPr>
            <a:endParaRPr sz="1100">
              <a:latin typeface="Calibri"/>
              <a:cs typeface="Calibri"/>
            </a:endParaRPr>
          </a:p>
          <a:p>
            <a:pPr algn="r" marL="409575" marR="372110" indent="-274320">
              <a:lnSpc>
                <a:spcPct val="100000"/>
              </a:lnSpc>
            </a:pPr>
            <a:r>
              <a:rPr dirty="0" sz="1000">
                <a:solidFill>
                  <a:srgbClr val="1D283A"/>
                </a:solidFill>
                <a:latin typeface="Calibri"/>
                <a:cs typeface="Calibri"/>
              </a:rPr>
              <a:t>Charts</a:t>
            </a:r>
            <a:r>
              <a:rPr dirty="0" sz="1000" spc="-3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dirty="0" sz="1000" spc="-2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D283A"/>
                </a:solidFill>
                <a:latin typeface="Calibri"/>
                <a:cs typeface="Calibri"/>
              </a:rPr>
              <a:t>interactive Streamlit</a:t>
            </a:r>
            <a:r>
              <a:rPr dirty="0" sz="100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1D283A"/>
                </a:solidFill>
                <a:latin typeface="Calibri"/>
                <a:cs typeface="Calibri"/>
              </a:rPr>
              <a:t>app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341702" y="4512502"/>
            <a:ext cx="44513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solidFill>
                  <a:srgbClr val="0C9387"/>
                </a:solidFill>
                <a:latin typeface="Calibri"/>
                <a:cs typeface="Calibri"/>
              </a:rPr>
              <a:t>Tools:</a:t>
            </a:r>
            <a:r>
              <a:rPr dirty="0" sz="1200" spc="-10" b="1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C9387"/>
                </a:solidFill>
                <a:latin typeface="Calibri"/>
                <a:cs typeface="Calibri"/>
              </a:rPr>
              <a:t>Python</a:t>
            </a:r>
            <a:r>
              <a:rPr dirty="0" sz="1200" spc="240" b="1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C9387"/>
                </a:solidFill>
                <a:latin typeface="Calibri"/>
                <a:cs typeface="Calibri"/>
              </a:rPr>
              <a:t>·</a:t>
            </a:r>
            <a:r>
              <a:rPr dirty="0" sz="1200" spc="245" b="1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C9387"/>
                </a:solidFill>
                <a:latin typeface="Calibri"/>
                <a:cs typeface="Calibri"/>
              </a:rPr>
              <a:t>Pandas</a:t>
            </a:r>
            <a:r>
              <a:rPr dirty="0" sz="1200" spc="240" b="1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C9387"/>
                </a:solidFill>
                <a:latin typeface="Calibri"/>
                <a:cs typeface="Calibri"/>
              </a:rPr>
              <a:t>·</a:t>
            </a:r>
            <a:r>
              <a:rPr dirty="0" sz="1200" spc="245" b="1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C9387"/>
                </a:solidFill>
                <a:latin typeface="Calibri"/>
                <a:cs typeface="Calibri"/>
              </a:rPr>
              <a:t>NumPy</a:t>
            </a:r>
            <a:r>
              <a:rPr dirty="0" sz="1200" spc="235" b="1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C9387"/>
                </a:solidFill>
                <a:latin typeface="Calibri"/>
                <a:cs typeface="Calibri"/>
              </a:rPr>
              <a:t>·</a:t>
            </a:r>
            <a:r>
              <a:rPr dirty="0" sz="1200" spc="245" b="1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C9387"/>
                </a:solidFill>
                <a:latin typeface="Calibri"/>
                <a:cs typeface="Calibri"/>
              </a:rPr>
              <a:t>Matplotlib</a:t>
            </a:r>
            <a:r>
              <a:rPr dirty="0" sz="1200" spc="240" b="1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C9387"/>
                </a:solidFill>
                <a:latin typeface="Calibri"/>
                <a:cs typeface="Calibri"/>
              </a:rPr>
              <a:t>·</a:t>
            </a:r>
            <a:r>
              <a:rPr dirty="0" sz="1200" spc="245" b="1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C9387"/>
                </a:solidFill>
                <a:latin typeface="Calibri"/>
                <a:cs typeface="Calibri"/>
              </a:rPr>
              <a:t>Seaborn</a:t>
            </a:r>
            <a:r>
              <a:rPr dirty="0" sz="1200" spc="240" b="1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C9387"/>
                </a:solidFill>
                <a:latin typeface="Calibri"/>
                <a:cs typeface="Calibri"/>
              </a:rPr>
              <a:t>·</a:t>
            </a:r>
            <a:r>
              <a:rPr dirty="0" sz="1200" spc="245" b="1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C9387"/>
                </a:solidFill>
                <a:latin typeface="Calibri"/>
                <a:cs typeface="Calibri"/>
              </a:rPr>
              <a:t>Streamlit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dirty="0" spc="-70"/>
              <a:t> </a:t>
            </a:r>
            <a:r>
              <a:rPr dirty="0"/>
              <a:t>Insight</a:t>
            </a:r>
            <a:r>
              <a:rPr dirty="0" spc="-70"/>
              <a:t> </a:t>
            </a:r>
            <a:r>
              <a:rPr dirty="0"/>
              <a:t>1:</a:t>
            </a:r>
            <a:r>
              <a:rPr dirty="0" spc="-65"/>
              <a:t> </a:t>
            </a:r>
            <a:r>
              <a:rPr dirty="0" spc="-60"/>
              <a:t>Top</a:t>
            </a:r>
            <a:r>
              <a:rPr dirty="0" spc="-65"/>
              <a:t> </a:t>
            </a:r>
            <a:r>
              <a:rPr dirty="0" spc="-10"/>
              <a:t>In-</a:t>
            </a:r>
            <a:r>
              <a:rPr dirty="0"/>
              <a:t>Demand</a:t>
            </a:r>
            <a:r>
              <a:rPr dirty="0" spc="-70"/>
              <a:t> </a:t>
            </a:r>
            <a:r>
              <a:rPr dirty="0" spc="-10"/>
              <a:t>Skills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1256" y="992062"/>
            <a:ext cx="39116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1D283A"/>
                </a:solidFill>
                <a:latin typeface="Calibri"/>
                <a:cs typeface="Calibri"/>
              </a:rPr>
              <a:t>Python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08885" y="979908"/>
            <a:ext cx="4606290" cy="335280"/>
            <a:chOff x="2108885" y="979908"/>
            <a:chExt cx="4606290" cy="3352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08885" y="979908"/>
              <a:ext cx="4605845" cy="33517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148840" y="996837"/>
              <a:ext cx="4526280" cy="255904"/>
            </a:xfrm>
            <a:custGeom>
              <a:avLst/>
              <a:gdLst/>
              <a:ahLst/>
              <a:cxnLst/>
              <a:rect l="l" t="t" r="r" b="b"/>
              <a:pathLst>
                <a:path w="4526280" h="255905">
                  <a:moveTo>
                    <a:pt x="4525924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2262962" y="255600"/>
                  </a:lnTo>
                  <a:lnTo>
                    <a:pt x="4525924" y="255600"/>
                  </a:lnTo>
                  <a:lnTo>
                    <a:pt x="4525924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6797776" y="992062"/>
            <a:ext cx="246379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0C1A29"/>
                </a:solidFill>
                <a:latin typeface="Calibri"/>
                <a:cs typeface="Calibri"/>
              </a:rPr>
              <a:t>72%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1256" y="1385191"/>
            <a:ext cx="220979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1D283A"/>
                </a:solidFill>
                <a:latin typeface="Calibri"/>
                <a:cs typeface="Calibri"/>
              </a:rPr>
              <a:t>SQL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108885" y="1373037"/>
            <a:ext cx="4166235" cy="335280"/>
            <a:chOff x="2108885" y="1373037"/>
            <a:chExt cx="4166235" cy="33528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08885" y="1373037"/>
              <a:ext cx="4165917" cy="33516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48840" y="1389966"/>
              <a:ext cx="4086225" cy="255904"/>
            </a:xfrm>
            <a:custGeom>
              <a:avLst/>
              <a:gdLst/>
              <a:ahLst/>
              <a:cxnLst/>
              <a:rect l="l" t="t" r="r" b="b"/>
              <a:pathLst>
                <a:path w="4086225" h="255905">
                  <a:moveTo>
                    <a:pt x="4085996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2042998" y="255600"/>
                  </a:lnTo>
                  <a:lnTo>
                    <a:pt x="4085996" y="255600"/>
                  </a:lnTo>
                  <a:lnTo>
                    <a:pt x="4085996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6357861" y="1385191"/>
            <a:ext cx="246379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0C1A29"/>
                </a:solidFill>
                <a:latin typeface="Calibri"/>
                <a:cs typeface="Calibri"/>
              </a:rPr>
              <a:t>65%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1256" y="1778306"/>
            <a:ext cx="28511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1D283A"/>
                </a:solidFill>
                <a:latin typeface="Calibri"/>
                <a:cs typeface="Calibri"/>
              </a:rPr>
              <a:t>Excel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108517" y="1766153"/>
            <a:ext cx="3726179" cy="335280"/>
            <a:chOff x="2108517" y="1766153"/>
            <a:chExt cx="3726179" cy="33528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08517" y="1766153"/>
              <a:ext cx="3725633" cy="33516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148484" y="1783082"/>
              <a:ext cx="3646170" cy="255904"/>
            </a:xfrm>
            <a:custGeom>
              <a:avLst/>
              <a:gdLst/>
              <a:ahLst/>
              <a:cxnLst/>
              <a:rect l="l" t="t" r="r" b="b"/>
              <a:pathLst>
                <a:path w="3646170" h="255905">
                  <a:moveTo>
                    <a:pt x="3645712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1823034" y="255600"/>
                  </a:lnTo>
                  <a:lnTo>
                    <a:pt x="3645712" y="255600"/>
                  </a:lnTo>
                  <a:lnTo>
                    <a:pt x="3645712" y="0"/>
                  </a:lnTo>
                  <a:close/>
                </a:path>
              </a:pathLst>
            </a:custGeom>
            <a:solidFill>
              <a:srgbClr val="13B7A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5917577" y="1778306"/>
            <a:ext cx="246379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0C1A29"/>
                </a:solidFill>
                <a:latin typeface="Calibri"/>
                <a:cs typeface="Calibri"/>
              </a:rPr>
              <a:t>58%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1256" y="2171790"/>
            <a:ext cx="94297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1D283A"/>
                </a:solidFill>
                <a:latin typeface="Calibri"/>
                <a:cs typeface="Calibri"/>
              </a:rPr>
              <a:t>Machine</a:t>
            </a:r>
            <a:r>
              <a:rPr dirty="0" sz="1000" spc="-4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D283A"/>
                </a:solidFill>
                <a:latin typeface="Calibri"/>
                <a:cs typeface="Calibri"/>
              </a:rPr>
              <a:t>Learning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108517" y="2159268"/>
            <a:ext cx="2908935" cy="335280"/>
            <a:chOff x="2108517" y="2159268"/>
            <a:chExt cx="2908935" cy="335280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08517" y="2159268"/>
              <a:ext cx="2908439" cy="33517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148484" y="2176197"/>
              <a:ext cx="2828925" cy="255904"/>
            </a:xfrm>
            <a:custGeom>
              <a:avLst/>
              <a:gdLst/>
              <a:ahLst/>
              <a:cxnLst/>
              <a:rect l="l" t="t" r="r" b="b"/>
              <a:pathLst>
                <a:path w="2828925" h="255905">
                  <a:moveTo>
                    <a:pt x="2828518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1414437" y="255600"/>
                  </a:lnTo>
                  <a:lnTo>
                    <a:pt x="2828518" y="255600"/>
                  </a:lnTo>
                  <a:lnTo>
                    <a:pt x="2828518" y="0"/>
                  </a:lnTo>
                  <a:close/>
                </a:path>
              </a:pathLst>
            </a:custGeom>
            <a:solidFill>
              <a:srgbClr val="13B7A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5100383" y="2171790"/>
            <a:ext cx="246379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0C1A29"/>
                </a:solidFill>
                <a:latin typeface="Calibri"/>
                <a:cs typeface="Calibri"/>
              </a:rPr>
              <a:t>45%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1256" y="2564906"/>
            <a:ext cx="480059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1D283A"/>
                </a:solidFill>
                <a:latin typeface="Calibri"/>
                <a:cs typeface="Calibri"/>
              </a:rPr>
              <a:t>Power</a:t>
            </a:r>
            <a:r>
              <a:rPr dirty="0" sz="1000" spc="-2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1D283A"/>
                </a:solidFill>
                <a:latin typeface="Calibri"/>
                <a:cs typeface="Calibri"/>
              </a:rPr>
              <a:t>BI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108517" y="2552397"/>
            <a:ext cx="2468880" cy="335280"/>
            <a:chOff x="2108517" y="2552397"/>
            <a:chExt cx="2468880" cy="335280"/>
          </a:xfrm>
        </p:grpSpPr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08517" y="2552397"/>
              <a:ext cx="2468524" cy="33516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148484" y="2569326"/>
              <a:ext cx="2388870" cy="255904"/>
            </a:xfrm>
            <a:custGeom>
              <a:avLst/>
              <a:gdLst/>
              <a:ahLst/>
              <a:cxnLst/>
              <a:rect l="l" t="t" r="r" b="b"/>
              <a:pathLst>
                <a:path w="2388870" h="255905">
                  <a:moveTo>
                    <a:pt x="2388590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1194473" y="255600"/>
                  </a:lnTo>
                  <a:lnTo>
                    <a:pt x="2388590" y="255600"/>
                  </a:lnTo>
                  <a:lnTo>
                    <a:pt x="2388590" y="0"/>
                  </a:lnTo>
                  <a:close/>
                </a:path>
              </a:pathLst>
            </a:custGeom>
            <a:solidFill>
              <a:srgbClr val="13B7A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4660455" y="2564906"/>
            <a:ext cx="246379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0C1A29"/>
                </a:solidFill>
                <a:latin typeface="Calibri"/>
                <a:cs typeface="Calibri"/>
              </a:rPr>
              <a:t>38%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51256" y="2958022"/>
            <a:ext cx="422909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1D283A"/>
                </a:solidFill>
                <a:latin typeface="Calibri"/>
                <a:cs typeface="Calibri"/>
              </a:rPr>
              <a:t>Tableau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108517" y="2945868"/>
            <a:ext cx="2280285" cy="335280"/>
            <a:chOff x="2108517" y="2945868"/>
            <a:chExt cx="2280285" cy="335280"/>
          </a:xfrm>
        </p:grpSpPr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08517" y="2945868"/>
              <a:ext cx="2279878" cy="335178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148484" y="2962797"/>
              <a:ext cx="2200275" cy="255904"/>
            </a:xfrm>
            <a:custGeom>
              <a:avLst/>
              <a:gdLst/>
              <a:ahLst/>
              <a:cxnLst/>
              <a:rect l="l" t="t" r="r" b="b"/>
              <a:pathLst>
                <a:path w="2200275" h="255905">
                  <a:moveTo>
                    <a:pt x="2199957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1100150" y="255600"/>
                  </a:lnTo>
                  <a:lnTo>
                    <a:pt x="2199957" y="255600"/>
                  </a:lnTo>
                  <a:lnTo>
                    <a:pt x="2199957" y="0"/>
                  </a:lnTo>
                  <a:close/>
                </a:path>
              </a:pathLst>
            </a:custGeom>
            <a:solidFill>
              <a:srgbClr val="5DE9D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4471822" y="2958022"/>
            <a:ext cx="246379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0C1A29"/>
                </a:solidFill>
                <a:latin typeface="Calibri"/>
                <a:cs typeface="Calibri"/>
              </a:rPr>
              <a:t>35%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51256" y="3351150"/>
            <a:ext cx="9461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1D283A"/>
                </a:solidFill>
                <a:latin typeface="Calibri"/>
                <a:cs typeface="Calibri"/>
              </a:rPr>
              <a:t>R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108885" y="3338996"/>
            <a:ext cx="1839595" cy="335280"/>
            <a:chOff x="2108885" y="3338996"/>
            <a:chExt cx="1839595" cy="335280"/>
          </a:xfrm>
        </p:grpSpPr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08885" y="3338996"/>
              <a:ext cx="1839594" cy="33516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148840" y="3355926"/>
              <a:ext cx="1760220" cy="255904"/>
            </a:xfrm>
            <a:custGeom>
              <a:avLst/>
              <a:gdLst/>
              <a:ahLst/>
              <a:cxnLst/>
              <a:rect l="l" t="t" r="r" b="b"/>
              <a:pathLst>
                <a:path w="1760220" h="255904">
                  <a:moveTo>
                    <a:pt x="1759673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879843" y="255600"/>
                  </a:lnTo>
                  <a:lnTo>
                    <a:pt x="1759673" y="255600"/>
                  </a:lnTo>
                  <a:lnTo>
                    <a:pt x="1759673" y="0"/>
                  </a:lnTo>
                  <a:close/>
                </a:path>
              </a:pathLst>
            </a:custGeom>
            <a:solidFill>
              <a:srgbClr val="5DE9D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4031894" y="3351150"/>
            <a:ext cx="246379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0C1A29"/>
                </a:solidFill>
                <a:latin typeface="Calibri"/>
                <a:cs typeface="Calibri"/>
              </a:rPr>
              <a:t>28%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51256" y="3744266"/>
            <a:ext cx="24066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0">
                <a:solidFill>
                  <a:srgbClr val="1D283A"/>
                </a:solidFill>
                <a:latin typeface="Calibri"/>
                <a:cs typeface="Calibri"/>
              </a:rPr>
              <a:t>Java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108885" y="3732112"/>
            <a:ext cx="1588770" cy="335280"/>
            <a:chOff x="2108885" y="3732112"/>
            <a:chExt cx="1588770" cy="335280"/>
          </a:xfrm>
        </p:grpSpPr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08885" y="3732112"/>
              <a:ext cx="1588325" cy="335165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148840" y="3749042"/>
              <a:ext cx="1508760" cy="255904"/>
            </a:xfrm>
            <a:custGeom>
              <a:avLst/>
              <a:gdLst/>
              <a:ahLst/>
              <a:cxnLst/>
              <a:rect l="l" t="t" r="r" b="b"/>
              <a:pathLst>
                <a:path w="1508760" h="255904">
                  <a:moveTo>
                    <a:pt x="1508404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754202" y="255600"/>
                  </a:lnTo>
                  <a:lnTo>
                    <a:pt x="1508404" y="255600"/>
                  </a:lnTo>
                  <a:lnTo>
                    <a:pt x="1508404" y="0"/>
                  </a:lnTo>
                  <a:close/>
                </a:path>
              </a:pathLst>
            </a:custGeom>
            <a:solidFill>
              <a:srgbClr val="CCFA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3780256" y="3744266"/>
            <a:ext cx="246379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0C1A29"/>
                </a:solidFill>
                <a:latin typeface="Calibri"/>
                <a:cs typeface="Calibri"/>
              </a:rPr>
              <a:t>24%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51256" y="4137750"/>
            <a:ext cx="66484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1D283A"/>
                </a:solidFill>
                <a:latin typeface="Calibri"/>
                <a:cs typeface="Calibri"/>
              </a:rPr>
              <a:t>Cloud</a:t>
            </a:r>
            <a:r>
              <a:rPr dirty="0" sz="1000" spc="-4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D283A"/>
                </a:solidFill>
                <a:latin typeface="Calibri"/>
                <a:cs typeface="Calibri"/>
              </a:rPr>
              <a:t>(AWS)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108885" y="4125228"/>
            <a:ext cx="1337310" cy="335280"/>
            <a:chOff x="2108885" y="4125228"/>
            <a:chExt cx="1337310" cy="335280"/>
          </a:xfrm>
        </p:grpSpPr>
        <p:pic>
          <p:nvPicPr>
            <p:cNvPr id="45" name="object 4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08885" y="4125228"/>
              <a:ext cx="1337043" cy="335178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2148840" y="4142157"/>
              <a:ext cx="1257300" cy="255904"/>
            </a:xfrm>
            <a:custGeom>
              <a:avLst/>
              <a:gdLst/>
              <a:ahLst/>
              <a:cxnLst/>
              <a:rect l="l" t="t" r="r" b="b"/>
              <a:pathLst>
                <a:path w="1257300" h="255904">
                  <a:moveTo>
                    <a:pt x="1257122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628561" y="255600"/>
                  </a:lnTo>
                  <a:lnTo>
                    <a:pt x="1257122" y="255600"/>
                  </a:lnTo>
                  <a:lnTo>
                    <a:pt x="1257122" y="0"/>
                  </a:lnTo>
                  <a:close/>
                </a:path>
              </a:pathLst>
            </a:custGeom>
            <a:solidFill>
              <a:srgbClr val="CCFA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3528974" y="4137750"/>
            <a:ext cx="246379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0C1A29"/>
                </a:solidFill>
                <a:latin typeface="Calibri"/>
                <a:cs typeface="Calibri"/>
              </a:rPr>
              <a:t>20%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51256" y="4530866"/>
            <a:ext cx="839469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1D283A"/>
                </a:solidFill>
                <a:latin typeface="Calibri"/>
                <a:cs typeface="Calibri"/>
              </a:rPr>
              <a:t>Communication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2108885" y="4518357"/>
            <a:ext cx="1211580" cy="335280"/>
            <a:chOff x="2108885" y="4518357"/>
            <a:chExt cx="1211580" cy="335280"/>
          </a:xfrm>
        </p:grpSpPr>
        <p:pic>
          <p:nvPicPr>
            <p:cNvPr id="50" name="object 5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08885" y="4518357"/>
              <a:ext cx="1211033" cy="335165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2148840" y="4535286"/>
              <a:ext cx="1131570" cy="255904"/>
            </a:xfrm>
            <a:custGeom>
              <a:avLst/>
              <a:gdLst/>
              <a:ahLst/>
              <a:cxnLst/>
              <a:rect l="l" t="t" r="r" b="b"/>
              <a:pathLst>
                <a:path w="1131570" h="255904">
                  <a:moveTo>
                    <a:pt x="1131125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565556" y="255600"/>
                  </a:lnTo>
                  <a:lnTo>
                    <a:pt x="1131125" y="255600"/>
                  </a:lnTo>
                  <a:lnTo>
                    <a:pt x="1131125" y="0"/>
                  </a:lnTo>
                  <a:close/>
                </a:path>
              </a:pathLst>
            </a:custGeom>
            <a:solidFill>
              <a:srgbClr val="CCFA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3402977" y="4530866"/>
            <a:ext cx="246379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0C1A29"/>
                </a:solidFill>
                <a:latin typeface="Calibri"/>
                <a:cs typeface="Calibri"/>
              </a:rPr>
              <a:t>18%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7314476" y="982435"/>
            <a:ext cx="1647189" cy="1097915"/>
            <a:chOff x="7314476" y="982435"/>
            <a:chExt cx="1647189" cy="1097915"/>
          </a:xfrm>
        </p:grpSpPr>
        <p:pic>
          <p:nvPicPr>
            <p:cNvPr id="54" name="object 5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314476" y="982435"/>
              <a:ext cx="1646643" cy="1097648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7360564" y="1005486"/>
              <a:ext cx="1554480" cy="1005840"/>
            </a:xfrm>
            <a:custGeom>
              <a:avLst/>
              <a:gdLst/>
              <a:ahLst/>
              <a:cxnLst/>
              <a:rect l="l" t="t" r="r" b="b"/>
              <a:pathLst>
                <a:path w="1554479" h="1005839">
                  <a:moveTo>
                    <a:pt x="1554111" y="0"/>
                  </a:moveTo>
                  <a:lnTo>
                    <a:pt x="0" y="0"/>
                  </a:lnTo>
                  <a:lnTo>
                    <a:pt x="0" y="1005471"/>
                  </a:lnTo>
                  <a:lnTo>
                    <a:pt x="777240" y="1005471"/>
                  </a:lnTo>
                  <a:lnTo>
                    <a:pt x="1554111" y="1005471"/>
                  </a:lnTo>
                  <a:lnTo>
                    <a:pt x="1554111" y="0"/>
                  </a:lnTo>
                  <a:close/>
                </a:path>
              </a:pathLst>
            </a:custGeom>
            <a:solidFill>
              <a:srgbClr val="EFFCF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7360564" y="1005486"/>
            <a:ext cx="1554480" cy="1005840"/>
          </a:xfrm>
          <a:prstGeom prst="rect">
            <a:avLst/>
          </a:prstGeom>
          <a:ln w="12599">
            <a:solidFill>
              <a:srgbClr val="CCFAF0"/>
            </a:solidFill>
          </a:ln>
        </p:spPr>
        <p:txBody>
          <a:bodyPr wrap="square" lIns="0" tIns="901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10"/>
              </a:spcBef>
            </a:pPr>
            <a:r>
              <a:rPr dirty="0" sz="2600" spc="-25" b="1">
                <a:solidFill>
                  <a:srgbClr val="0C9387"/>
                </a:solidFill>
                <a:latin typeface="Calibri"/>
                <a:cs typeface="Calibri"/>
              </a:rPr>
              <a:t>72%</a:t>
            </a:r>
            <a:endParaRPr sz="2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dirty="0" sz="1000">
                <a:solidFill>
                  <a:srgbClr val="1D283A"/>
                </a:solidFill>
                <a:latin typeface="Calibri"/>
                <a:cs typeface="Calibri"/>
              </a:rPr>
              <a:t>Jobs</a:t>
            </a:r>
            <a:r>
              <a:rPr dirty="0" sz="1000" spc="-4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D283A"/>
                </a:solidFill>
                <a:latin typeface="Calibri"/>
                <a:cs typeface="Calibri"/>
              </a:rPr>
              <a:t>need</a:t>
            </a:r>
            <a:r>
              <a:rPr dirty="0" sz="1000" spc="-3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D283A"/>
                </a:solidFill>
                <a:latin typeface="Calibri"/>
                <a:cs typeface="Calibri"/>
              </a:rPr>
              <a:t>Python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7314476" y="2216875"/>
            <a:ext cx="1647189" cy="1097915"/>
            <a:chOff x="7314476" y="2216875"/>
            <a:chExt cx="1647189" cy="1097915"/>
          </a:xfrm>
        </p:grpSpPr>
        <p:pic>
          <p:nvPicPr>
            <p:cNvPr id="58" name="object 5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314476" y="2216875"/>
              <a:ext cx="1646643" cy="1097648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7360564" y="2239926"/>
              <a:ext cx="1554480" cy="1005840"/>
            </a:xfrm>
            <a:custGeom>
              <a:avLst/>
              <a:gdLst/>
              <a:ahLst/>
              <a:cxnLst/>
              <a:rect l="l" t="t" r="r" b="b"/>
              <a:pathLst>
                <a:path w="1554479" h="1005839">
                  <a:moveTo>
                    <a:pt x="1554111" y="0"/>
                  </a:moveTo>
                  <a:lnTo>
                    <a:pt x="0" y="0"/>
                  </a:lnTo>
                  <a:lnTo>
                    <a:pt x="0" y="1005471"/>
                  </a:lnTo>
                  <a:lnTo>
                    <a:pt x="777240" y="1005471"/>
                  </a:lnTo>
                  <a:lnTo>
                    <a:pt x="1554111" y="1005471"/>
                  </a:lnTo>
                  <a:lnTo>
                    <a:pt x="1554111" y="0"/>
                  </a:lnTo>
                  <a:close/>
                </a:path>
              </a:pathLst>
            </a:custGeom>
            <a:solidFill>
              <a:srgbClr val="EFFCF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/>
          <p:nvPr/>
        </p:nvSpPr>
        <p:spPr>
          <a:xfrm>
            <a:off x="7360564" y="2239926"/>
            <a:ext cx="1554480" cy="1005840"/>
          </a:xfrm>
          <a:prstGeom prst="rect">
            <a:avLst/>
          </a:prstGeom>
          <a:ln w="12599">
            <a:solidFill>
              <a:srgbClr val="CCFAF0"/>
            </a:solidFill>
          </a:ln>
        </p:spPr>
        <p:txBody>
          <a:bodyPr wrap="square" lIns="0" tIns="901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10"/>
              </a:spcBef>
            </a:pPr>
            <a:r>
              <a:rPr dirty="0" sz="2600" spc="-25" b="1">
                <a:solidFill>
                  <a:srgbClr val="0C9387"/>
                </a:solidFill>
                <a:latin typeface="Calibri"/>
                <a:cs typeface="Calibri"/>
              </a:rPr>
              <a:t>65%</a:t>
            </a:r>
            <a:endParaRPr sz="2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dirty="0" sz="1000">
                <a:solidFill>
                  <a:srgbClr val="1D283A"/>
                </a:solidFill>
                <a:latin typeface="Calibri"/>
                <a:cs typeface="Calibri"/>
              </a:rPr>
              <a:t>Jobs</a:t>
            </a:r>
            <a:r>
              <a:rPr dirty="0" sz="1000" spc="-4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D283A"/>
                </a:solidFill>
                <a:latin typeface="Calibri"/>
                <a:cs typeface="Calibri"/>
              </a:rPr>
              <a:t>need</a:t>
            </a:r>
            <a:r>
              <a:rPr dirty="0" sz="1000" spc="-3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1D283A"/>
                </a:solidFill>
                <a:latin typeface="Calibri"/>
                <a:cs typeface="Calibri"/>
              </a:rPr>
              <a:t>SQL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7314476" y="3451315"/>
            <a:ext cx="1647189" cy="1097915"/>
            <a:chOff x="7314476" y="3451315"/>
            <a:chExt cx="1647189" cy="1097915"/>
          </a:xfrm>
        </p:grpSpPr>
        <p:pic>
          <p:nvPicPr>
            <p:cNvPr id="62" name="object 6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314476" y="3451315"/>
              <a:ext cx="1646643" cy="1097648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7360564" y="3474366"/>
              <a:ext cx="1554480" cy="1005840"/>
            </a:xfrm>
            <a:custGeom>
              <a:avLst/>
              <a:gdLst/>
              <a:ahLst/>
              <a:cxnLst/>
              <a:rect l="l" t="t" r="r" b="b"/>
              <a:pathLst>
                <a:path w="1554479" h="1005839">
                  <a:moveTo>
                    <a:pt x="1554111" y="0"/>
                  </a:moveTo>
                  <a:lnTo>
                    <a:pt x="0" y="0"/>
                  </a:lnTo>
                  <a:lnTo>
                    <a:pt x="0" y="1005471"/>
                  </a:lnTo>
                  <a:lnTo>
                    <a:pt x="777240" y="1005471"/>
                  </a:lnTo>
                  <a:lnTo>
                    <a:pt x="1554111" y="1005471"/>
                  </a:lnTo>
                  <a:lnTo>
                    <a:pt x="1554111" y="0"/>
                  </a:lnTo>
                  <a:close/>
                </a:path>
              </a:pathLst>
            </a:custGeom>
            <a:solidFill>
              <a:srgbClr val="EFFCF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/>
          <p:cNvSpPr txBox="1"/>
          <p:nvPr/>
        </p:nvSpPr>
        <p:spPr>
          <a:xfrm>
            <a:off x="7360564" y="3474366"/>
            <a:ext cx="1554480" cy="1005840"/>
          </a:xfrm>
          <a:prstGeom prst="rect">
            <a:avLst/>
          </a:prstGeom>
          <a:ln w="12599">
            <a:solidFill>
              <a:srgbClr val="CCFAF0"/>
            </a:solidFill>
          </a:ln>
        </p:spPr>
        <p:txBody>
          <a:bodyPr wrap="square" lIns="0" tIns="901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10"/>
              </a:spcBef>
            </a:pPr>
            <a:r>
              <a:rPr dirty="0" sz="2600" spc="-25" b="1">
                <a:solidFill>
                  <a:srgbClr val="0C9387"/>
                </a:solidFill>
                <a:latin typeface="Calibri"/>
                <a:cs typeface="Calibri"/>
              </a:rPr>
              <a:t>58%</a:t>
            </a:r>
            <a:endParaRPr sz="2600">
              <a:latin typeface="Calibri"/>
              <a:cs typeface="Calibri"/>
            </a:endParaRPr>
          </a:p>
          <a:p>
            <a:pPr algn="ctr" marL="635">
              <a:lnSpc>
                <a:spcPct val="100000"/>
              </a:lnSpc>
              <a:spcBef>
                <a:spcPts val="990"/>
              </a:spcBef>
            </a:pPr>
            <a:r>
              <a:rPr dirty="0" sz="1000">
                <a:solidFill>
                  <a:srgbClr val="1D283A"/>
                </a:solidFill>
                <a:latin typeface="Calibri"/>
                <a:cs typeface="Calibri"/>
              </a:rPr>
              <a:t>Jobs</a:t>
            </a:r>
            <a:r>
              <a:rPr dirty="0" sz="1000" spc="-4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D283A"/>
                </a:solidFill>
                <a:latin typeface="Calibri"/>
                <a:cs typeface="Calibri"/>
              </a:rPr>
              <a:t>need</a:t>
            </a:r>
            <a:r>
              <a:rPr dirty="0" sz="1000" spc="-3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D283A"/>
                </a:solidFill>
                <a:latin typeface="Calibri"/>
                <a:cs typeface="Calibri"/>
              </a:rPr>
              <a:t>Excel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172942" y="4832542"/>
            <a:ext cx="243332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63738A"/>
                </a:solidFill>
                <a:latin typeface="Calibri"/>
                <a:cs typeface="Calibri"/>
              </a:rPr>
              <a:t>Figure</a:t>
            </a:r>
            <a:r>
              <a:rPr dirty="0" sz="900" spc="-10" i="1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3738A"/>
                </a:solidFill>
                <a:latin typeface="Calibri"/>
                <a:cs typeface="Calibri"/>
              </a:rPr>
              <a:t>1:</a:t>
            </a:r>
            <a:r>
              <a:rPr dirty="0" sz="900" spc="-15" i="1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00" spc="-20" i="1">
                <a:solidFill>
                  <a:srgbClr val="63738A"/>
                </a:solidFill>
                <a:latin typeface="Calibri"/>
                <a:cs typeface="Calibri"/>
              </a:rPr>
              <a:t>Top </a:t>
            </a:r>
            <a:r>
              <a:rPr dirty="0" sz="900" i="1">
                <a:solidFill>
                  <a:srgbClr val="63738A"/>
                </a:solidFill>
                <a:latin typeface="Calibri"/>
                <a:cs typeface="Calibri"/>
              </a:rPr>
              <a:t>10</a:t>
            </a:r>
            <a:r>
              <a:rPr dirty="0" sz="900" spc="-15" i="1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00" spc="-10" i="1">
                <a:solidFill>
                  <a:srgbClr val="63738A"/>
                </a:solidFill>
                <a:latin typeface="Calibri"/>
                <a:cs typeface="Calibri"/>
              </a:rPr>
              <a:t>In-</a:t>
            </a:r>
            <a:r>
              <a:rPr dirty="0" sz="900" i="1">
                <a:solidFill>
                  <a:srgbClr val="63738A"/>
                </a:solidFill>
                <a:latin typeface="Calibri"/>
                <a:cs typeface="Calibri"/>
              </a:rPr>
              <a:t>Demand</a:t>
            </a:r>
            <a:r>
              <a:rPr dirty="0" sz="900" spc="-20" i="1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3738A"/>
                </a:solidFill>
                <a:latin typeface="Calibri"/>
                <a:cs typeface="Calibri"/>
              </a:rPr>
              <a:t>Skills</a:t>
            </a:r>
            <a:r>
              <a:rPr dirty="0" sz="900" spc="-15" i="1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3738A"/>
                </a:solidFill>
                <a:latin typeface="Calibri"/>
                <a:cs typeface="Calibri"/>
              </a:rPr>
              <a:t>(%</a:t>
            </a:r>
            <a:r>
              <a:rPr dirty="0" sz="900" spc="-15" i="1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3738A"/>
                </a:solidFill>
                <a:latin typeface="Calibri"/>
                <a:cs typeface="Calibri"/>
              </a:rPr>
              <a:t>of</a:t>
            </a:r>
            <a:r>
              <a:rPr dirty="0" sz="900" spc="-10" i="1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3738A"/>
                </a:solidFill>
                <a:latin typeface="Calibri"/>
                <a:cs typeface="Calibri"/>
              </a:rPr>
              <a:t>job</a:t>
            </a:r>
            <a:r>
              <a:rPr dirty="0" sz="900" spc="-10" i="1">
                <a:solidFill>
                  <a:srgbClr val="63738A"/>
                </a:solidFill>
                <a:latin typeface="Calibri"/>
                <a:cs typeface="Calibri"/>
              </a:rPr>
              <a:t> postings)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dirty="0" spc="-45"/>
              <a:t> </a:t>
            </a:r>
            <a:r>
              <a:rPr dirty="0"/>
              <a:t>Insight</a:t>
            </a:r>
            <a:r>
              <a:rPr dirty="0" spc="-50"/>
              <a:t> </a:t>
            </a:r>
            <a:r>
              <a:rPr dirty="0"/>
              <a:t>2:</a:t>
            </a:r>
            <a:r>
              <a:rPr dirty="0" spc="-45"/>
              <a:t> </a:t>
            </a:r>
            <a:r>
              <a:rPr dirty="0" spc="-30"/>
              <a:t>Industry-</a:t>
            </a:r>
            <a:r>
              <a:rPr dirty="0"/>
              <a:t>Wise</a:t>
            </a:r>
            <a:r>
              <a:rPr dirty="0" spc="-35"/>
              <a:t> </a:t>
            </a:r>
            <a:r>
              <a:rPr dirty="0" spc="-10"/>
              <a:t>Demand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2696" y="992418"/>
            <a:ext cx="15601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C1A29"/>
                </a:solidFill>
                <a:latin typeface="Calibri"/>
                <a:cs typeface="Calibri"/>
              </a:rPr>
              <a:t>Industry</a:t>
            </a:r>
            <a:r>
              <a:rPr dirty="0" sz="1400" spc="-55" b="1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C1A29"/>
                </a:solidFill>
                <a:latin typeface="Calibri"/>
                <a:cs typeface="Calibri"/>
              </a:rPr>
              <a:t>Distribution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19316" y="1394271"/>
            <a:ext cx="3750310" cy="530860"/>
            <a:chOff x="319316" y="1394271"/>
            <a:chExt cx="3750310" cy="5308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5805" y="1400392"/>
              <a:ext cx="1249921" cy="51804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65759" y="1417322"/>
              <a:ext cx="1170305" cy="438784"/>
            </a:xfrm>
            <a:custGeom>
              <a:avLst/>
              <a:gdLst/>
              <a:ahLst/>
              <a:cxnLst/>
              <a:rect l="l" t="t" r="r" b="b"/>
              <a:pathLst>
                <a:path w="1170305" h="438785">
                  <a:moveTo>
                    <a:pt x="1170000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585000" y="438480"/>
                  </a:lnTo>
                  <a:lnTo>
                    <a:pt x="1170000" y="438480"/>
                  </a:lnTo>
                  <a:lnTo>
                    <a:pt x="1170000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9316" y="1394271"/>
              <a:ext cx="3749763" cy="53065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65404" y="1417322"/>
              <a:ext cx="3657600" cy="438784"/>
            </a:xfrm>
            <a:custGeom>
              <a:avLst/>
              <a:gdLst/>
              <a:ahLst/>
              <a:cxnLst/>
              <a:rect l="l" t="t" r="r" b="b"/>
              <a:pathLst>
                <a:path w="3657600" h="438785">
                  <a:moveTo>
                    <a:pt x="3657231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1828800" y="438480"/>
                  </a:lnTo>
                  <a:lnTo>
                    <a:pt x="3657231" y="438480"/>
                  </a:lnTo>
                  <a:lnTo>
                    <a:pt x="36572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5805" y="1400392"/>
              <a:ext cx="1249921" cy="51804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65759" y="1417322"/>
              <a:ext cx="1170305" cy="438784"/>
            </a:xfrm>
            <a:custGeom>
              <a:avLst/>
              <a:gdLst/>
              <a:ahLst/>
              <a:cxnLst/>
              <a:rect l="l" t="t" r="r" b="b"/>
              <a:pathLst>
                <a:path w="1170305" h="438785">
                  <a:moveTo>
                    <a:pt x="1170000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585000" y="438480"/>
                  </a:lnTo>
                  <a:lnTo>
                    <a:pt x="1170000" y="438480"/>
                  </a:lnTo>
                  <a:lnTo>
                    <a:pt x="1170000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365404" y="1417322"/>
            <a:ext cx="3657600" cy="438784"/>
          </a:xfrm>
          <a:prstGeom prst="rect">
            <a:avLst/>
          </a:prstGeom>
          <a:ln w="12599">
            <a:solidFill>
              <a:srgbClr val="CCFAF0"/>
            </a:solidFill>
          </a:ln>
        </p:spPr>
        <p:txBody>
          <a:bodyPr wrap="square" lIns="0" tIns="81280" rIns="0" bIns="0" rtlCol="0" vert="horz">
            <a:spAutoFit/>
          </a:bodyPr>
          <a:lstStyle/>
          <a:p>
            <a:pPr marL="226695">
              <a:lnSpc>
                <a:spcPct val="100000"/>
              </a:lnSpc>
              <a:spcBef>
                <a:spcPts val="640"/>
              </a:spcBef>
            </a:pP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dirty="0" sz="11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11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Software</a:t>
            </a:r>
            <a:r>
              <a:rPr dirty="0" sz="1100" spc="204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25" b="1">
                <a:solidFill>
                  <a:srgbClr val="FFFFFF"/>
                </a:solidFill>
                <a:latin typeface="Calibri"/>
                <a:cs typeface="Calibri"/>
              </a:rPr>
              <a:t>32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19316" y="2052715"/>
            <a:ext cx="3750310" cy="530860"/>
            <a:chOff x="319316" y="2052715"/>
            <a:chExt cx="3750310" cy="530860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5437" y="2058837"/>
              <a:ext cx="993965" cy="51804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65404" y="2075766"/>
              <a:ext cx="914400" cy="438784"/>
            </a:xfrm>
            <a:custGeom>
              <a:avLst/>
              <a:gdLst/>
              <a:ahLst/>
              <a:cxnLst/>
              <a:rect l="l" t="t" r="r" b="b"/>
              <a:pathLst>
                <a:path w="914400" h="438785">
                  <a:moveTo>
                    <a:pt x="914031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457200" y="438480"/>
                  </a:lnTo>
                  <a:lnTo>
                    <a:pt x="914031" y="438480"/>
                  </a:lnTo>
                  <a:lnTo>
                    <a:pt x="914031" y="0"/>
                  </a:lnTo>
                  <a:close/>
                </a:path>
              </a:pathLst>
            </a:custGeom>
            <a:solidFill>
              <a:srgbClr val="13B7A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9316" y="2052715"/>
              <a:ext cx="3749763" cy="53064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65404" y="2075766"/>
              <a:ext cx="3657600" cy="438784"/>
            </a:xfrm>
            <a:custGeom>
              <a:avLst/>
              <a:gdLst/>
              <a:ahLst/>
              <a:cxnLst/>
              <a:rect l="l" t="t" r="r" b="b"/>
              <a:pathLst>
                <a:path w="3657600" h="438785">
                  <a:moveTo>
                    <a:pt x="3657231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1828800" y="438480"/>
                  </a:lnTo>
                  <a:lnTo>
                    <a:pt x="3657231" y="438480"/>
                  </a:lnTo>
                  <a:lnTo>
                    <a:pt x="36572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5437" y="2058837"/>
              <a:ext cx="993965" cy="51804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65404" y="2075766"/>
              <a:ext cx="914400" cy="438784"/>
            </a:xfrm>
            <a:custGeom>
              <a:avLst/>
              <a:gdLst/>
              <a:ahLst/>
              <a:cxnLst/>
              <a:rect l="l" t="t" r="r" b="b"/>
              <a:pathLst>
                <a:path w="914400" h="438785">
                  <a:moveTo>
                    <a:pt x="914031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457200" y="438480"/>
                  </a:lnTo>
                  <a:lnTo>
                    <a:pt x="914031" y="438480"/>
                  </a:lnTo>
                  <a:lnTo>
                    <a:pt x="914031" y="0"/>
                  </a:lnTo>
                  <a:close/>
                </a:path>
              </a:pathLst>
            </a:custGeom>
            <a:solidFill>
              <a:srgbClr val="13B7A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365404" y="2075766"/>
            <a:ext cx="3657600" cy="438784"/>
          </a:xfrm>
          <a:prstGeom prst="rect">
            <a:avLst/>
          </a:prstGeom>
          <a:ln w="12599">
            <a:solidFill>
              <a:srgbClr val="CCFAF0"/>
            </a:solidFill>
          </a:ln>
        </p:spPr>
        <p:txBody>
          <a:bodyPr wrap="square" lIns="0" tIns="80645" rIns="0" bIns="0" rtlCol="0" vert="horz">
            <a:spAutoFit/>
          </a:bodyPr>
          <a:lstStyle/>
          <a:p>
            <a:pPr marL="226695">
              <a:lnSpc>
                <a:spcPct val="100000"/>
              </a:lnSpc>
              <a:spcBef>
                <a:spcPts val="635"/>
              </a:spcBef>
            </a:pP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1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Science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19316" y="2711159"/>
            <a:ext cx="3750310" cy="530860"/>
            <a:chOff x="319316" y="2711159"/>
            <a:chExt cx="3750310" cy="530860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5437" y="2717268"/>
              <a:ext cx="664921" cy="51805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65404" y="2734197"/>
              <a:ext cx="585470" cy="438784"/>
            </a:xfrm>
            <a:custGeom>
              <a:avLst/>
              <a:gdLst/>
              <a:ahLst/>
              <a:cxnLst/>
              <a:rect l="l" t="t" r="r" b="b"/>
              <a:pathLst>
                <a:path w="585469" h="438785">
                  <a:moveTo>
                    <a:pt x="585000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292671" y="438480"/>
                  </a:lnTo>
                  <a:lnTo>
                    <a:pt x="585000" y="438480"/>
                  </a:lnTo>
                  <a:lnTo>
                    <a:pt x="585000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9316" y="2711159"/>
              <a:ext cx="3749763" cy="53064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65404" y="2734197"/>
              <a:ext cx="3657600" cy="438784"/>
            </a:xfrm>
            <a:custGeom>
              <a:avLst/>
              <a:gdLst/>
              <a:ahLst/>
              <a:cxnLst/>
              <a:rect l="l" t="t" r="r" b="b"/>
              <a:pathLst>
                <a:path w="3657600" h="438785">
                  <a:moveTo>
                    <a:pt x="3657231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1828800" y="438480"/>
                  </a:lnTo>
                  <a:lnTo>
                    <a:pt x="3657231" y="438480"/>
                  </a:lnTo>
                  <a:lnTo>
                    <a:pt x="36572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5437" y="2717268"/>
              <a:ext cx="664921" cy="51805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65404" y="2734197"/>
              <a:ext cx="585470" cy="438784"/>
            </a:xfrm>
            <a:custGeom>
              <a:avLst/>
              <a:gdLst/>
              <a:ahLst/>
              <a:cxnLst/>
              <a:rect l="l" t="t" r="r" b="b"/>
              <a:pathLst>
                <a:path w="585469" h="438785">
                  <a:moveTo>
                    <a:pt x="585000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292671" y="438480"/>
                  </a:lnTo>
                  <a:lnTo>
                    <a:pt x="585000" y="438480"/>
                  </a:lnTo>
                  <a:lnTo>
                    <a:pt x="585000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365404" y="2734197"/>
            <a:ext cx="3657600" cy="438784"/>
          </a:xfrm>
          <a:prstGeom prst="rect">
            <a:avLst/>
          </a:prstGeom>
          <a:ln w="12599">
            <a:solidFill>
              <a:srgbClr val="CCFAF0"/>
            </a:solidFill>
          </a:ln>
        </p:spPr>
        <p:txBody>
          <a:bodyPr wrap="square" lIns="0" tIns="80645" rIns="0" bIns="0" rtlCol="0" vert="horz">
            <a:spAutoFit/>
          </a:bodyPr>
          <a:lstStyle/>
          <a:p>
            <a:pPr marL="226695">
              <a:lnSpc>
                <a:spcPct val="100000"/>
              </a:lnSpc>
              <a:spcBef>
                <a:spcPts val="635"/>
              </a:spcBef>
            </a:pP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Financ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19316" y="3369235"/>
            <a:ext cx="3750310" cy="530860"/>
            <a:chOff x="319316" y="3369235"/>
            <a:chExt cx="3750310" cy="530860"/>
          </a:xfrm>
        </p:grpSpPr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5805" y="3375357"/>
              <a:ext cx="518401" cy="51804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65759" y="3392286"/>
              <a:ext cx="438784" cy="438784"/>
            </a:xfrm>
            <a:custGeom>
              <a:avLst/>
              <a:gdLst/>
              <a:ahLst/>
              <a:cxnLst/>
              <a:rect l="l" t="t" r="r" b="b"/>
              <a:pathLst>
                <a:path w="438784" h="438785">
                  <a:moveTo>
                    <a:pt x="438480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219240" y="438480"/>
                  </a:lnTo>
                  <a:lnTo>
                    <a:pt x="438480" y="438480"/>
                  </a:lnTo>
                  <a:lnTo>
                    <a:pt x="438480" y="0"/>
                  </a:lnTo>
                  <a:close/>
                </a:path>
              </a:pathLst>
            </a:custGeom>
            <a:solidFill>
              <a:srgbClr val="5DE9D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9316" y="3369235"/>
              <a:ext cx="3749763" cy="53064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65404" y="3392286"/>
              <a:ext cx="3657600" cy="438784"/>
            </a:xfrm>
            <a:custGeom>
              <a:avLst/>
              <a:gdLst/>
              <a:ahLst/>
              <a:cxnLst/>
              <a:rect l="l" t="t" r="r" b="b"/>
              <a:pathLst>
                <a:path w="3657600" h="438785">
                  <a:moveTo>
                    <a:pt x="3657231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1828800" y="438480"/>
                  </a:lnTo>
                  <a:lnTo>
                    <a:pt x="3657231" y="438480"/>
                  </a:lnTo>
                  <a:lnTo>
                    <a:pt x="36572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5805" y="3375357"/>
              <a:ext cx="518401" cy="518045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65759" y="3392286"/>
              <a:ext cx="438784" cy="438784"/>
            </a:xfrm>
            <a:custGeom>
              <a:avLst/>
              <a:gdLst/>
              <a:ahLst/>
              <a:cxnLst/>
              <a:rect l="l" t="t" r="r" b="b"/>
              <a:pathLst>
                <a:path w="438784" h="438785">
                  <a:moveTo>
                    <a:pt x="438480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219240" y="438480"/>
                  </a:lnTo>
                  <a:lnTo>
                    <a:pt x="438480" y="438480"/>
                  </a:lnTo>
                  <a:lnTo>
                    <a:pt x="438480" y="0"/>
                  </a:lnTo>
                  <a:close/>
                </a:path>
              </a:pathLst>
            </a:custGeom>
            <a:solidFill>
              <a:srgbClr val="5DE9D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365404" y="3392286"/>
            <a:ext cx="3657600" cy="438784"/>
          </a:xfrm>
          <a:prstGeom prst="rect">
            <a:avLst/>
          </a:prstGeom>
          <a:ln w="12599">
            <a:solidFill>
              <a:srgbClr val="CCFAF0"/>
            </a:solidFill>
          </a:ln>
        </p:spPr>
        <p:txBody>
          <a:bodyPr wrap="square" lIns="0" tIns="81280" rIns="0" bIns="0" rtlCol="0" vert="horz">
            <a:spAutoFit/>
          </a:bodyPr>
          <a:lstStyle/>
          <a:p>
            <a:pPr marL="226695">
              <a:lnSpc>
                <a:spcPct val="100000"/>
              </a:lnSpc>
              <a:spcBef>
                <a:spcPts val="640"/>
              </a:spcBef>
            </a:pPr>
            <a:r>
              <a:rPr dirty="0" sz="1100" b="1">
                <a:solidFill>
                  <a:srgbClr val="0C1A29"/>
                </a:solidFill>
                <a:latin typeface="Calibri"/>
                <a:cs typeface="Calibri"/>
              </a:rPr>
              <a:t>Marketing</a:t>
            </a:r>
            <a:r>
              <a:rPr dirty="0" sz="1100" spc="175" b="1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dirty="0" sz="1100" spc="-25" b="1">
                <a:solidFill>
                  <a:srgbClr val="0C1A29"/>
                </a:solidFill>
                <a:latin typeface="Calibri"/>
                <a:cs typeface="Calibri"/>
              </a:rPr>
              <a:t>12%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19316" y="4027680"/>
            <a:ext cx="3750310" cy="530860"/>
            <a:chOff x="319316" y="4027680"/>
            <a:chExt cx="3750310" cy="530860"/>
          </a:xfrm>
        </p:grpSpPr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5805" y="4033788"/>
              <a:ext cx="372237" cy="51805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65759" y="4050717"/>
              <a:ext cx="292735" cy="438784"/>
            </a:xfrm>
            <a:custGeom>
              <a:avLst/>
              <a:gdLst/>
              <a:ahLst/>
              <a:cxnLst/>
              <a:rect l="l" t="t" r="r" b="b"/>
              <a:pathLst>
                <a:path w="292734" h="438785">
                  <a:moveTo>
                    <a:pt x="292315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146164" y="438480"/>
                  </a:lnTo>
                  <a:lnTo>
                    <a:pt x="292315" y="438480"/>
                  </a:lnTo>
                  <a:lnTo>
                    <a:pt x="292315" y="0"/>
                  </a:lnTo>
                  <a:close/>
                </a:path>
              </a:pathLst>
            </a:custGeom>
            <a:solidFill>
              <a:srgbClr val="99F5E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9316" y="4027680"/>
              <a:ext cx="3749763" cy="53064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365404" y="4050717"/>
              <a:ext cx="3657600" cy="438784"/>
            </a:xfrm>
            <a:custGeom>
              <a:avLst/>
              <a:gdLst/>
              <a:ahLst/>
              <a:cxnLst/>
              <a:rect l="l" t="t" r="r" b="b"/>
              <a:pathLst>
                <a:path w="3657600" h="438785">
                  <a:moveTo>
                    <a:pt x="3657231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1828800" y="438480"/>
                  </a:lnTo>
                  <a:lnTo>
                    <a:pt x="3657231" y="438480"/>
                  </a:lnTo>
                  <a:lnTo>
                    <a:pt x="36572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5805" y="4033788"/>
              <a:ext cx="372237" cy="518058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65759" y="4050717"/>
              <a:ext cx="292735" cy="438784"/>
            </a:xfrm>
            <a:custGeom>
              <a:avLst/>
              <a:gdLst/>
              <a:ahLst/>
              <a:cxnLst/>
              <a:rect l="l" t="t" r="r" b="b"/>
              <a:pathLst>
                <a:path w="292734" h="438785">
                  <a:moveTo>
                    <a:pt x="292315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146164" y="438480"/>
                  </a:lnTo>
                  <a:lnTo>
                    <a:pt x="292315" y="438480"/>
                  </a:lnTo>
                  <a:lnTo>
                    <a:pt x="292315" y="0"/>
                  </a:lnTo>
                  <a:close/>
                </a:path>
              </a:pathLst>
            </a:custGeom>
            <a:solidFill>
              <a:srgbClr val="99F5E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365404" y="4050717"/>
            <a:ext cx="3657600" cy="438784"/>
          </a:xfrm>
          <a:prstGeom prst="rect">
            <a:avLst/>
          </a:prstGeom>
          <a:ln w="12599">
            <a:solidFill>
              <a:srgbClr val="CCFAF0"/>
            </a:solidFill>
          </a:ln>
        </p:spPr>
        <p:txBody>
          <a:bodyPr wrap="square" lIns="0" tIns="81280" rIns="0" bIns="0" rtlCol="0" vert="horz">
            <a:spAutoFit/>
          </a:bodyPr>
          <a:lstStyle/>
          <a:p>
            <a:pPr marL="226695">
              <a:lnSpc>
                <a:spcPct val="100000"/>
              </a:lnSpc>
              <a:spcBef>
                <a:spcPts val="640"/>
              </a:spcBef>
            </a:pPr>
            <a:r>
              <a:rPr dirty="0" sz="1100" b="1">
                <a:solidFill>
                  <a:srgbClr val="0C1A29"/>
                </a:solidFill>
                <a:latin typeface="Calibri"/>
                <a:cs typeface="Calibri"/>
              </a:rPr>
              <a:t>Healthcare</a:t>
            </a:r>
            <a:r>
              <a:rPr dirty="0" sz="1100" spc="200" b="1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dirty="0" sz="1100" spc="-25" b="1">
                <a:solidFill>
                  <a:srgbClr val="0C1A29"/>
                </a:solidFill>
                <a:latin typeface="Calibri"/>
                <a:cs typeface="Calibri"/>
              </a:rPr>
              <a:t>8%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319316" y="4686111"/>
            <a:ext cx="3750310" cy="463550"/>
            <a:chOff x="319316" y="4686111"/>
            <a:chExt cx="3750310" cy="463550"/>
          </a:xfrm>
        </p:grpSpPr>
        <p:pic>
          <p:nvPicPr>
            <p:cNvPr id="45" name="object 4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5805" y="4692233"/>
              <a:ext cx="335521" cy="451091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9316" y="4686111"/>
              <a:ext cx="3749763" cy="457212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365404" y="4709162"/>
              <a:ext cx="3657600" cy="434340"/>
            </a:xfrm>
            <a:custGeom>
              <a:avLst/>
              <a:gdLst/>
              <a:ahLst/>
              <a:cxnLst/>
              <a:rect l="l" t="t" r="r" b="b"/>
              <a:pathLst>
                <a:path w="3657600" h="434339">
                  <a:moveTo>
                    <a:pt x="3657231" y="0"/>
                  </a:moveTo>
                  <a:lnTo>
                    <a:pt x="0" y="0"/>
                  </a:lnTo>
                  <a:lnTo>
                    <a:pt x="0" y="434162"/>
                  </a:lnTo>
                  <a:lnTo>
                    <a:pt x="3657231" y="434162"/>
                  </a:lnTo>
                  <a:lnTo>
                    <a:pt x="36572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365404" y="4709162"/>
              <a:ext cx="3657600" cy="434340"/>
            </a:xfrm>
            <a:custGeom>
              <a:avLst/>
              <a:gdLst/>
              <a:ahLst/>
              <a:cxnLst/>
              <a:rect l="l" t="t" r="r" b="b"/>
              <a:pathLst>
                <a:path w="3657600" h="434339">
                  <a:moveTo>
                    <a:pt x="0" y="434162"/>
                  </a:moveTo>
                  <a:lnTo>
                    <a:pt x="0" y="0"/>
                  </a:lnTo>
                  <a:lnTo>
                    <a:pt x="3657231" y="0"/>
                  </a:lnTo>
                  <a:lnTo>
                    <a:pt x="3657231" y="434162"/>
                  </a:lnTo>
                </a:path>
              </a:pathLst>
            </a:custGeom>
            <a:ln w="12599">
              <a:solidFill>
                <a:srgbClr val="CCFA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5805" y="4692233"/>
              <a:ext cx="335521" cy="451091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365759" y="4709162"/>
              <a:ext cx="255904" cy="434340"/>
            </a:xfrm>
            <a:custGeom>
              <a:avLst/>
              <a:gdLst/>
              <a:ahLst/>
              <a:cxnLst/>
              <a:rect l="l" t="t" r="r" b="b"/>
              <a:pathLst>
                <a:path w="255904" h="434339">
                  <a:moveTo>
                    <a:pt x="255600" y="0"/>
                  </a:moveTo>
                  <a:lnTo>
                    <a:pt x="0" y="0"/>
                  </a:lnTo>
                  <a:lnTo>
                    <a:pt x="0" y="434162"/>
                  </a:lnTo>
                  <a:lnTo>
                    <a:pt x="255600" y="434162"/>
                  </a:lnTo>
                  <a:lnTo>
                    <a:pt x="255600" y="0"/>
                  </a:lnTo>
                  <a:close/>
                </a:path>
              </a:pathLst>
            </a:custGeom>
            <a:solidFill>
              <a:srgbClr val="CCFA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579856" y="4777830"/>
            <a:ext cx="65405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0C1A29"/>
                </a:solidFill>
                <a:latin typeface="Calibri"/>
                <a:cs typeface="Calibri"/>
              </a:rPr>
              <a:t>Others</a:t>
            </a:r>
            <a:r>
              <a:rPr dirty="0" sz="1100" spc="200" b="1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dirty="0" sz="1100" spc="-25" b="1">
                <a:solidFill>
                  <a:srgbClr val="0C1A29"/>
                </a:solidFill>
                <a:latin typeface="Calibri"/>
                <a:cs typeface="Calibri"/>
              </a:rPr>
              <a:t>7%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923256" y="992418"/>
            <a:ext cx="14135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C1A29"/>
                </a:solidFill>
                <a:latin typeface="Calibri"/>
                <a:cs typeface="Calibri"/>
              </a:rPr>
              <a:t>Industry</a:t>
            </a:r>
            <a:r>
              <a:rPr dirty="0" sz="1400" spc="-55" b="1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C1A29"/>
                </a:solidFill>
                <a:latin typeface="Calibri"/>
                <a:cs typeface="Calibri"/>
              </a:rPr>
              <a:t>Highlights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4799876" y="1421639"/>
            <a:ext cx="4116070" cy="622300"/>
            <a:chOff x="4799876" y="1421639"/>
            <a:chExt cx="4116070" cy="622300"/>
          </a:xfrm>
        </p:grpSpPr>
        <p:pic>
          <p:nvPicPr>
            <p:cNvPr id="54" name="object 5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99876" y="1421639"/>
              <a:ext cx="4115523" cy="622084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4845964" y="1444677"/>
              <a:ext cx="4023360" cy="530225"/>
            </a:xfrm>
            <a:custGeom>
              <a:avLst/>
              <a:gdLst/>
              <a:ahLst/>
              <a:cxnLst/>
              <a:rect l="l" t="t" r="r" b="b"/>
              <a:pathLst>
                <a:path w="4023359" h="530225">
                  <a:moveTo>
                    <a:pt x="4022991" y="0"/>
                  </a:moveTo>
                  <a:lnTo>
                    <a:pt x="0" y="0"/>
                  </a:lnTo>
                  <a:lnTo>
                    <a:pt x="0" y="529920"/>
                  </a:lnTo>
                  <a:lnTo>
                    <a:pt x="2011679" y="529920"/>
                  </a:lnTo>
                  <a:lnTo>
                    <a:pt x="4022991" y="529920"/>
                  </a:lnTo>
                  <a:lnTo>
                    <a:pt x="4022991" y="0"/>
                  </a:lnTo>
                  <a:close/>
                </a:path>
              </a:pathLst>
            </a:custGeom>
            <a:solidFill>
              <a:srgbClr val="EFFC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05997" y="1427748"/>
              <a:ext cx="143637" cy="609498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4845964" y="1444677"/>
              <a:ext cx="64135" cy="530225"/>
            </a:xfrm>
            <a:custGeom>
              <a:avLst/>
              <a:gdLst/>
              <a:ahLst/>
              <a:cxnLst/>
              <a:rect l="l" t="t" r="r" b="b"/>
              <a:pathLst>
                <a:path w="64135" h="530225">
                  <a:moveTo>
                    <a:pt x="63715" y="0"/>
                  </a:moveTo>
                  <a:lnTo>
                    <a:pt x="0" y="0"/>
                  </a:lnTo>
                  <a:lnTo>
                    <a:pt x="0" y="529920"/>
                  </a:lnTo>
                  <a:lnTo>
                    <a:pt x="32029" y="529920"/>
                  </a:lnTo>
                  <a:lnTo>
                    <a:pt x="63715" y="529920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4845964" y="1444677"/>
            <a:ext cx="4023360" cy="530225"/>
          </a:xfrm>
          <a:prstGeom prst="rect">
            <a:avLst/>
          </a:prstGeom>
          <a:ln w="12599">
            <a:solidFill>
              <a:srgbClr val="CCFAF0"/>
            </a:solidFill>
          </a:ln>
        </p:spPr>
        <p:txBody>
          <a:bodyPr wrap="square" lIns="0" tIns="81280" rIns="0" bIns="0" rtlCol="0" vert="horz">
            <a:spAutoFit/>
          </a:bodyPr>
          <a:lstStyle/>
          <a:p>
            <a:pPr marL="272415">
              <a:lnSpc>
                <a:spcPct val="100000"/>
              </a:lnSpc>
              <a:spcBef>
                <a:spcPts val="640"/>
              </a:spcBef>
            </a:pP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IT</a:t>
            </a:r>
            <a:r>
              <a:rPr dirty="0" sz="1100" spc="-1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&amp;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 Software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 leads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with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32%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of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all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 postings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4799876" y="2080071"/>
            <a:ext cx="4116070" cy="622300"/>
            <a:chOff x="4799876" y="2080071"/>
            <a:chExt cx="4116070" cy="622300"/>
          </a:xfrm>
        </p:grpSpPr>
        <p:pic>
          <p:nvPicPr>
            <p:cNvPr id="60" name="object 6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99876" y="2080071"/>
              <a:ext cx="4115523" cy="622096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4845964" y="2103122"/>
              <a:ext cx="4023360" cy="530225"/>
            </a:xfrm>
            <a:custGeom>
              <a:avLst/>
              <a:gdLst/>
              <a:ahLst/>
              <a:cxnLst/>
              <a:rect l="l" t="t" r="r" b="b"/>
              <a:pathLst>
                <a:path w="4023359" h="530225">
                  <a:moveTo>
                    <a:pt x="4022991" y="0"/>
                  </a:moveTo>
                  <a:lnTo>
                    <a:pt x="0" y="0"/>
                  </a:lnTo>
                  <a:lnTo>
                    <a:pt x="0" y="529920"/>
                  </a:lnTo>
                  <a:lnTo>
                    <a:pt x="2011679" y="529920"/>
                  </a:lnTo>
                  <a:lnTo>
                    <a:pt x="4022991" y="529920"/>
                  </a:lnTo>
                  <a:lnTo>
                    <a:pt x="40229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05997" y="2086193"/>
              <a:ext cx="143637" cy="609485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4845964" y="2103122"/>
              <a:ext cx="64135" cy="530225"/>
            </a:xfrm>
            <a:custGeom>
              <a:avLst/>
              <a:gdLst/>
              <a:ahLst/>
              <a:cxnLst/>
              <a:rect l="l" t="t" r="r" b="b"/>
              <a:pathLst>
                <a:path w="64135" h="530225">
                  <a:moveTo>
                    <a:pt x="63715" y="0"/>
                  </a:moveTo>
                  <a:lnTo>
                    <a:pt x="0" y="0"/>
                  </a:lnTo>
                  <a:lnTo>
                    <a:pt x="0" y="529920"/>
                  </a:lnTo>
                  <a:lnTo>
                    <a:pt x="32029" y="529920"/>
                  </a:lnTo>
                  <a:lnTo>
                    <a:pt x="63715" y="529920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/>
          <p:cNvSpPr txBox="1"/>
          <p:nvPr/>
        </p:nvSpPr>
        <p:spPr>
          <a:xfrm>
            <a:off x="4845964" y="2103122"/>
            <a:ext cx="4023360" cy="530225"/>
          </a:xfrm>
          <a:prstGeom prst="rect">
            <a:avLst/>
          </a:prstGeom>
          <a:ln w="12599">
            <a:solidFill>
              <a:srgbClr val="CCFAF0"/>
            </a:solidFill>
          </a:ln>
        </p:spPr>
        <p:txBody>
          <a:bodyPr wrap="square" lIns="0" tIns="81280" rIns="0" bIns="0" rtlCol="0" vert="horz">
            <a:spAutoFit/>
          </a:bodyPr>
          <a:lstStyle/>
          <a:p>
            <a:pPr marL="272415">
              <a:lnSpc>
                <a:spcPct val="100000"/>
              </a:lnSpc>
              <a:spcBef>
                <a:spcPts val="640"/>
              </a:spcBef>
            </a:pP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Data</a:t>
            </a:r>
            <a:r>
              <a:rPr dirty="0" sz="1100" spc="-2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Science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has</a:t>
            </a:r>
            <a:r>
              <a:rPr dirty="0" sz="1100" spc="-1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grown</a:t>
            </a:r>
            <a:r>
              <a:rPr dirty="0" sz="1100" spc="-2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3x</a:t>
            </a:r>
            <a:r>
              <a:rPr dirty="0" sz="1100" spc="-2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in</a:t>
            </a:r>
            <a:r>
              <a:rPr dirty="0" sz="1100" spc="-2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demand</a:t>
            </a:r>
            <a:r>
              <a:rPr dirty="0" sz="1100" spc="-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since</a:t>
            </a:r>
            <a:r>
              <a:rPr dirty="0" sz="1100" spc="-2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1D283A"/>
                </a:solidFill>
                <a:latin typeface="Calibri"/>
                <a:cs typeface="Calibri"/>
              </a:rPr>
              <a:t>2021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4799876" y="2738515"/>
            <a:ext cx="4116070" cy="622300"/>
            <a:chOff x="4799876" y="2738515"/>
            <a:chExt cx="4116070" cy="622300"/>
          </a:xfrm>
        </p:grpSpPr>
        <p:pic>
          <p:nvPicPr>
            <p:cNvPr id="66" name="object 6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99876" y="2738515"/>
              <a:ext cx="4115523" cy="622084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4845964" y="2761566"/>
              <a:ext cx="4023360" cy="530225"/>
            </a:xfrm>
            <a:custGeom>
              <a:avLst/>
              <a:gdLst/>
              <a:ahLst/>
              <a:cxnLst/>
              <a:rect l="l" t="t" r="r" b="b"/>
              <a:pathLst>
                <a:path w="4023359" h="530225">
                  <a:moveTo>
                    <a:pt x="4022991" y="0"/>
                  </a:moveTo>
                  <a:lnTo>
                    <a:pt x="0" y="0"/>
                  </a:lnTo>
                  <a:lnTo>
                    <a:pt x="0" y="529920"/>
                  </a:lnTo>
                  <a:lnTo>
                    <a:pt x="2011679" y="529920"/>
                  </a:lnTo>
                  <a:lnTo>
                    <a:pt x="4022991" y="529920"/>
                  </a:lnTo>
                  <a:lnTo>
                    <a:pt x="4022991" y="0"/>
                  </a:lnTo>
                  <a:close/>
                </a:path>
              </a:pathLst>
            </a:custGeom>
            <a:solidFill>
              <a:srgbClr val="EFFC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05997" y="2744637"/>
              <a:ext cx="143637" cy="609485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4845964" y="2761566"/>
              <a:ext cx="64135" cy="530225"/>
            </a:xfrm>
            <a:custGeom>
              <a:avLst/>
              <a:gdLst/>
              <a:ahLst/>
              <a:cxnLst/>
              <a:rect l="l" t="t" r="r" b="b"/>
              <a:pathLst>
                <a:path w="64135" h="530225">
                  <a:moveTo>
                    <a:pt x="63715" y="0"/>
                  </a:moveTo>
                  <a:lnTo>
                    <a:pt x="0" y="0"/>
                  </a:lnTo>
                  <a:lnTo>
                    <a:pt x="0" y="529920"/>
                  </a:lnTo>
                  <a:lnTo>
                    <a:pt x="32029" y="529920"/>
                  </a:lnTo>
                  <a:lnTo>
                    <a:pt x="63715" y="529920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/>
          <p:cNvSpPr txBox="1"/>
          <p:nvPr/>
        </p:nvSpPr>
        <p:spPr>
          <a:xfrm>
            <a:off x="4845964" y="2761566"/>
            <a:ext cx="4023360" cy="530225"/>
          </a:xfrm>
          <a:prstGeom prst="rect">
            <a:avLst/>
          </a:prstGeom>
          <a:ln w="12599">
            <a:solidFill>
              <a:srgbClr val="CCFAF0"/>
            </a:solidFill>
          </a:ln>
        </p:spPr>
        <p:txBody>
          <a:bodyPr wrap="square" lIns="0" tIns="80645" rIns="0" bIns="0" rtlCol="0" vert="horz">
            <a:spAutoFit/>
          </a:bodyPr>
          <a:lstStyle/>
          <a:p>
            <a:pPr marL="272415">
              <a:lnSpc>
                <a:spcPct val="100000"/>
              </a:lnSpc>
              <a:spcBef>
                <a:spcPts val="635"/>
              </a:spcBef>
            </a:pP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Finance</a:t>
            </a:r>
            <a:r>
              <a:rPr dirty="0" sz="1100" spc="-3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consistently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 requires</a:t>
            </a:r>
            <a:r>
              <a:rPr dirty="0" sz="1100" spc="-2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SQL</a:t>
            </a:r>
            <a:r>
              <a:rPr dirty="0" sz="1100" spc="-2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&amp;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Excel</a:t>
            </a:r>
            <a:r>
              <a:rPr dirty="0" sz="1100" spc="-2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skills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4799876" y="3396960"/>
            <a:ext cx="4116070" cy="622300"/>
            <a:chOff x="4799876" y="3396960"/>
            <a:chExt cx="4116070" cy="622300"/>
          </a:xfrm>
        </p:grpSpPr>
        <p:pic>
          <p:nvPicPr>
            <p:cNvPr id="72" name="object 7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99876" y="3396960"/>
              <a:ext cx="4115523" cy="622084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4845964" y="3419997"/>
              <a:ext cx="4023360" cy="530225"/>
            </a:xfrm>
            <a:custGeom>
              <a:avLst/>
              <a:gdLst/>
              <a:ahLst/>
              <a:cxnLst/>
              <a:rect l="l" t="t" r="r" b="b"/>
              <a:pathLst>
                <a:path w="4023359" h="530225">
                  <a:moveTo>
                    <a:pt x="4022991" y="0"/>
                  </a:moveTo>
                  <a:lnTo>
                    <a:pt x="0" y="0"/>
                  </a:lnTo>
                  <a:lnTo>
                    <a:pt x="0" y="529920"/>
                  </a:lnTo>
                  <a:lnTo>
                    <a:pt x="2011679" y="529920"/>
                  </a:lnTo>
                  <a:lnTo>
                    <a:pt x="4022991" y="529920"/>
                  </a:lnTo>
                  <a:lnTo>
                    <a:pt x="40229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05997" y="3403068"/>
              <a:ext cx="143637" cy="609498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4845964" y="3419997"/>
              <a:ext cx="64135" cy="530225"/>
            </a:xfrm>
            <a:custGeom>
              <a:avLst/>
              <a:gdLst/>
              <a:ahLst/>
              <a:cxnLst/>
              <a:rect l="l" t="t" r="r" b="b"/>
              <a:pathLst>
                <a:path w="64135" h="530225">
                  <a:moveTo>
                    <a:pt x="63715" y="0"/>
                  </a:moveTo>
                  <a:lnTo>
                    <a:pt x="0" y="0"/>
                  </a:lnTo>
                  <a:lnTo>
                    <a:pt x="0" y="529920"/>
                  </a:lnTo>
                  <a:lnTo>
                    <a:pt x="32029" y="529920"/>
                  </a:lnTo>
                  <a:lnTo>
                    <a:pt x="63715" y="529920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/>
          <p:cNvSpPr txBox="1"/>
          <p:nvPr/>
        </p:nvSpPr>
        <p:spPr>
          <a:xfrm>
            <a:off x="4845964" y="3419997"/>
            <a:ext cx="4023360" cy="530225"/>
          </a:xfrm>
          <a:prstGeom prst="rect">
            <a:avLst/>
          </a:prstGeom>
          <a:ln w="12599">
            <a:solidFill>
              <a:srgbClr val="CCFAF0"/>
            </a:solidFill>
          </a:ln>
        </p:spPr>
        <p:txBody>
          <a:bodyPr wrap="square" lIns="0" tIns="80645" rIns="0" bIns="0" rtlCol="0" vert="horz">
            <a:spAutoFit/>
          </a:bodyPr>
          <a:lstStyle/>
          <a:p>
            <a:pPr marL="272415">
              <a:lnSpc>
                <a:spcPct val="100000"/>
              </a:lnSpc>
              <a:spcBef>
                <a:spcPts val="635"/>
              </a:spcBef>
            </a:pP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Healthcare</a:t>
            </a:r>
            <a:r>
              <a:rPr dirty="0" sz="1100" spc="-1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shows</a:t>
            </a:r>
            <a:r>
              <a:rPr dirty="0" sz="1100" spc="-1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growing</a:t>
            </a:r>
            <a:r>
              <a:rPr dirty="0" sz="1100" spc="-2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demand</a:t>
            </a:r>
            <a:r>
              <a:rPr dirty="0" sz="1100" spc="-1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for</a:t>
            </a:r>
            <a:r>
              <a:rPr dirty="0" sz="1100" spc="-2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data</a:t>
            </a:r>
            <a:r>
              <a:rPr dirty="0" sz="1100" spc="-1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1D283A"/>
                </a:solidFill>
                <a:latin typeface="Calibri"/>
                <a:cs typeface="Calibri"/>
              </a:rPr>
              <a:t>roles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4799876" y="4055035"/>
            <a:ext cx="4116070" cy="622300"/>
            <a:chOff x="4799876" y="4055035"/>
            <a:chExt cx="4116070" cy="622300"/>
          </a:xfrm>
        </p:grpSpPr>
        <p:pic>
          <p:nvPicPr>
            <p:cNvPr id="78" name="object 7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99876" y="4055035"/>
              <a:ext cx="4115523" cy="622084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4845964" y="4078086"/>
              <a:ext cx="4023360" cy="530225"/>
            </a:xfrm>
            <a:custGeom>
              <a:avLst/>
              <a:gdLst/>
              <a:ahLst/>
              <a:cxnLst/>
              <a:rect l="l" t="t" r="r" b="b"/>
              <a:pathLst>
                <a:path w="4023359" h="530225">
                  <a:moveTo>
                    <a:pt x="4022991" y="0"/>
                  </a:moveTo>
                  <a:lnTo>
                    <a:pt x="0" y="0"/>
                  </a:lnTo>
                  <a:lnTo>
                    <a:pt x="0" y="529920"/>
                  </a:lnTo>
                  <a:lnTo>
                    <a:pt x="2011679" y="529920"/>
                  </a:lnTo>
                  <a:lnTo>
                    <a:pt x="4022991" y="529920"/>
                  </a:lnTo>
                  <a:lnTo>
                    <a:pt x="4022991" y="0"/>
                  </a:lnTo>
                  <a:close/>
                </a:path>
              </a:pathLst>
            </a:custGeom>
            <a:solidFill>
              <a:srgbClr val="EFFC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0" name="object 8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05997" y="4061157"/>
              <a:ext cx="143637" cy="609485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4845964" y="4078086"/>
              <a:ext cx="64135" cy="530225"/>
            </a:xfrm>
            <a:custGeom>
              <a:avLst/>
              <a:gdLst/>
              <a:ahLst/>
              <a:cxnLst/>
              <a:rect l="l" t="t" r="r" b="b"/>
              <a:pathLst>
                <a:path w="64135" h="530225">
                  <a:moveTo>
                    <a:pt x="63715" y="0"/>
                  </a:moveTo>
                  <a:lnTo>
                    <a:pt x="0" y="0"/>
                  </a:lnTo>
                  <a:lnTo>
                    <a:pt x="0" y="529920"/>
                  </a:lnTo>
                  <a:lnTo>
                    <a:pt x="32029" y="529920"/>
                  </a:lnTo>
                  <a:lnTo>
                    <a:pt x="63715" y="529920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2" name="object 82"/>
          <p:cNvSpPr txBox="1"/>
          <p:nvPr/>
        </p:nvSpPr>
        <p:spPr>
          <a:xfrm>
            <a:off x="4845964" y="4078086"/>
            <a:ext cx="4023360" cy="530225"/>
          </a:xfrm>
          <a:prstGeom prst="rect">
            <a:avLst/>
          </a:prstGeom>
          <a:ln w="12599">
            <a:solidFill>
              <a:srgbClr val="CCFAF0"/>
            </a:solidFill>
          </a:ln>
        </p:spPr>
        <p:txBody>
          <a:bodyPr wrap="square" lIns="0" tIns="81280" rIns="0" bIns="0" rtlCol="0" vert="horz">
            <a:spAutoFit/>
          </a:bodyPr>
          <a:lstStyle/>
          <a:p>
            <a:pPr marL="272415">
              <a:lnSpc>
                <a:spcPct val="100000"/>
              </a:lnSpc>
              <a:spcBef>
                <a:spcPts val="640"/>
              </a:spcBef>
            </a:pP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Metro</a:t>
            </a:r>
            <a:r>
              <a:rPr dirty="0" sz="1100" spc="-2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cities</a:t>
            </a:r>
            <a:r>
              <a:rPr dirty="0" sz="1100" spc="-1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dominate</a:t>
            </a:r>
            <a:r>
              <a:rPr dirty="0" sz="1100" spc="-2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tech</a:t>
            </a:r>
            <a:r>
              <a:rPr dirty="0" sz="1100" spc="-1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hiring</a:t>
            </a:r>
            <a:r>
              <a:rPr dirty="0" sz="1100" spc="-1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in</a:t>
            </a:r>
            <a:r>
              <a:rPr dirty="0" sz="1100" spc="-2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all</a:t>
            </a:r>
            <a:r>
              <a:rPr dirty="0" sz="1100" spc="-3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sectors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dirty="0" spc="-50"/>
              <a:t> </a:t>
            </a:r>
            <a:r>
              <a:rPr dirty="0"/>
              <a:t>Insight</a:t>
            </a:r>
            <a:r>
              <a:rPr dirty="0" spc="-50"/>
              <a:t> </a:t>
            </a:r>
            <a:r>
              <a:rPr dirty="0"/>
              <a:t>3:</a:t>
            </a:r>
            <a:r>
              <a:rPr dirty="0" spc="-50"/>
              <a:t> </a:t>
            </a:r>
            <a:r>
              <a:rPr dirty="0" spc="-30"/>
              <a:t>Location-</a:t>
            </a:r>
            <a:r>
              <a:rPr dirty="0"/>
              <a:t>Based</a:t>
            </a:r>
            <a:r>
              <a:rPr dirty="0" spc="-50"/>
              <a:t> </a:t>
            </a:r>
            <a:r>
              <a:rPr dirty="0" spc="-10"/>
              <a:t>Trends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1256" y="992062"/>
            <a:ext cx="59499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Bangalore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71357" y="997917"/>
            <a:ext cx="4834890" cy="335280"/>
            <a:chOff x="1971357" y="997917"/>
            <a:chExt cx="4834890" cy="3352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71357" y="997917"/>
              <a:ext cx="4834445" cy="33516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011324" y="1014846"/>
              <a:ext cx="4754880" cy="255904"/>
            </a:xfrm>
            <a:custGeom>
              <a:avLst/>
              <a:gdLst/>
              <a:ahLst/>
              <a:cxnLst/>
              <a:rect l="l" t="t" r="r" b="b"/>
              <a:pathLst>
                <a:path w="4754880" h="255905">
                  <a:moveTo>
                    <a:pt x="4754511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2377440" y="255600"/>
                  </a:lnTo>
                  <a:lnTo>
                    <a:pt x="4754511" y="255600"/>
                  </a:lnTo>
                  <a:lnTo>
                    <a:pt x="4754511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6916584" y="992062"/>
            <a:ext cx="22352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0C1A29"/>
                </a:solidFill>
                <a:latin typeface="Calibri"/>
                <a:cs typeface="Calibri"/>
              </a:rPr>
              <a:t>42K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1256" y="1485990"/>
            <a:ext cx="502284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Mumbai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971725" y="1491832"/>
            <a:ext cx="3589654" cy="335280"/>
            <a:chOff x="1971725" y="1491832"/>
            <a:chExt cx="3589654" cy="33528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71725" y="1491832"/>
              <a:ext cx="3589197" cy="33516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011679" y="1508762"/>
              <a:ext cx="3509645" cy="255904"/>
            </a:xfrm>
            <a:custGeom>
              <a:avLst/>
              <a:gdLst/>
              <a:ahLst/>
              <a:cxnLst/>
              <a:rect l="l" t="t" r="r" b="b"/>
              <a:pathLst>
                <a:path w="3509645" h="255905">
                  <a:moveTo>
                    <a:pt x="3509276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1754644" y="255600"/>
                  </a:lnTo>
                  <a:lnTo>
                    <a:pt x="3509276" y="255600"/>
                  </a:lnTo>
                  <a:lnTo>
                    <a:pt x="3509276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5671337" y="1485990"/>
            <a:ext cx="22352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0C1A29"/>
                </a:solidFill>
                <a:latin typeface="Calibri"/>
                <a:cs typeface="Calibri"/>
              </a:rPr>
              <a:t>31K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1256" y="1979551"/>
            <a:ext cx="59118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Delhi</a:t>
            </a:r>
            <a:r>
              <a:rPr dirty="0" sz="1100" spc="-25">
                <a:solidFill>
                  <a:srgbClr val="1D283A"/>
                </a:solidFill>
                <a:latin typeface="Calibri"/>
                <a:cs typeface="Calibri"/>
              </a:rPr>
              <a:t> NCR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971725" y="1985748"/>
            <a:ext cx="3249930" cy="335280"/>
            <a:chOff x="1971725" y="1985748"/>
            <a:chExt cx="3249930" cy="33528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71725" y="1985748"/>
              <a:ext cx="3249358" cy="33517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011679" y="2002677"/>
              <a:ext cx="3169920" cy="255904"/>
            </a:xfrm>
            <a:custGeom>
              <a:avLst/>
              <a:gdLst/>
              <a:ahLst/>
              <a:cxnLst/>
              <a:rect l="l" t="t" r="r" b="b"/>
              <a:pathLst>
                <a:path w="3169920" h="255905">
                  <a:moveTo>
                    <a:pt x="3169437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1584718" y="255600"/>
                  </a:lnTo>
                  <a:lnTo>
                    <a:pt x="3169437" y="255600"/>
                  </a:lnTo>
                  <a:lnTo>
                    <a:pt x="3169437" y="0"/>
                  </a:lnTo>
                  <a:close/>
                </a:path>
              </a:pathLst>
            </a:custGeom>
            <a:solidFill>
              <a:srgbClr val="13B7A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5331853" y="1979551"/>
            <a:ext cx="22352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0C1A29"/>
                </a:solidFill>
                <a:latin typeface="Calibri"/>
                <a:cs typeface="Calibri"/>
              </a:rPr>
              <a:t>28K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1256" y="2473466"/>
            <a:ext cx="64452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Hyderabad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971357" y="2479308"/>
            <a:ext cx="2570480" cy="335280"/>
            <a:chOff x="1971357" y="2479308"/>
            <a:chExt cx="2570480" cy="335280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71357" y="2479308"/>
              <a:ext cx="2570035" cy="33517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011324" y="2496237"/>
              <a:ext cx="2490470" cy="255904"/>
            </a:xfrm>
            <a:custGeom>
              <a:avLst/>
              <a:gdLst/>
              <a:ahLst/>
              <a:cxnLst/>
              <a:rect l="l" t="t" r="r" b="b"/>
              <a:pathLst>
                <a:path w="2490470" h="255905">
                  <a:moveTo>
                    <a:pt x="2490114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1245235" y="255600"/>
                  </a:lnTo>
                  <a:lnTo>
                    <a:pt x="2490114" y="255600"/>
                  </a:lnTo>
                  <a:lnTo>
                    <a:pt x="2490114" y="0"/>
                  </a:lnTo>
                  <a:close/>
                </a:path>
              </a:pathLst>
            </a:custGeom>
            <a:solidFill>
              <a:srgbClr val="13B7A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4652543" y="2473466"/>
            <a:ext cx="22352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0C1A29"/>
                </a:solidFill>
                <a:latin typeface="Calibri"/>
                <a:cs typeface="Calibri"/>
              </a:rPr>
              <a:t>22K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1256" y="2967026"/>
            <a:ext cx="31432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0">
                <a:solidFill>
                  <a:srgbClr val="1D283A"/>
                </a:solidFill>
                <a:latin typeface="Calibri"/>
                <a:cs typeface="Calibri"/>
              </a:rPr>
              <a:t>Pune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971725" y="2973237"/>
            <a:ext cx="2117725" cy="335280"/>
            <a:chOff x="1971725" y="2973237"/>
            <a:chExt cx="2117725" cy="335280"/>
          </a:xfrm>
        </p:grpSpPr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71725" y="2973237"/>
              <a:ext cx="2117521" cy="33516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011679" y="2990166"/>
              <a:ext cx="2037714" cy="255904"/>
            </a:xfrm>
            <a:custGeom>
              <a:avLst/>
              <a:gdLst/>
              <a:ahLst/>
              <a:cxnLst/>
              <a:rect l="l" t="t" r="r" b="b"/>
              <a:pathLst>
                <a:path w="2037714" h="255905">
                  <a:moveTo>
                    <a:pt x="2037600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1018794" y="255600"/>
                  </a:lnTo>
                  <a:lnTo>
                    <a:pt x="2037600" y="255600"/>
                  </a:lnTo>
                  <a:lnTo>
                    <a:pt x="2037600" y="0"/>
                  </a:lnTo>
                  <a:close/>
                </a:path>
              </a:pathLst>
            </a:custGeom>
            <a:solidFill>
              <a:srgbClr val="5DE9D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4199661" y="2967026"/>
            <a:ext cx="22352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0C1A29"/>
                </a:solidFill>
                <a:latin typeface="Calibri"/>
                <a:cs typeface="Calibri"/>
              </a:rPr>
              <a:t>18K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51256" y="3460942"/>
            <a:ext cx="48831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Chennai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971725" y="3466797"/>
            <a:ext cx="1664970" cy="335280"/>
            <a:chOff x="1971725" y="3466797"/>
            <a:chExt cx="1664970" cy="335280"/>
          </a:xfrm>
        </p:grpSpPr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71725" y="3466797"/>
              <a:ext cx="1664639" cy="33516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011679" y="3483726"/>
              <a:ext cx="1584960" cy="255904"/>
            </a:xfrm>
            <a:custGeom>
              <a:avLst/>
              <a:gdLst/>
              <a:ahLst/>
              <a:cxnLst/>
              <a:rect l="l" t="t" r="r" b="b"/>
              <a:pathLst>
                <a:path w="1584960" h="255904">
                  <a:moveTo>
                    <a:pt x="1584718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792365" y="255600"/>
                  </a:lnTo>
                  <a:lnTo>
                    <a:pt x="1584718" y="255600"/>
                  </a:lnTo>
                  <a:lnTo>
                    <a:pt x="1584718" y="0"/>
                  </a:lnTo>
                  <a:close/>
                </a:path>
              </a:pathLst>
            </a:custGeom>
            <a:solidFill>
              <a:srgbClr val="5DE9D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3746779" y="3460942"/>
            <a:ext cx="22352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0C1A29"/>
                </a:solidFill>
                <a:latin typeface="Calibri"/>
                <a:cs typeface="Calibri"/>
              </a:rPr>
              <a:t>14K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51256" y="3954871"/>
            <a:ext cx="44005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Kolkata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971357" y="3960712"/>
            <a:ext cx="1098550" cy="335280"/>
            <a:chOff x="1971357" y="3960712"/>
            <a:chExt cx="1098550" cy="335280"/>
          </a:xfrm>
        </p:grpSpPr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71357" y="3960712"/>
              <a:ext cx="1098359" cy="33516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011324" y="3977642"/>
              <a:ext cx="1018540" cy="255904"/>
            </a:xfrm>
            <a:custGeom>
              <a:avLst/>
              <a:gdLst/>
              <a:ahLst/>
              <a:cxnLst/>
              <a:rect l="l" t="t" r="r" b="b"/>
              <a:pathLst>
                <a:path w="1018539" h="255904">
                  <a:moveTo>
                    <a:pt x="1018438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509396" y="255600"/>
                  </a:lnTo>
                  <a:lnTo>
                    <a:pt x="1018438" y="255600"/>
                  </a:lnTo>
                  <a:lnTo>
                    <a:pt x="1018438" y="0"/>
                  </a:lnTo>
                  <a:close/>
                </a:path>
              </a:pathLst>
            </a:custGeom>
            <a:solidFill>
              <a:srgbClr val="CCFA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3180499" y="3954871"/>
            <a:ext cx="15938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0C1A29"/>
                </a:solidFill>
                <a:latin typeface="Calibri"/>
                <a:cs typeface="Calibri"/>
              </a:rPr>
              <a:t>9K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51256" y="4448431"/>
            <a:ext cx="71564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Ahmedabad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971725" y="4454628"/>
            <a:ext cx="872490" cy="335280"/>
            <a:chOff x="1971725" y="4454628"/>
            <a:chExt cx="872490" cy="335280"/>
          </a:xfrm>
        </p:grpSpPr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71725" y="4454628"/>
              <a:ext cx="871918" cy="335178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011679" y="4471557"/>
              <a:ext cx="792480" cy="255904"/>
            </a:xfrm>
            <a:custGeom>
              <a:avLst/>
              <a:gdLst/>
              <a:ahLst/>
              <a:cxnLst/>
              <a:rect l="l" t="t" r="r" b="b"/>
              <a:pathLst>
                <a:path w="792480" h="255904">
                  <a:moveTo>
                    <a:pt x="791997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395998" y="255600"/>
                  </a:lnTo>
                  <a:lnTo>
                    <a:pt x="791997" y="255600"/>
                  </a:lnTo>
                  <a:lnTo>
                    <a:pt x="791997" y="0"/>
                  </a:lnTo>
                  <a:close/>
                </a:path>
              </a:pathLst>
            </a:custGeom>
            <a:solidFill>
              <a:srgbClr val="CCFA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2954413" y="4448431"/>
            <a:ext cx="15938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0C1A29"/>
                </a:solidFill>
                <a:latin typeface="Calibri"/>
                <a:cs typeface="Calibri"/>
              </a:rPr>
              <a:t>7K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300696" y="992418"/>
            <a:ext cx="109918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40" b="1">
                <a:solidFill>
                  <a:srgbClr val="0C1A29"/>
                </a:solidFill>
                <a:latin typeface="Calibri"/>
                <a:cs typeface="Calibri"/>
              </a:rPr>
              <a:t>Top</a:t>
            </a:r>
            <a:r>
              <a:rPr dirty="0" sz="1300" spc="-35" b="1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C1A29"/>
                </a:solidFill>
                <a:latin typeface="Calibri"/>
                <a:cs typeface="Calibri"/>
              </a:rPr>
              <a:t>Hiring</a:t>
            </a:r>
            <a:r>
              <a:rPr dirty="0" sz="1300" spc="-45" b="1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dirty="0" sz="1300" spc="-20" b="1">
                <a:solidFill>
                  <a:srgbClr val="0C1A29"/>
                </a:solidFill>
                <a:latin typeface="Calibri"/>
                <a:cs typeface="Calibri"/>
              </a:rPr>
              <a:t>Hubs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7177316" y="1393916"/>
            <a:ext cx="1830070" cy="915035"/>
            <a:chOff x="7177316" y="1393916"/>
            <a:chExt cx="1830070" cy="915035"/>
          </a:xfrm>
        </p:grpSpPr>
        <p:pic>
          <p:nvPicPr>
            <p:cNvPr id="45" name="object 4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77316" y="1393916"/>
              <a:ext cx="1829523" cy="914768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7223404" y="1416966"/>
              <a:ext cx="1737360" cy="822960"/>
            </a:xfrm>
            <a:custGeom>
              <a:avLst/>
              <a:gdLst/>
              <a:ahLst/>
              <a:cxnLst/>
              <a:rect l="l" t="t" r="r" b="b"/>
              <a:pathLst>
                <a:path w="1737359" h="822960">
                  <a:moveTo>
                    <a:pt x="1736991" y="0"/>
                  </a:moveTo>
                  <a:lnTo>
                    <a:pt x="0" y="0"/>
                  </a:lnTo>
                  <a:lnTo>
                    <a:pt x="0" y="822591"/>
                  </a:lnTo>
                  <a:lnTo>
                    <a:pt x="868679" y="822591"/>
                  </a:lnTo>
                  <a:lnTo>
                    <a:pt x="1736991" y="822591"/>
                  </a:lnTo>
                  <a:lnTo>
                    <a:pt x="1736991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7223404" y="1416966"/>
            <a:ext cx="1737360" cy="822960"/>
          </a:xfrm>
          <a:prstGeom prst="rect">
            <a:avLst/>
          </a:prstGeom>
          <a:ln w="12599">
            <a:solidFill>
              <a:srgbClr val="CCFAF0"/>
            </a:solidFill>
          </a:ln>
        </p:spPr>
        <p:txBody>
          <a:bodyPr wrap="square" lIns="0" tIns="48894" rIns="0" bIns="0" rtlCol="0" vert="horz">
            <a:spAutoFit/>
          </a:bodyPr>
          <a:lstStyle/>
          <a:p>
            <a:pPr marL="149860">
              <a:lnSpc>
                <a:spcPct val="100000"/>
              </a:lnSpc>
              <a:spcBef>
                <a:spcPts val="384"/>
              </a:spcBef>
              <a:tabLst>
                <a:tab pos="592455" algn="l"/>
              </a:tabLst>
            </a:pPr>
            <a:r>
              <a:rPr dirty="0" baseline="1736" sz="2400" spc="-37" b="1">
                <a:solidFill>
                  <a:srgbClr val="FFFFFF"/>
                </a:solidFill>
                <a:latin typeface="Calibri"/>
                <a:cs typeface="Calibri"/>
              </a:rPr>
              <a:t>#1</a:t>
            </a:r>
            <a:r>
              <a:rPr dirty="0" baseline="1736" sz="240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Bangalore</a:t>
            </a:r>
            <a:endParaRPr sz="1200">
              <a:latin typeface="Calibri"/>
              <a:cs typeface="Calibri"/>
            </a:endParaRPr>
          </a:p>
          <a:p>
            <a:pPr marL="592455">
              <a:lnSpc>
                <a:spcPct val="100000"/>
              </a:lnSpc>
              <a:spcBef>
                <a:spcPts val="1220"/>
              </a:spcBef>
            </a:pPr>
            <a:r>
              <a:rPr dirty="0" sz="900" spc="-20">
                <a:solidFill>
                  <a:srgbClr val="CCF8F2"/>
                </a:solidFill>
                <a:latin typeface="Calibri"/>
                <a:cs typeface="Calibri"/>
              </a:rPr>
              <a:t>Tech </a:t>
            </a:r>
            <a:r>
              <a:rPr dirty="0" sz="900">
                <a:solidFill>
                  <a:srgbClr val="CCF8F2"/>
                </a:solidFill>
                <a:latin typeface="Calibri"/>
                <a:cs typeface="Calibri"/>
              </a:rPr>
              <a:t>&amp;</a:t>
            </a:r>
            <a:r>
              <a:rPr dirty="0" sz="900" spc="-25">
                <a:solidFill>
                  <a:srgbClr val="CCF8F2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CF8F2"/>
                </a:solidFill>
                <a:latin typeface="Calibri"/>
                <a:cs typeface="Calibri"/>
              </a:rPr>
              <a:t>startup</a:t>
            </a:r>
            <a:r>
              <a:rPr dirty="0" sz="900" spc="-15">
                <a:solidFill>
                  <a:srgbClr val="CCF8F2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CF8F2"/>
                </a:solidFill>
                <a:latin typeface="Calibri"/>
                <a:cs typeface="Calibri"/>
              </a:rPr>
              <a:t>capital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7177316" y="2399755"/>
            <a:ext cx="1830070" cy="915035"/>
            <a:chOff x="7177316" y="2399755"/>
            <a:chExt cx="1830070" cy="915035"/>
          </a:xfrm>
        </p:grpSpPr>
        <p:pic>
          <p:nvPicPr>
            <p:cNvPr id="49" name="object 4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77316" y="2399755"/>
              <a:ext cx="1829523" cy="914768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7223404" y="2422806"/>
              <a:ext cx="1737360" cy="822960"/>
            </a:xfrm>
            <a:custGeom>
              <a:avLst/>
              <a:gdLst/>
              <a:ahLst/>
              <a:cxnLst/>
              <a:rect l="l" t="t" r="r" b="b"/>
              <a:pathLst>
                <a:path w="1737359" h="822960">
                  <a:moveTo>
                    <a:pt x="1736991" y="0"/>
                  </a:moveTo>
                  <a:lnTo>
                    <a:pt x="0" y="0"/>
                  </a:lnTo>
                  <a:lnTo>
                    <a:pt x="0" y="822591"/>
                  </a:lnTo>
                  <a:lnTo>
                    <a:pt x="868679" y="822591"/>
                  </a:lnTo>
                  <a:lnTo>
                    <a:pt x="1736991" y="822591"/>
                  </a:lnTo>
                  <a:lnTo>
                    <a:pt x="1736991" y="0"/>
                  </a:lnTo>
                  <a:close/>
                </a:path>
              </a:pathLst>
            </a:custGeom>
            <a:solidFill>
              <a:srgbClr val="EFFCF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7223404" y="2422806"/>
            <a:ext cx="1737360" cy="822960"/>
          </a:xfrm>
          <a:prstGeom prst="rect">
            <a:avLst/>
          </a:prstGeom>
          <a:ln w="12599">
            <a:solidFill>
              <a:srgbClr val="CCFAF0"/>
            </a:solidFill>
          </a:ln>
        </p:spPr>
        <p:txBody>
          <a:bodyPr wrap="square" lIns="0" tIns="48894" rIns="0" bIns="0" rtlCol="0" vert="horz">
            <a:spAutoFit/>
          </a:bodyPr>
          <a:lstStyle/>
          <a:p>
            <a:pPr marL="149860">
              <a:lnSpc>
                <a:spcPct val="100000"/>
              </a:lnSpc>
              <a:spcBef>
                <a:spcPts val="384"/>
              </a:spcBef>
              <a:tabLst>
                <a:tab pos="592455" algn="l"/>
              </a:tabLst>
            </a:pPr>
            <a:r>
              <a:rPr dirty="0" baseline="1736" sz="2400" spc="-37" b="1">
                <a:solidFill>
                  <a:srgbClr val="0C9387"/>
                </a:solidFill>
                <a:latin typeface="Calibri"/>
                <a:cs typeface="Calibri"/>
              </a:rPr>
              <a:t>#2</a:t>
            </a:r>
            <a:r>
              <a:rPr dirty="0" baseline="1736" sz="2400" b="1">
                <a:solidFill>
                  <a:srgbClr val="0C9387"/>
                </a:solidFill>
                <a:latin typeface="Calibri"/>
                <a:cs typeface="Calibri"/>
              </a:rPr>
              <a:t>	</a:t>
            </a:r>
            <a:r>
              <a:rPr dirty="0" sz="1200" spc="-10" b="1">
                <a:solidFill>
                  <a:srgbClr val="0C1A29"/>
                </a:solidFill>
                <a:latin typeface="Calibri"/>
                <a:cs typeface="Calibri"/>
              </a:rPr>
              <a:t>Mumbai</a:t>
            </a:r>
            <a:endParaRPr sz="1200">
              <a:latin typeface="Calibri"/>
              <a:cs typeface="Calibri"/>
            </a:endParaRPr>
          </a:p>
          <a:p>
            <a:pPr marL="592455">
              <a:lnSpc>
                <a:spcPct val="100000"/>
              </a:lnSpc>
              <a:spcBef>
                <a:spcPts val="1220"/>
              </a:spcBef>
            </a:pPr>
            <a:r>
              <a:rPr dirty="0" sz="900">
                <a:solidFill>
                  <a:srgbClr val="63738A"/>
                </a:solidFill>
                <a:latin typeface="Calibri"/>
                <a:cs typeface="Calibri"/>
              </a:rPr>
              <a:t>Finance</a:t>
            </a:r>
            <a:r>
              <a:rPr dirty="0" sz="900" spc="-2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3738A"/>
                </a:solidFill>
                <a:latin typeface="Calibri"/>
                <a:cs typeface="Calibri"/>
              </a:rPr>
              <a:t>&amp;</a:t>
            </a:r>
            <a:r>
              <a:rPr dirty="0" sz="900" spc="-2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3738A"/>
                </a:solidFill>
                <a:latin typeface="Calibri"/>
                <a:cs typeface="Calibri"/>
              </a:rPr>
              <a:t>media</a:t>
            </a:r>
            <a:r>
              <a:rPr dirty="0" sz="900" spc="-2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63738A"/>
                </a:solidFill>
                <a:latin typeface="Calibri"/>
                <a:cs typeface="Calibri"/>
              </a:rPr>
              <a:t>hub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7177316" y="3405596"/>
            <a:ext cx="1830070" cy="915035"/>
            <a:chOff x="7177316" y="3405596"/>
            <a:chExt cx="1830070" cy="915035"/>
          </a:xfrm>
        </p:grpSpPr>
        <p:pic>
          <p:nvPicPr>
            <p:cNvPr id="53" name="object 5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77316" y="3405596"/>
              <a:ext cx="1829523" cy="914768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7223404" y="3428646"/>
              <a:ext cx="1737360" cy="822960"/>
            </a:xfrm>
            <a:custGeom>
              <a:avLst/>
              <a:gdLst/>
              <a:ahLst/>
              <a:cxnLst/>
              <a:rect l="l" t="t" r="r" b="b"/>
              <a:pathLst>
                <a:path w="1737359" h="822960">
                  <a:moveTo>
                    <a:pt x="1736991" y="0"/>
                  </a:moveTo>
                  <a:lnTo>
                    <a:pt x="0" y="0"/>
                  </a:lnTo>
                  <a:lnTo>
                    <a:pt x="0" y="822591"/>
                  </a:lnTo>
                  <a:lnTo>
                    <a:pt x="868679" y="822591"/>
                  </a:lnTo>
                  <a:lnTo>
                    <a:pt x="1736991" y="822591"/>
                  </a:lnTo>
                  <a:lnTo>
                    <a:pt x="1736991" y="0"/>
                  </a:lnTo>
                  <a:close/>
                </a:path>
              </a:pathLst>
            </a:custGeom>
            <a:solidFill>
              <a:srgbClr val="EFFCF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7223404" y="3428646"/>
            <a:ext cx="1737360" cy="822960"/>
          </a:xfrm>
          <a:prstGeom prst="rect">
            <a:avLst/>
          </a:prstGeom>
          <a:ln w="12599">
            <a:solidFill>
              <a:srgbClr val="CCFAF0"/>
            </a:solidFill>
          </a:ln>
        </p:spPr>
        <p:txBody>
          <a:bodyPr wrap="square" lIns="0" tIns="48894" rIns="0" bIns="0" rtlCol="0" vert="horz">
            <a:spAutoFit/>
          </a:bodyPr>
          <a:lstStyle/>
          <a:p>
            <a:pPr marL="149860">
              <a:lnSpc>
                <a:spcPct val="100000"/>
              </a:lnSpc>
              <a:spcBef>
                <a:spcPts val="384"/>
              </a:spcBef>
              <a:tabLst>
                <a:tab pos="592455" algn="l"/>
              </a:tabLst>
            </a:pPr>
            <a:r>
              <a:rPr dirty="0" baseline="1736" sz="2400" spc="-37" b="1">
                <a:solidFill>
                  <a:srgbClr val="0C9387"/>
                </a:solidFill>
                <a:latin typeface="Calibri"/>
                <a:cs typeface="Calibri"/>
              </a:rPr>
              <a:t>#3</a:t>
            </a:r>
            <a:r>
              <a:rPr dirty="0" baseline="1736" sz="2400" b="1">
                <a:solidFill>
                  <a:srgbClr val="0C9387"/>
                </a:solidFill>
                <a:latin typeface="Calibri"/>
                <a:cs typeface="Calibri"/>
              </a:rPr>
              <a:t>	</a:t>
            </a:r>
            <a:r>
              <a:rPr dirty="0" sz="1200" b="1">
                <a:solidFill>
                  <a:srgbClr val="0C1A29"/>
                </a:solidFill>
                <a:latin typeface="Calibri"/>
                <a:cs typeface="Calibri"/>
              </a:rPr>
              <a:t>Delhi</a:t>
            </a:r>
            <a:r>
              <a:rPr dirty="0" sz="1200" spc="-65" b="1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dirty="0" sz="1200" spc="-25" b="1">
                <a:solidFill>
                  <a:srgbClr val="0C1A29"/>
                </a:solidFill>
                <a:latin typeface="Calibri"/>
                <a:cs typeface="Calibri"/>
              </a:rPr>
              <a:t>NCR</a:t>
            </a:r>
            <a:endParaRPr sz="1200">
              <a:latin typeface="Calibri"/>
              <a:cs typeface="Calibri"/>
            </a:endParaRPr>
          </a:p>
          <a:p>
            <a:pPr marL="592455">
              <a:lnSpc>
                <a:spcPct val="100000"/>
              </a:lnSpc>
              <a:spcBef>
                <a:spcPts val="1220"/>
              </a:spcBef>
            </a:pPr>
            <a:r>
              <a:rPr dirty="0" sz="900">
                <a:solidFill>
                  <a:srgbClr val="63738A"/>
                </a:solidFill>
                <a:latin typeface="Calibri"/>
                <a:cs typeface="Calibri"/>
              </a:rPr>
              <a:t>Govt</a:t>
            </a:r>
            <a:r>
              <a:rPr dirty="0" sz="900" spc="-1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3738A"/>
                </a:solidFill>
                <a:latin typeface="Calibri"/>
                <a:cs typeface="Calibri"/>
              </a:rPr>
              <a:t>&amp;</a:t>
            </a:r>
            <a:r>
              <a:rPr dirty="0" sz="900" spc="-1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3738A"/>
                </a:solidFill>
                <a:latin typeface="Calibri"/>
                <a:cs typeface="Calibri"/>
              </a:rPr>
              <a:t>IT</a:t>
            </a:r>
            <a:r>
              <a:rPr dirty="0" sz="900" spc="-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3738A"/>
                </a:solidFill>
                <a:latin typeface="Calibri"/>
                <a:cs typeface="Calibri"/>
              </a:rPr>
              <a:t>sector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51256" y="4878262"/>
            <a:ext cx="193167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63738A"/>
                </a:solidFill>
                <a:latin typeface="Calibri"/>
                <a:cs typeface="Calibri"/>
              </a:rPr>
              <a:t>Figure</a:t>
            </a:r>
            <a:r>
              <a:rPr dirty="0" sz="900" spc="-15" i="1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3738A"/>
                </a:solidFill>
                <a:latin typeface="Calibri"/>
                <a:cs typeface="Calibri"/>
              </a:rPr>
              <a:t>3:</a:t>
            </a:r>
            <a:r>
              <a:rPr dirty="0" sz="900" spc="-15" i="1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3738A"/>
                </a:solidFill>
                <a:latin typeface="Calibri"/>
                <a:cs typeface="Calibri"/>
              </a:rPr>
              <a:t>Job</a:t>
            </a:r>
            <a:r>
              <a:rPr dirty="0" sz="900" spc="-10" i="1">
                <a:solidFill>
                  <a:srgbClr val="63738A"/>
                </a:solidFill>
                <a:latin typeface="Calibri"/>
                <a:cs typeface="Calibri"/>
              </a:rPr>
              <a:t> Postings</a:t>
            </a:r>
            <a:r>
              <a:rPr dirty="0" sz="900" spc="-15" i="1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3738A"/>
                </a:solidFill>
                <a:latin typeface="Calibri"/>
                <a:cs typeface="Calibri"/>
              </a:rPr>
              <a:t>by</a:t>
            </a:r>
            <a:r>
              <a:rPr dirty="0" sz="900" spc="-10" i="1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3738A"/>
                </a:solidFill>
                <a:latin typeface="Calibri"/>
                <a:cs typeface="Calibri"/>
              </a:rPr>
              <a:t>City</a:t>
            </a:r>
            <a:r>
              <a:rPr dirty="0" sz="900" spc="-5" i="1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00" spc="-10" i="1">
                <a:solidFill>
                  <a:srgbClr val="63738A"/>
                </a:solidFill>
                <a:latin typeface="Calibri"/>
                <a:cs typeface="Calibri"/>
              </a:rPr>
              <a:t>(thousands)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dirty="0" spc="-60"/>
              <a:t> </a:t>
            </a:r>
            <a:r>
              <a:rPr dirty="0"/>
              <a:t>Insight</a:t>
            </a:r>
            <a:r>
              <a:rPr dirty="0" spc="-65"/>
              <a:t> </a:t>
            </a:r>
            <a:r>
              <a:rPr dirty="0"/>
              <a:t>4:</a:t>
            </a:r>
            <a:r>
              <a:rPr dirty="0" spc="-60"/>
              <a:t> </a:t>
            </a:r>
            <a:r>
              <a:rPr dirty="0"/>
              <a:t>Skills</a:t>
            </a:r>
            <a:r>
              <a:rPr dirty="0" spc="-70"/>
              <a:t> </a:t>
            </a:r>
            <a:r>
              <a:rPr dirty="0"/>
              <a:t>by</a:t>
            </a:r>
            <a:r>
              <a:rPr dirty="0" spc="-65"/>
              <a:t> </a:t>
            </a:r>
            <a:r>
              <a:rPr dirty="0"/>
              <a:t>Experience</a:t>
            </a:r>
            <a:r>
              <a:rPr dirty="0" spc="-65"/>
              <a:t> </a:t>
            </a:r>
            <a:r>
              <a:rPr dirty="0" spc="-10"/>
              <a:t>Level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8244" y="936716"/>
            <a:ext cx="2790190" cy="4023995"/>
            <a:chOff x="228244" y="936716"/>
            <a:chExt cx="2790190" cy="40239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244" y="936716"/>
              <a:ext cx="2789643" cy="402372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74319" y="959766"/>
              <a:ext cx="2697480" cy="3931920"/>
            </a:xfrm>
            <a:custGeom>
              <a:avLst/>
              <a:gdLst/>
              <a:ahLst/>
              <a:cxnLst/>
              <a:rect l="l" t="t" r="r" b="b"/>
              <a:pathLst>
                <a:path w="2697480" h="3931920">
                  <a:moveTo>
                    <a:pt x="2697124" y="0"/>
                  </a:moveTo>
                  <a:lnTo>
                    <a:pt x="0" y="0"/>
                  </a:lnTo>
                  <a:lnTo>
                    <a:pt x="0" y="3931551"/>
                  </a:lnTo>
                  <a:lnTo>
                    <a:pt x="1348562" y="3931551"/>
                  </a:lnTo>
                  <a:lnTo>
                    <a:pt x="2697124" y="3931551"/>
                  </a:lnTo>
                  <a:lnTo>
                    <a:pt x="2697124" y="0"/>
                  </a:lnTo>
                  <a:close/>
                </a:path>
              </a:pathLst>
            </a:custGeom>
            <a:solidFill>
              <a:srgbClr val="EFFC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4365" y="942824"/>
              <a:ext cx="2777045" cy="53642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74319" y="959766"/>
              <a:ext cx="2697480" cy="457200"/>
            </a:xfrm>
            <a:custGeom>
              <a:avLst/>
              <a:gdLst/>
              <a:ahLst/>
              <a:cxnLst/>
              <a:rect l="l" t="t" r="r" b="b"/>
              <a:pathLst>
                <a:path w="2697480" h="457200">
                  <a:moveTo>
                    <a:pt x="2697124" y="0"/>
                  </a:moveTo>
                  <a:lnTo>
                    <a:pt x="0" y="0"/>
                  </a:lnTo>
                  <a:lnTo>
                    <a:pt x="0" y="456831"/>
                  </a:lnTo>
                  <a:lnTo>
                    <a:pt x="1348562" y="456831"/>
                  </a:lnTo>
                  <a:lnTo>
                    <a:pt x="2697124" y="456831"/>
                  </a:lnTo>
                  <a:lnTo>
                    <a:pt x="2697124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274320" y="959766"/>
            <a:ext cx="2697480" cy="3931920"/>
          </a:xfrm>
          <a:prstGeom prst="rect">
            <a:avLst/>
          </a:prstGeom>
          <a:ln w="12599">
            <a:solidFill>
              <a:srgbClr val="CCFAF0"/>
            </a:solidFill>
          </a:ln>
        </p:spPr>
        <p:txBody>
          <a:bodyPr wrap="square" lIns="0" tIns="450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55"/>
              </a:spcBef>
            </a:pPr>
            <a:r>
              <a:rPr dirty="0" sz="1300" b="1">
                <a:solidFill>
                  <a:srgbClr val="FFFFFF"/>
                </a:solidFill>
                <a:latin typeface="Calibri"/>
                <a:cs typeface="Calibri"/>
              </a:rPr>
              <a:t>Entry</a:t>
            </a:r>
            <a:r>
              <a:rPr dirty="0" sz="13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alibri"/>
                <a:cs typeface="Calibri"/>
              </a:rPr>
              <a:t>Level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85"/>
              </a:spcBef>
            </a:pPr>
            <a:endParaRPr sz="1300">
              <a:latin typeface="Calibri"/>
              <a:cs typeface="Calibri"/>
            </a:endParaRPr>
          </a:p>
          <a:p>
            <a:pPr marL="326390" indent="-99695">
              <a:lnSpc>
                <a:spcPct val="100000"/>
              </a:lnSpc>
              <a:buChar char="•"/>
              <a:tabLst>
                <a:tab pos="326390" algn="l"/>
              </a:tabLst>
            </a:pP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Excel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35"/>
              </a:spcBef>
              <a:buClr>
                <a:srgbClr val="1D283A"/>
              </a:buClr>
              <a:buFont typeface="Calibri"/>
              <a:buChar char="•"/>
            </a:pPr>
            <a:endParaRPr sz="1100">
              <a:latin typeface="Calibri"/>
              <a:cs typeface="Calibri"/>
            </a:endParaRPr>
          </a:p>
          <a:p>
            <a:pPr marL="326390" indent="-99695">
              <a:lnSpc>
                <a:spcPct val="100000"/>
              </a:lnSpc>
              <a:spcBef>
                <a:spcPts val="5"/>
              </a:spcBef>
              <a:buChar char="•"/>
              <a:tabLst>
                <a:tab pos="326390" algn="l"/>
              </a:tabLst>
            </a:pP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SQL</a:t>
            </a:r>
            <a:r>
              <a:rPr dirty="0" sz="1100" spc="-1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(basic)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35"/>
              </a:spcBef>
              <a:buClr>
                <a:srgbClr val="1D283A"/>
              </a:buClr>
              <a:buFont typeface="Calibri"/>
              <a:buChar char="•"/>
            </a:pPr>
            <a:endParaRPr sz="1100">
              <a:latin typeface="Calibri"/>
              <a:cs typeface="Calibri"/>
            </a:endParaRPr>
          </a:p>
          <a:p>
            <a:pPr marL="326390" indent="-99695">
              <a:lnSpc>
                <a:spcPct val="100000"/>
              </a:lnSpc>
              <a:buChar char="•"/>
              <a:tabLst>
                <a:tab pos="326390" algn="l"/>
              </a:tabLst>
            </a:pP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Python</a:t>
            </a:r>
            <a:r>
              <a:rPr dirty="0" sz="1100" spc="-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basics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35"/>
              </a:spcBef>
              <a:buClr>
                <a:srgbClr val="1D283A"/>
              </a:buClr>
              <a:buFont typeface="Calibri"/>
              <a:buChar char="•"/>
            </a:pPr>
            <a:endParaRPr sz="1100">
              <a:latin typeface="Calibri"/>
              <a:cs typeface="Calibri"/>
            </a:endParaRPr>
          </a:p>
          <a:p>
            <a:pPr marL="326390" indent="-99695">
              <a:lnSpc>
                <a:spcPct val="100000"/>
              </a:lnSpc>
              <a:spcBef>
                <a:spcPts val="5"/>
              </a:spcBef>
              <a:buChar char="•"/>
              <a:tabLst>
                <a:tab pos="326390" algn="l"/>
              </a:tabLst>
            </a:pP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Data</a:t>
            </a:r>
            <a:r>
              <a:rPr dirty="0" sz="1100" spc="-3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Entry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35"/>
              </a:spcBef>
              <a:buClr>
                <a:srgbClr val="1D283A"/>
              </a:buClr>
              <a:buFont typeface="Calibri"/>
              <a:buChar char="•"/>
            </a:pPr>
            <a:endParaRPr sz="1100">
              <a:latin typeface="Calibri"/>
              <a:cs typeface="Calibri"/>
            </a:endParaRPr>
          </a:p>
          <a:p>
            <a:pPr marL="326390" indent="-99695">
              <a:lnSpc>
                <a:spcPct val="100000"/>
              </a:lnSpc>
              <a:buChar char="•"/>
              <a:tabLst>
                <a:tab pos="326390" algn="l"/>
              </a:tabLst>
            </a:pP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Communication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135960" y="936716"/>
            <a:ext cx="2790190" cy="4023995"/>
            <a:chOff x="3135960" y="936716"/>
            <a:chExt cx="2790190" cy="402399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35960" y="936716"/>
              <a:ext cx="2789643" cy="402372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182035" y="959766"/>
              <a:ext cx="2697480" cy="3931920"/>
            </a:xfrm>
            <a:custGeom>
              <a:avLst/>
              <a:gdLst/>
              <a:ahLst/>
              <a:cxnLst/>
              <a:rect l="l" t="t" r="r" b="b"/>
              <a:pathLst>
                <a:path w="2697479" h="3931920">
                  <a:moveTo>
                    <a:pt x="2697124" y="0"/>
                  </a:moveTo>
                  <a:lnTo>
                    <a:pt x="0" y="0"/>
                  </a:lnTo>
                  <a:lnTo>
                    <a:pt x="0" y="3931551"/>
                  </a:lnTo>
                  <a:lnTo>
                    <a:pt x="1348562" y="3931551"/>
                  </a:lnTo>
                  <a:lnTo>
                    <a:pt x="2697124" y="3931551"/>
                  </a:lnTo>
                  <a:lnTo>
                    <a:pt x="2697124" y="0"/>
                  </a:lnTo>
                  <a:close/>
                </a:path>
              </a:pathLst>
            </a:custGeom>
            <a:solidFill>
              <a:srgbClr val="DFF6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42081" y="942824"/>
              <a:ext cx="2777045" cy="53642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182035" y="959766"/>
              <a:ext cx="2697480" cy="457200"/>
            </a:xfrm>
            <a:custGeom>
              <a:avLst/>
              <a:gdLst/>
              <a:ahLst/>
              <a:cxnLst/>
              <a:rect l="l" t="t" r="r" b="b"/>
              <a:pathLst>
                <a:path w="2697479" h="457200">
                  <a:moveTo>
                    <a:pt x="2697124" y="0"/>
                  </a:moveTo>
                  <a:lnTo>
                    <a:pt x="0" y="0"/>
                  </a:lnTo>
                  <a:lnTo>
                    <a:pt x="0" y="456831"/>
                  </a:lnTo>
                  <a:lnTo>
                    <a:pt x="1348562" y="456831"/>
                  </a:lnTo>
                  <a:lnTo>
                    <a:pt x="2697124" y="456831"/>
                  </a:lnTo>
                  <a:lnTo>
                    <a:pt x="2697124" y="0"/>
                  </a:lnTo>
                  <a:close/>
                </a:path>
              </a:pathLst>
            </a:custGeom>
            <a:solidFill>
              <a:srgbClr val="13B7A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3182035" y="959766"/>
            <a:ext cx="2697480" cy="3931920"/>
          </a:xfrm>
          <a:prstGeom prst="rect">
            <a:avLst/>
          </a:prstGeom>
          <a:ln w="12599">
            <a:solidFill>
              <a:srgbClr val="CCFAF0"/>
            </a:solidFill>
          </a:ln>
        </p:spPr>
        <p:txBody>
          <a:bodyPr wrap="square" lIns="0" tIns="4508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355"/>
              </a:spcBef>
            </a:pPr>
            <a:r>
              <a:rPr dirty="0" sz="1300" b="1">
                <a:solidFill>
                  <a:srgbClr val="FFFFFF"/>
                </a:solidFill>
                <a:latin typeface="Calibri"/>
                <a:cs typeface="Calibri"/>
              </a:rPr>
              <a:t>Mid</a:t>
            </a:r>
            <a:r>
              <a:rPr dirty="0" sz="13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alibri"/>
                <a:cs typeface="Calibri"/>
              </a:rPr>
              <a:t>Level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85"/>
              </a:spcBef>
            </a:pPr>
            <a:endParaRPr sz="1300">
              <a:latin typeface="Calibri"/>
              <a:cs typeface="Calibri"/>
            </a:endParaRPr>
          </a:p>
          <a:p>
            <a:pPr marL="326390" indent="-99695">
              <a:lnSpc>
                <a:spcPct val="100000"/>
              </a:lnSpc>
              <a:buChar char="•"/>
              <a:tabLst>
                <a:tab pos="326390" algn="l"/>
              </a:tabLst>
            </a:pP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Python</a:t>
            </a:r>
            <a:r>
              <a:rPr dirty="0" sz="1100" spc="-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(advanced)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35"/>
              </a:spcBef>
              <a:buClr>
                <a:srgbClr val="1D283A"/>
              </a:buClr>
              <a:buFont typeface="Calibri"/>
              <a:buChar char="•"/>
            </a:pPr>
            <a:endParaRPr sz="1100">
              <a:latin typeface="Calibri"/>
              <a:cs typeface="Calibri"/>
            </a:endParaRPr>
          </a:p>
          <a:p>
            <a:pPr marL="326390" indent="-99695">
              <a:lnSpc>
                <a:spcPct val="100000"/>
              </a:lnSpc>
              <a:spcBef>
                <a:spcPts val="5"/>
              </a:spcBef>
              <a:buChar char="•"/>
              <a:tabLst>
                <a:tab pos="326390" algn="l"/>
              </a:tabLst>
            </a:pP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Machine</a:t>
            </a:r>
            <a:r>
              <a:rPr dirty="0" sz="1100" spc="-3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Learning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35"/>
              </a:spcBef>
              <a:buClr>
                <a:srgbClr val="1D283A"/>
              </a:buClr>
              <a:buFont typeface="Calibri"/>
              <a:buChar char="•"/>
            </a:pPr>
            <a:endParaRPr sz="1100">
              <a:latin typeface="Calibri"/>
              <a:cs typeface="Calibri"/>
            </a:endParaRPr>
          </a:p>
          <a:p>
            <a:pPr marL="326390" indent="-99695">
              <a:lnSpc>
                <a:spcPct val="100000"/>
              </a:lnSpc>
              <a:buChar char="•"/>
              <a:tabLst>
                <a:tab pos="326390" algn="l"/>
              </a:tabLst>
            </a:pP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Power</a:t>
            </a:r>
            <a:r>
              <a:rPr dirty="0" sz="1100" spc="-2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BI</a:t>
            </a:r>
            <a:r>
              <a:rPr dirty="0" sz="1100" spc="-3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/</a:t>
            </a:r>
            <a:r>
              <a:rPr dirty="0" sz="1100" spc="-3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Tableau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35"/>
              </a:spcBef>
              <a:buClr>
                <a:srgbClr val="1D283A"/>
              </a:buClr>
              <a:buFont typeface="Calibri"/>
              <a:buChar char="•"/>
            </a:pPr>
            <a:endParaRPr sz="1100">
              <a:latin typeface="Calibri"/>
              <a:cs typeface="Calibri"/>
            </a:endParaRPr>
          </a:p>
          <a:p>
            <a:pPr marL="326390" indent="-99695">
              <a:lnSpc>
                <a:spcPct val="100000"/>
              </a:lnSpc>
              <a:spcBef>
                <a:spcPts val="5"/>
              </a:spcBef>
              <a:buChar char="•"/>
              <a:tabLst>
                <a:tab pos="326390" algn="l"/>
              </a:tabLst>
            </a:pP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Statistical</a:t>
            </a:r>
            <a:r>
              <a:rPr dirty="0" sz="1100" spc="3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Analysis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35"/>
              </a:spcBef>
              <a:buClr>
                <a:srgbClr val="1D283A"/>
              </a:buClr>
              <a:buFont typeface="Calibri"/>
              <a:buChar char="•"/>
            </a:pPr>
            <a:endParaRPr sz="1100">
              <a:latin typeface="Calibri"/>
              <a:cs typeface="Calibri"/>
            </a:endParaRPr>
          </a:p>
          <a:p>
            <a:pPr marL="326390" indent="-99695">
              <a:lnSpc>
                <a:spcPct val="100000"/>
              </a:lnSpc>
              <a:buChar char="•"/>
              <a:tabLst>
                <a:tab pos="326390" algn="l"/>
              </a:tabLst>
            </a:pP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Project</a:t>
            </a:r>
            <a:r>
              <a:rPr dirty="0" sz="1100" spc="-4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Management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043676" y="936716"/>
            <a:ext cx="2790190" cy="4023995"/>
            <a:chOff x="6043676" y="936716"/>
            <a:chExt cx="2790190" cy="4023995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43676" y="936716"/>
              <a:ext cx="2789643" cy="402372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089764" y="959766"/>
              <a:ext cx="2697480" cy="3931920"/>
            </a:xfrm>
            <a:custGeom>
              <a:avLst/>
              <a:gdLst/>
              <a:ahLst/>
              <a:cxnLst/>
              <a:rect l="l" t="t" r="r" b="b"/>
              <a:pathLst>
                <a:path w="2697479" h="3931920">
                  <a:moveTo>
                    <a:pt x="2697111" y="0"/>
                  </a:moveTo>
                  <a:lnTo>
                    <a:pt x="0" y="0"/>
                  </a:lnTo>
                  <a:lnTo>
                    <a:pt x="0" y="3931551"/>
                  </a:lnTo>
                  <a:lnTo>
                    <a:pt x="1348549" y="3931551"/>
                  </a:lnTo>
                  <a:lnTo>
                    <a:pt x="2697111" y="3931551"/>
                  </a:lnTo>
                  <a:lnTo>
                    <a:pt x="2697111" y="0"/>
                  </a:lnTo>
                  <a:close/>
                </a:path>
              </a:pathLst>
            </a:custGeom>
            <a:solidFill>
              <a:srgbClr val="E7ECF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49797" y="942824"/>
              <a:ext cx="2777045" cy="53642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089764" y="959766"/>
              <a:ext cx="2697480" cy="457200"/>
            </a:xfrm>
            <a:custGeom>
              <a:avLst/>
              <a:gdLst/>
              <a:ahLst/>
              <a:cxnLst/>
              <a:rect l="l" t="t" r="r" b="b"/>
              <a:pathLst>
                <a:path w="2697479" h="457200">
                  <a:moveTo>
                    <a:pt x="2697111" y="0"/>
                  </a:moveTo>
                  <a:lnTo>
                    <a:pt x="0" y="0"/>
                  </a:lnTo>
                  <a:lnTo>
                    <a:pt x="0" y="456831"/>
                  </a:lnTo>
                  <a:lnTo>
                    <a:pt x="1348549" y="456831"/>
                  </a:lnTo>
                  <a:lnTo>
                    <a:pt x="2697111" y="456831"/>
                  </a:lnTo>
                  <a:lnTo>
                    <a:pt x="2697111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6089764" y="959766"/>
            <a:ext cx="2697480" cy="3931920"/>
          </a:xfrm>
          <a:prstGeom prst="rect">
            <a:avLst/>
          </a:prstGeom>
          <a:ln w="12599">
            <a:solidFill>
              <a:srgbClr val="CCFAF0"/>
            </a:solidFill>
          </a:ln>
        </p:spPr>
        <p:txBody>
          <a:bodyPr wrap="square" lIns="0" tIns="450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55"/>
              </a:spcBef>
            </a:pPr>
            <a:r>
              <a:rPr dirty="0" sz="1300" b="1">
                <a:solidFill>
                  <a:srgbClr val="FFFFFF"/>
                </a:solidFill>
                <a:latin typeface="Calibri"/>
                <a:cs typeface="Calibri"/>
              </a:rPr>
              <a:t>Senior</a:t>
            </a:r>
            <a:r>
              <a:rPr dirty="0" sz="13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alibri"/>
                <a:cs typeface="Calibri"/>
              </a:rPr>
              <a:t>Level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85"/>
              </a:spcBef>
            </a:pPr>
            <a:endParaRPr sz="1300">
              <a:latin typeface="Calibri"/>
              <a:cs typeface="Calibri"/>
            </a:endParaRPr>
          </a:p>
          <a:p>
            <a:pPr marL="326390" indent="-99695">
              <a:lnSpc>
                <a:spcPct val="100000"/>
              </a:lnSpc>
              <a:buChar char="•"/>
              <a:tabLst>
                <a:tab pos="326390" algn="l"/>
              </a:tabLst>
            </a:pP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Cloud</a:t>
            </a:r>
            <a:r>
              <a:rPr dirty="0" sz="1100" spc="-2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(AWS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/</a:t>
            </a:r>
            <a:r>
              <a:rPr dirty="0" sz="1100" spc="-20">
                <a:solidFill>
                  <a:srgbClr val="1D283A"/>
                </a:solidFill>
                <a:latin typeface="Calibri"/>
                <a:cs typeface="Calibri"/>
              </a:rPr>
              <a:t> GCP)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35"/>
              </a:spcBef>
              <a:buClr>
                <a:srgbClr val="1D283A"/>
              </a:buClr>
              <a:buFont typeface="Calibri"/>
              <a:buChar char="•"/>
            </a:pPr>
            <a:endParaRPr sz="1100">
              <a:latin typeface="Calibri"/>
              <a:cs typeface="Calibri"/>
            </a:endParaRPr>
          </a:p>
          <a:p>
            <a:pPr marL="326390" indent="-99695">
              <a:lnSpc>
                <a:spcPct val="100000"/>
              </a:lnSpc>
              <a:spcBef>
                <a:spcPts val="5"/>
              </a:spcBef>
              <a:buChar char="•"/>
              <a:tabLst>
                <a:tab pos="326390" algn="l"/>
              </a:tabLst>
            </a:pP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Deep</a:t>
            </a:r>
            <a:r>
              <a:rPr dirty="0" sz="1100" spc="-2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Learning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35"/>
              </a:spcBef>
              <a:buClr>
                <a:srgbClr val="1D283A"/>
              </a:buClr>
              <a:buFont typeface="Calibri"/>
              <a:buChar char="•"/>
            </a:pPr>
            <a:endParaRPr sz="1100">
              <a:latin typeface="Calibri"/>
              <a:cs typeface="Calibri"/>
            </a:endParaRPr>
          </a:p>
          <a:p>
            <a:pPr marL="326390" indent="-99695">
              <a:lnSpc>
                <a:spcPct val="100000"/>
              </a:lnSpc>
              <a:buChar char="•"/>
              <a:tabLst>
                <a:tab pos="326390" algn="l"/>
              </a:tabLst>
            </a:pPr>
            <a:r>
              <a:rPr dirty="0" sz="1100" spc="-25">
                <a:solidFill>
                  <a:srgbClr val="1D283A"/>
                </a:solidFill>
                <a:latin typeface="Calibri"/>
                <a:cs typeface="Calibri"/>
              </a:rPr>
              <a:t>Team</a:t>
            </a:r>
            <a:r>
              <a:rPr dirty="0" sz="1100" spc="-3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Leadership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35"/>
              </a:spcBef>
              <a:buClr>
                <a:srgbClr val="1D283A"/>
              </a:buClr>
              <a:buFont typeface="Calibri"/>
              <a:buChar char="•"/>
            </a:pPr>
            <a:endParaRPr sz="1100">
              <a:latin typeface="Calibri"/>
              <a:cs typeface="Calibri"/>
            </a:endParaRPr>
          </a:p>
          <a:p>
            <a:pPr marL="326390" indent="-99695">
              <a:lnSpc>
                <a:spcPct val="100000"/>
              </a:lnSpc>
              <a:spcBef>
                <a:spcPts val="5"/>
              </a:spcBef>
              <a:buChar char="•"/>
              <a:tabLst>
                <a:tab pos="326390" algn="l"/>
              </a:tabLst>
            </a:pP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Strategy</a:t>
            </a:r>
            <a:r>
              <a:rPr dirty="0" sz="1100" spc="-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&amp;</a:t>
            </a:r>
            <a:r>
              <a:rPr dirty="0" sz="1100" spc="1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Planning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35"/>
              </a:spcBef>
              <a:buClr>
                <a:srgbClr val="1D283A"/>
              </a:buClr>
              <a:buFont typeface="Calibri"/>
              <a:buChar char="•"/>
            </a:pPr>
            <a:endParaRPr sz="1100">
              <a:latin typeface="Calibri"/>
              <a:cs typeface="Calibri"/>
            </a:endParaRPr>
          </a:p>
          <a:p>
            <a:pPr marL="326390" indent="-99695">
              <a:lnSpc>
                <a:spcPct val="100000"/>
              </a:lnSpc>
              <a:buChar char="•"/>
              <a:tabLst>
                <a:tab pos="326390" algn="l"/>
              </a:tabLst>
            </a:pP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System</a:t>
            </a:r>
            <a:r>
              <a:rPr dirty="0" sz="1100" spc="-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Architecture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0C1A2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-353"/>
            <a:ext cx="177165" cy="5144135"/>
            <a:chOff x="0" y="-353"/>
            <a:chExt cx="177165" cy="51441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4"/>
              <a:ext cx="176771" cy="514330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-353"/>
              <a:ext cx="137160" cy="5143500"/>
            </a:xfrm>
            <a:custGeom>
              <a:avLst/>
              <a:gdLst/>
              <a:ahLst/>
              <a:cxnLst/>
              <a:rect l="l" t="t" r="r" b="b"/>
              <a:pathLst>
                <a:path w="137160" h="5143500">
                  <a:moveTo>
                    <a:pt x="136804" y="0"/>
                  </a:moveTo>
                  <a:lnTo>
                    <a:pt x="0" y="0"/>
                  </a:lnTo>
                  <a:lnTo>
                    <a:pt x="0" y="5143309"/>
                  </a:lnTo>
                  <a:lnTo>
                    <a:pt x="68402" y="5143309"/>
                  </a:lnTo>
                  <a:lnTo>
                    <a:pt x="136804" y="5143309"/>
                  </a:lnTo>
                  <a:lnTo>
                    <a:pt x="136804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42696" y="214822"/>
            <a:ext cx="294132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30"/>
              <a:t>Technologies</a:t>
            </a:r>
            <a:r>
              <a:rPr dirty="0" sz="3000" spc="-90"/>
              <a:t> </a:t>
            </a:r>
            <a:r>
              <a:rPr dirty="0" sz="3000" spc="-20"/>
              <a:t>Used</a:t>
            </a:r>
            <a:endParaRPr sz="3000"/>
          </a:p>
        </p:txBody>
      </p:sp>
      <p:grpSp>
        <p:nvGrpSpPr>
          <p:cNvPr id="7" name="object 7"/>
          <p:cNvGrpSpPr/>
          <p:nvPr/>
        </p:nvGrpSpPr>
        <p:grpSpPr>
          <a:xfrm>
            <a:off x="319684" y="937071"/>
            <a:ext cx="2790190" cy="1235075"/>
            <a:chOff x="319684" y="937071"/>
            <a:chExt cx="2790190" cy="123507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9684" y="937071"/>
              <a:ext cx="2789643" cy="123480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65759" y="960122"/>
              <a:ext cx="2697480" cy="1143000"/>
            </a:xfrm>
            <a:custGeom>
              <a:avLst/>
              <a:gdLst/>
              <a:ahLst/>
              <a:cxnLst/>
              <a:rect l="l" t="t" r="r" b="b"/>
              <a:pathLst>
                <a:path w="2697480" h="1143000">
                  <a:moveTo>
                    <a:pt x="2697124" y="0"/>
                  </a:moveTo>
                  <a:lnTo>
                    <a:pt x="0" y="0"/>
                  </a:lnTo>
                  <a:lnTo>
                    <a:pt x="0" y="1142644"/>
                  </a:lnTo>
                  <a:lnTo>
                    <a:pt x="1348562" y="1142644"/>
                  </a:lnTo>
                  <a:lnTo>
                    <a:pt x="2697124" y="1142644"/>
                  </a:lnTo>
                  <a:lnTo>
                    <a:pt x="2697124" y="0"/>
                  </a:lnTo>
                  <a:close/>
                </a:path>
              </a:pathLst>
            </a:custGeom>
            <a:solidFill>
              <a:srgbClr val="192D3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5437" y="943192"/>
              <a:ext cx="171005" cy="122221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65404" y="960122"/>
              <a:ext cx="91440" cy="1143000"/>
            </a:xfrm>
            <a:custGeom>
              <a:avLst/>
              <a:gdLst/>
              <a:ahLst/>
              <a:cxnLst/>
              <a:rect l="l" t="t" r="r" b="b"/>
              <a:pathLst>
                <a:path w="91440" h="1143000">
                  <a:moveTo>
                    <a:pt x="91071" y="0"/>
                  </a:moveTo>
                  <a:lnTo>
                    <a:pt x="0" y="0"/>
                  </a:lnTo>
                  <a:lnTo>
                    <a:pt x="0" y="1142644"/>
                  </a:lnTo>
                  <a:lnTo>
                    <a:pt x="45720" y="1142644"/>
                  </a:lnTo>
                  <a:lnTo>
                    <a:pt x="91071" y="1142644"/>
                  </a:lnTo>
                  <a:lnTo>
                    <a:pt x="91071" y="0"/>
                  </a:lnTo>
                  <a:close/>
                </a:path>
              </a:pathLst>
            </a:custGeom>
            <a:solidFill>
              <a:srgbClr val="3675A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365759" y="960122"/>
            <a:ext cx="2697480" cy="1143000"/>
          </a:xfrm>
          <a:prstGeom prst="rect">
            <a:avLst/>
          </a:prstGeom>
          <a:ln w="12599">
            <a:solidFill>
              <a:srgbClr val="29495F"/>
            </a:solidFill>
          </a:ln>
        </p:spPr>
        <p:txBody>
          <a:bodyPr wrap="square" lIns="0" tIns="136525" rIns="0" bIns="0" rtlCol="0" vert="horz">
            <a:spAutoFit/>
          </a:bodyPr>
          <a:lstStyle/>
          <a:p>
            <a:pPr marL="272415">
              <a:lnSpc>
                <a:spcPct val="100000"/>
              </a:lnSpc>
              <a:spcBef>
                <a:spcPts val="1075"/>
              </a:spcBef>
            </a:pPr>
            <a:r>
              <a:rPr dirty="0" sz="1400" spc="-10" b="1">
                <a:solidFill>
                  <a:srgbClr val="5DE9D3"/>
                </a:solidFill>
                <a:latin typeface="Calibri"/>
                <a:cs typeface="Calibri"/>
              </a:rPr>
              <a:t>Python</a:t>
            </a:r>
            <a:endParaRPr sz="1400">
              <a:latin typeface="Calibri"/>
              <a:cs typeface="Calibri"/>
            </a:endParaRPr>
          </a:p>
          <a:p>
            <a:pPr marL="272415">
              <a:lnSpc>
                <a:spcPct val="100000"/>
              </a:lnSpc>
              <a:spcBef>
                <a:spcPts val="1555"/>
              </a:spcBef>
            </a:pPr>
            <a:r>
              <a:rPr dirty="0" sz="1100">
                <a:solidFill>
                  <a:srgbClr val="9DCCC7"/>
                </a:solidFill>
                <a:latin typeface="Calibri"/>
                <a:cs typeface="Calibri"/>
              </a:rPr>
              <a:t>Core</a:t>
            </a:r>
            <a:r>
              <a:rPr dirty="0" sz="1100" spc="-45">
                <a:solidFill>
                  <a:srgbClr val="9DCCC7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DCCC7"/>
                </a:solidFill>
                <a:latin typeface="Calibri"/>
                <a:cs typeface="Calibri"/>
              </a:rPr>
              <a:t>programming</a:t>
            </a:r>
            <a:r>
              <a:rPr dirty="0" sz="1100" spc="-45">
                <a:solidFill>
                  <a:srgbClr val="9DCCC7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9DCCC7"/>
                </a:solidFill>
                <a:latin typeface="Calibri"/>
                <a:cs typeface="Calibri"/>
              </a:rPr>
              <a:t>language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245764" y="937071"/>
            <a:ext cx="2790190" cy="1235075"/>
            <a:chOff x="3245764" y="937071"/>
            <a:chExt cx="2790190" cy="123507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45764" y="937071"/>
              <a:ext cx="2789643" cy="123480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291840" y="960122"/>
              <a:ext cx="2697480" cy="1143000"/>
            </a:xfrm>
            <a:custGeom>
              <a:avLst/>
              <a:gdLst/>
              <a:ahLst/>
              <a:cxnLst/>
              <a:rect l="l" t="t" r="r" b="b"/>
              <a:pathLst>
                <a:path w="2697479" h="1143000">
                  <a:moveTo>
                    <a:pt x="2697124" y="0"/>
                  </a:moveTo>
                  <a:lnTo>
                    <a:pt x="0" y="0"/>
                  </a:lnTo>
                  <a:lnTo>
                    <a:pt x="0" y="1142644"/>
                  </a:lnTo>
                  <a:lnTo>
                    <a:pt x="1348562" y="1142644"/>
                  </a:lnTo>
                  <a:lnTo>
                    <a:pt x="2697124" y="1142644"/>
                  </a:lnTo>
                  <a:lnTo>
                    <a:pt x="2697124" y="0"/>
                  </a:lnTo>
                  <a:close/>
                </a:path>
              </a:pathLst>
            </a:custGeom>
            <a:solidFill>
              <a:srgbClr val="192D3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51517" y="943192"/>
              <a:ext cx="171005" cy="122221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291484" y="960122"/>
              <a:ext cx="91440" cy="1143000"/>
            </a:xfrm>
            <a:custGeom>
              <a:avLst/>
              <a:gdLst/>
              <a:ahLst/>
              <a:cxnLst/>
              <a:rect l="l" t="t" r="r" b="b"/>
              <a:pathLst>
                <a:path w="91439" h="1143000">
                  <a:moveTo>
                    <a:pt x="91071" y="0"/>
                  </a:moveTo>
                  <a:lnTo>
                    <a:pt x="0" y="0"/>
                  </a:lnTo>
                  <a:lnTo>
                    <a:pt x="0" y="1142644"/>
                  </a:lnTo>
                  <a:lnTo>
                    <a:pt x="45719" y="1142644"/>
                  </a:lnTo>
                  <a:lnTo>
                    <a:pt x="91071" y="1142644"/>
                  </a:lnTo>
                  <a:lnTo>
                    <a:pt x="91071" y="0"/>
                  </a:lnTo>
                  <a:close/>
                </a:path>
              </a:pathLst>
            </a:custGeom>
            <a:solidFill>
              <a:srgbClr val="14035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3291840" y="960122"/>
            <a:ext cx="2697480" cy="1143000"/>
          </a:xfrm>
          <a:prstGeom prst="rect">
            <a:avLst/>
          </a:prstGeom>
          <a:ln w="12599">
            <a:solidFill>
              <a:srgbClr val="29495F"/>
            </a:solidFill>
          </a:ln>
        </p:spPr>
        <p:txBody>
          <a:bodyPr wrap="square" lIns="0" tIns="136525" rIns="0" bIns="0" rtlCol="0" vert="horz">
            <a:spAutoFit/>
          </a:bodyPr>
          <a:lstStyle/>
          <a:p>
            <a:pPr marL="272415">
              <a:lnSpc>
                <a:spcPct val="100000"/>
              </a:lnSpc>
              <a:spcBef>
                <a:spcPts val="1075"/>
              </a:spcBef>
            </a:pPr>
            <a:r>
              <a:rPr dirty="0" sz="1400" spc="-10" b="1">
                <a:solidFill>
                  <a:srgbClr val="5DE9D3"/>
                </a:solidFill>
                <a:latin typeface="Calibri"/>
                <a:cs typeface="Calibri"/>
              </a:rPr>
              <a:t>Pandas</a:t>
            </a:r>
            <a:endParaRPr sz="1400">
              <a:latin typeface="Calibri"/>
              <a:cs typeface="Calibri"/>
            </a:endParaRPr>
          </a:p>
          <a:p>
            <a:pPr marL="272415">
              <a:lnSpc>
                <a:spcPct val="100000"/>
              </a:lnSpc>
              <a:spcBef>
                <a:spcPts val="1555"/>
              </a:spcBef>
            </a:pPr>
            <a:r>
              <a:rPr dirty="0" sz="1100">
                <a:solidFill>
                  <a:srgbClr val="9DCCC7"/>
                </a:solidFill>
                <a:latin typeface="Calibri"/>
                <a:cs typeface="Calibri"/>
              </a:rPr>
              <a:t>Data</a:t>
            </a:r>
            <a:r>
              <a:rPr dirty="0" sz="1100" spc="-20">
                <a:solidFill>
                  <a:srgbClr val="9DCCC7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DCCC7"/>
                </a:solidFill>
                <a:latin typeface="Calibri"/>
                <a:cs typeface="Calibri"/>
              </a:rPr>
              <a:t>manipulation</a:t>
            </a:r>
            <a:r>
              <a:rPr dirty="0" sz="1100" spc="-20">
                <a:solidFill>
                  <a:srgbClr val="9DCCC7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DCCC7"/>
                </a:solidFill>
                <a:latin typeface="Calibri"/>
                <a:cs typeface="Calibri"/>
              </a:rPr>
              <a:t>&amp;</a:t>
            </a:r>
            <a:r>
              <a:rPr dirty="0" sz="1100" spc="-30">
                <a:solidFill>
                  <a:srgbClr val="9DCCC7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9DCCC7"/>
                </a:solidFill>
                <a:latin typeface="Calibri"/>
                <a:cs typeface="Calibri"/>
              </a:rPr>
              <a:t>analysis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171844" y="937071"/>
            <a:ext cx="2790190" cy="1235075"/>
            <a:chOff x="6171844" y="937071"/>
            <a:chExt cx="2790190" cy="123507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71844" y="937071"/>
              <a:ext cx="2789643" cy="123480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217919" y="960122"/>
              <a:ext cx="2697480" cy="1143000"/>
            </a:xfrm>
            <a:custGeom>
              <a:avLst/>
              <a:gdLst/>
              <a:ahLst/>
              <a:cxnLst/>
              <a:rect l="l" t="t" r="r" b="b"/>
              <a:pathLst>
                <a:path w="2697479" h="1143000">
                  <a:moveTo>
                    <a:pt x="2697124" y="0"/>
                  </a:moveTo>
                  <a:lnTo>
                    <a:pt x="0" y="0"/>
                  </a:lnTo>
                  <a:lnTo>
                    <a:pt x="0" y="1142644"/>
                  </a:lnTo>
                  <a:lnTo>
                    <a:pt x="1348562" y="1142644"/>
                  </a:lnTo>
                  <a:lnTo>
                    <a:pt x="2697124" y="1142644"/>
                  </a:lnTo>
                  <a:lnTo>
                    <a:pt x="2697124" y="0"/>
                  </a:lnTo>
                  <a:close/>
                </a:path>
              </a:pathLst>
            </a:custGeom>
            <a:solidFill>
              <a:srgbClr val="192D3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77597" y="943192"/>
              <a:ext cx="171005" cy="122221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217564" y="960122"/>
              <a:ext cx="91440" cy="1143000"/>
            </a:xfrm>
            <a:custGeom>
              <a:avLst/>
              <a:gdLst/>
              <a:ahLst/>
              <a:cxnLst/>
              <a:rect l="l" t="t" r="r" b="b"/>
              <a:pathLst>
                <a:path w="91439" h="1143000">
                  <a:moveTo>
                    <a:pt x="91071" y="0"/>
                  </a:moveTo>
                  <a:lnTo>
                    <a:pt x="0" y="0"/>
                  </a:lnTo>
                  <a:lnTo>
                    <a:pt x="0" y="1142644"/>
                  </a:lnTo>
                  <a:lnTo>
                    <a:pt x="45720" y="1142644"/>
                  </a:lnTo>
                  <a:lnTo>
                    <a:pt x="91071" y="1142644"/>
                  </a:lnTo>
                  <a:lnTo>
                    <a:pt x="91071" y="0"/>
                  </a:lnTo>
                  <a:close/>
                </a:path>
              </a:pathLst>
            </a:custGeom>
            <a:solidFill>
              <a:srgbClr val="00314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6217920" y="960122"/>
            <a:ext cx="2697480" cy="1143000"/>
          </a:xfrm>
          <a:prstGeom prst="rect">
            <a:avLst/>
          </a:prstGeom>
          <a:ln w="12599">
            <a:solidFill>
              <a:srgbClr val="29495F"/>
            </a:solidFill>
          </a:ln>
        </p:spPr>
        <p:txBody>
          <a:bodyPr wrap="square" lIns="0" tIns="136525" rIns="0" bIns="0" rtlCol="0" vert="horz">
            <a:spAutoFit/>
          </a:bodyPr>
          <a:lstStyle/>
          <a:p>
            <a:pPr marL="272415">
              <a:lnSpc>
                <a:spcPct val="100000"/>
              </a:lnSpc>
              <a:spcBef>
                <a:spcPts val="1075"/>
              </a:spcBef>
            </a:pPr>
            <a:r>
              <a:rPr dirty="0" sz="1400" spc="-10" b="1">
                <a:solidFill>
                  <a:srgbClr val="5DE9D3"/>
                </a:solidFill>
                <a:latin typeface="Calibri"/>
                <a:cs typeface="Calibri"/>
              </a:rPr>
              <a:t>NumPy</a:t>
            </a:r>
            <a:endParaRPr sz="1400">
              <a:latin typeface="Calibri"/>
              <a:cs typeface="Calibri"/>
            </a:endParaRPr>
          </a:p>
          <a:p>
            <a:pPr marL="272415">
              <a:lnSpc>
                <a:spcPct val="100000"/>
              </a:lnSpc>
              <a:spcBef>
                <a:spcPts val="1555"/>
              </a:spcBef>
            </a:pPr>
            <a:r>
              <a:rPr dirty="0" sz="1100">
                <a:solidFill>
                  <a:srgbClr val="9DCCC7"/>
                </a:solidFill>
                <a:latin typeface="Calibri"/>
                <a:cs typeface="Calibri"/>
              </a:rPr>
              <a:t>Numerical</a:t>
            </a:r>
            <a:r>
              <a:rPr dirty="0" sz="1100" spc="-55">
                <a:solidFill>
                  <a:srgbClr val="9DCCC7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9DCCC7"/>
                </a:solidFill>
                <a:latin typeface="Calibri"/>
                <a:cs typeface="Calibri"/>
              </a:rPr>
              <a:t>computations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19684" y="2354391"/>
            <a:ext cx="2790190" cy="1235075"/>
            <a:chOff x="319684" y="2354391"/>
            <a:chExt cx="2790190" cy="1235075"/>
          </a:xfrm>
        </p:grpSpPr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9684" y="2354391"/>
              <a:ext cx="2789643" cy="123480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65759" y="2377442"/>
              <a:ext cx="2697480" cy="1143000"/>
            </a:xfrm>
            <a:custGeom>
              <a:avLst/>
              <a:gdLst/>
              <a:ahLst/>
              <a:cxnLst/>
              <a:rect l="l" t="t" r="r" b="b"/>
              <a:pathLst>
                <a:path w="2697480" h="1143000">
                  <a:moveTo>
                    <a:pt x="2697124" y="0"/>
                  </a:moveTo>
                  <a:lnTo>
                    <a:pt x="0" y="0"/>
                  </a:lnTo>
                  <a:lnTo>
                    <a:pt x="0" y="1142644"/>
                  </a:lnTo>
                  <a:lnTo>
                    <a:pt x="1348562" y="1142644"/>
                  </a:lnTo>
                  <a:lnTo>
                    <a:pt x="2697124" y="1142644"/>
                  </a:lnTo>
                  <a:lnTo>
                    <a:pt x="2697124" y="0"/>
                  </a:lnTo>
                  <a:close/>
                </a:path>
              </a:pathLst>
            </a:custGeom>
            <a:solidFill>
              <a:srgbClr val="192D3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5437" y="2360512"/>
              <a:ext cx="171005" cy="122220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65404" y="2377442"/>
              <a:ext cx="91440" cy="1143000"/>
            </a:xfrm>
            <a:custGeom>
              <a:avLst/>
              <a:gdLst/>
              <a:ahLst/>
              <a:cxnLst/>
              <a:rect l="l" t="t" r="r" b="b"/>
              <a:pathLst>
                <a:path w="91440" h="1143000">
                  <a:moveTo>
                    <a:pt x="91071" y="0"/>
                  </a:moveTo>
                  <a:lnTo>
                    <a:pt x="0" y="0"/>
                  </a:lnTo>
                  <a:lnTo>
                    <a:pt x="0" y="1142644"/>
                  </a:lnTo>
                  <a:lnTo>
                    <a:pt x="45720" y="1142644"/>
                  </a:lnTo>
                  <a:lnTo>
                    <a:pt x="91071" y="1142644"/>
                  </a:lnTo>
                  <a:lnTo>
                    <a:pt x="91071" y="0"/>
                  </a:lnTo>
                  <a:close/>
                </a:path>
              </a:pathLst>
            </a:custGeom>
            <a:solidFill>
              <a:srgbClr val="10547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365759" y="2377442"/>
            <a:ext cx="2697480" cy="1143000"/>
          </a:xfrm>
          <a:prstGeom prst="rect">
            <a:avLst/>
          </a:prstGeom>
          <a:ln w="12599">
            <a:solidFill>
              <a:srgbClr val="29495F"/>
            </a:solidFill>
          </a:ln>
        </p:spPr>
        <p:txBody>
          <a:bodyPr wrap="square" lIns="0" tIns="136525" rIns="0" bIns="0" rtlCol="0" vert="horz">
            <a:spAutoFit/>
          </a:bodyPr>
          <a:lstStyle/>
          <a:p>
            <a:pPr marL="272415">
              <a:lnSpc>
                <a:spcPct val="100000"/>
              </a:lnSpc>
              <a:spcBef>
                <a:spcPts val="1075"/>
              </a:spcBef>
            </a:pPr>
            <a:r>
              <a:rPr dirty="0" sz="1400" spc="-10" b="1">
                <a:solidFill>
                  <a:srgbClr val="5DE9D3"/>
                </a:solidFill>
                <a:latin typeface="Calibri"/>
                <a:cs typeface="Calibri"/>
              </a:rPr>
              <a:t>Matplotlib</a:t>
            </a:r>
            <a:endParaRPr sz="1400">
              <a:latin typeface="Calibri"/>
              <a:cs typeface="Calibri"/>
            </a:endParaRPr>
          </a:p>
          <a:p>
            <a:pPr marL="272415">
              <a:lnSpc>
                <a:spcPct val="100000"/>
              </a:lnSpc>
              <a:spcBef>
                <a:spcPts val="1555"/>
              </a:spcBef>
            </a:pPr>
            <a:r>
              <a:rPr dirty="0" sz="1100">
                <a:solidFill>
                  <a:srgbClr val="9DCCC7"/>
                </a:solidFill>
                <a:latin typeface="Calibri"/>
                <a:cs typeface="Calibri"/>
              </a:rPr>
              <a:t>Static</a:t>
            </a:r>
            <a:r>
              <a:rPr dirty="0" sz="1100" spc="-30">
                <a:solidFill>
                  <a:srgbClr val="9DCCC7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DCCC7"/>
                </a:solidFill>
                <a:latin typeface="Calibri"/>
                <a:cs typeface="Calibri"/>
              </a:rPr>
              <a:t>data</a:t>
            </a:r>
            <a:r>
              <a:rPr dirty="0" sz="1100" spc="-30">
                <a:solidFill>
                  <a:srgbClr val="9DCCC7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9DCCC7"/>
                </a:solidFill>
                <a:latin typeface="Calibri"/>
                <a:cs typeface="Calibri"/>
              </a:rPr>
              <a:t>visualization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245764" y="2354391"/>
            <a:ext cx="2790190" cy="1235075"/>
            <a:chOff x="3245764" y="2354391"/>
            <a:chExt cx="2790190" cy="1235075"/>
          </a:xfrm>
        </p:grpSpPr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45764" y="2354391"/>
              <a:ext cx="2789643" cy="1234808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291840" y="2377442"/>
              <a:ext cx="2697480" cy="1143000"/>
            </a:xfrm>
            <a:custGeom>
              <a:avLst/>
              <a:gdLst/>
              <a:ahLst/>
              <a:cxnLst/>
              <a:rect l="l" t="t" r="r" b="b"/>
              <a:pathLst>
                <a:path w="2697479" h="1143000">
                  <a:moveTo>
                    <a:pt x="2697124" y="0"/>
                  </a:moveTo>
                  <a:lnTo>
                    <a:pt x="0" y="0"/>
                  </a:lnTo>
                  <a:lnTo>
                    <a:pt x="0" y="1142644"/>
                  </a:lnTo>
                  <a:lnTo>
                    <a:pt x="1348562" y="1142644"/>
                  </a:lnTo>
                  <a:lnTo>
                    <a:pt x="2697124" y="1142644"/>
                  </a:lnTo>
                  <a:lnTo>
                    <a:pt x="2697124" y="0"/>
                  </a:lnTo>
                  <a:close/>
                </a:path>
              </a:pathLst>
            </a:custGeom>
            <a:solidFill>
              <a:srgbClr val="192D3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51517" y="2360512"/>
              <a:ext cx="171005" cy="1222209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3291484" y="2377442"/>
              <a:ext cx="91440" cy="1143000"/>
            </a:xfrm>
            <a:custGeom>
              <a:avLst/>
              <a:gdLst/>
              <a:ahLst/>
              <a:cxnLst/>
              <a:rect l="l" t="t" r="r" b="b"/>
              <a:pathLst>
                <a:path w="91439" h="1143000">
                  <a:moveTo>
                    <a:pt x="91071" y="0"/>
                  </a:moveTo>
                  <a:lnTo>
                    <a:pt x="0" y="0"/>
                  </a:lnTo>
                  <a:lnTo>
                    <a:pt x="0" y="1142644"/>
                  </a:lnTo>
                  <a:lnTo>
                    <a:pt x="45719" y="1142644"/>
                  </a:lnTo>
                  <a:lnTo>
                    <a:pt x="91071" y="1142644"/>
                  </a:lnTo>
                  <a:lnTo>
                    <a:pt x="91071" y="0"/>
                  </a:lnTo>
                  <a:close/>
                </a:path>
              </a:pathLst>
            </a:custGeom>
            <a:solidFill>
              <a:srgbClr val="4BBAB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3291840" y="2377442"/>
            <a:ext cx="2697480" cy="1143000"/>
          </a:xfrm>
          <a:prstGeom prst="rect">
            <a:avLst/>
          </a:prstGeom>
          <a:ln w="12599">
            <a:solidFill>
              <a:srgbClr val="29495F"/>
            </a:solidFill>
          </a:ln>
        </p:spPr>
        <p:txBody>
          <a:bodyPr wrap="square" lIns="0" tIns="136525" rIns="0" bIns="0" rtlCol="0" vert="horz">
            <a:spAutoFit/>
          </a:bodyPr>
          <a:lstStyle/>
          <a:p>
            <a:pPr marL="272415">
              <a:lnSpc>
                <a:spcPct val="100000"/>
              </a:lnSpc>
              <a:spcBef>
                <a:spcPts val="1075"/>
              </a:spcBef>
            </a:pPr>
            <a:r>
              <a:rPr dirty="0" sz="1400" spc="-10" b="1">
                <a:solidFill>
                  <a:srgbClr val="5DE9D3"/>
                </a:solidFill>
                <a:latin typeface="Calibri"/>
                <a:cs typeface="Calibri"/>
              </a:rPr>
              <a:t>Seaborn</a:t>
            </a:r>
            <a:endParaRPr sz="1400">
              <a:latin typeface="Calibri"/>
              <a:cs typeface="Calibri"/>
            </a:endParaRPr>
          </a:p>
          <a:p>
            <a:pPr marL="272415">
              <a:lnSpc>
                <a:spcPct val="100000"/>
              </a:lnSpc>
              <a:spcBef>
                <a:spcPts val="1555"/>
              </a:spcBef>
            </a:pPr>
            <a:r>
              <a:rPr dirty="0" sz="1100" spc="-10">
                <a:solidFill>
                  <a:srgbClr val="9DCCC7"/>
                </a:solidFill>
                <a:latin typeface="Calibri"/>
                <a:cs typeface="Calibri"/>
              </a:rPr>
              <a:t>Statistical</a:t>
            </a:r>
            <a:r>
              <a:rPr dirty="0" sz="1100" spc="15">
                <a:solidFill>
                  <a:srgbClr val="9DCCC7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DCCC7"/>
                </a:solidFill>
                <a:latin typeface="Calibri"/>
                <a:cs typeface="Calibri"/>
              </a:rPr>
              <a:t>chart</a:t>
            </a:r>
            <a:r>
              <a:rPr dirty="0" sz="1100" spc="10">
                <a:solidFill>
                  <a:srgbClr val="9DCCC7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9DCCC7"/>
                </a:solidFill>
                <a:latin typeface="Calibri"/>
                <a:cs typeface="Calibri"/>
              </a:rPr>
              <a:t>library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171844" y="2354391"/>
            <a:ext cx="2790190" cy="1235075"/>
            <a:chOff x="6171844" y="2354391"/>
            <a:chExt cx="2790190" cy="1235075"/>
          </a:xfrm>
        </p:grpSpPr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71844" y="2354391"/>
              <a:ext cx="2789643" cy="1234808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217919" y="2377442"/>
              <a:ext cx="2697480" cy="1143000"/>
            </a:xfrm>
            <a:custGeom>
              <a:avLst/>
              <a:gdLst/>
              <a:ahLst/>
              <a:cxnLst/>
              <a:rect l="l" t="t" r="r" b="b"/>
              <a:pathLst>
                <a:path w="2697479" h="1143000">
                  <a:moveTo>
                    <a:pt x="2697124" y="0"/>
                  </a:moveTo>
                  <a:lnTo>
                    <a:pt x="0" y="0"/>
                  </a:lnTo>
                  <a:lnTo>
                    <a:pt x="0" y="1142644"/>
                  </a:lnTo>
                  <a:lnTo>
                    <a:pt x="1348562" y="1142644"/>
                  </a:lnTo>
                  <a:lnTo>
                    <a:pt x="2697124" y="1142644"/>
                  </a:lnTo>
                  <a:lnTo>
                    <a:pt x="2697124" y="0"/>
                  </a:lnTo>
                  <a:close/>
                </a:path>
              </a:pathLst>
            </a:custGeom>
            <a:solidFill>
              <a:srgbClr val="192D3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77597" y="2360512"/>
              <a:ext cx="171005" cy="122220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217564" y="2377442"/>
              <a:ext cx="91440" cy="1143000"/>
            </a:xfrm>
            <a:custGeom>
              <a:avLst/>
              <a:gdLst/>
              <a:ahLst/>
              <a:cxnLst/>
              <a:rect l="l" t="t" r="r" b="b"/>
              <a:pathLst>
                <a:path w="91439" h="1143000">
                  <a:moveTo>
                    <a:pt x="91071" y="0"/>
                  </a:moveTo>
                  <a:lnTo>
                    <a:pt x="0" y="0"/>
                  </a:lnTo>
                  <a:lnTo>
                    <a:pt x="0" y="1142644"/>
                  </a:lnTo>
                  <a:lnTo>
                    <a:pt x="45720" y="1142644"/>
                  </a:lnTo>
                  <a:lnTo>
                    <a:pt x="91071" y="1142644"/>
                  </a:lnTo>
                  <a:lnTo>
                    <a:pt x="91071" y="0"/>
                  </a:lnTo>
                  <a:close/>
                </a:path>
              </a:pathLst>
            </a:custGeom>
            <a:solidFill>
              <a:srgbClr val="FF4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6217920" y="2377442"/>
            <a:ext cx="2697480" cy="1143000"/>
          </a:xfrm>
          <a:prstGeom prst="rect">
            <a:avLst/>
          </a:prstGeom>
          <a:ln w="12599">
            <a:solidFill>
              <a:srgbClr val="29495F"/>
            </a:solidFill>
          </a:ln>
        </p:spPr>
        <p:txBody>
          <a:bodyPr wrap="square" lIns="0" tIns="136525" rIns="0" bIns="0" rtlCol="0" vert="horz">
            <a:spAutoFit/>
          </a:bodyPr>
          <a:lstStyle/>
          <a:p>
            <a:pPr marL="272415">
              <a:lnSpc>
                <a:spcPct val="100000"/>
              </a:lnSpc>
              <a:spcBef>
                <a:spcPts val="1075"/>
              </a:spcBef>
            </a:pPr>
            <a:r>
              <a:rPr dirty="0" sz="1400" spc="-10" b="1">
                <a:solidFill>
                  <a:srgbClr val="5DE9D3"/>
                </a:solidFill>
                <a:latin typeface="Calibri"/>
                <a:cs typeface="Calibri"/>
              </a:rPr>
              <a:t>Streamlit</a:t>
            </a:r>
            <a:endParaRPr sz="1400">
              <a:latin typeface="Calibri"/>
              <a:cs typeface="Calibri"/>
            </a:endParaRPr>
          </a:p>
          <a:p>
            <a:pPr marL="272415">
              <a:lnSpc>
                <a:spcPct val="100000"/>
              </a:lnSpc>
              <a:spcBef>
                <a:spcPts val="1555"/>
              </a:spcBef>
            </a:pPr>
            <a:r>
              <a:rPr dirty="0" sz="1100" spc="-10">
                <a:solidFill>
                  <a:srgbClr val="9DCCC7"/>
                </a:solidFill>
                <a:latin typeface="Calibri"/>
                <a:cs typeface="Calibri"/>
              </a:rPr>
              <a:t>Interactive</a:t>
            </a:r>
            <a:r>
              <a:rPr dirty="0" sz="1100" spc="-15">
                <a:solidFill>
                  <a:srgbClr val="9DCCC7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DCCC7"/>
                </a:solidFill>
                <a:latin typeface="Calibri"/>
                <a:cs typeface="Calibri"/>
              </a:rPr>
              <a:t>web</a:t>
            </a:r>
            <a:r>
              <a:rPr dirty="0" sz="1100" spc="-10">
                <a:solidFill>
                  <a:srgbClr val="9DCCC7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DCCC7"/>
                </a:solidFill>
                <a:latin typeface="Calibri"/>
                <a:cs typeface="Calibri"/>
              </a:rPr>
              <a:t>app</a:t>
            </a:r>
            <a:r>
              <a:rPr dirty="0" sz="1100" spc="-5">
                <a:solidFill>
                  <a:srgbClr val="9DCCC7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9DCCC7"/>
                </a:solidFill>
                <a:latin typeface="Calibri"/>
                <a:cs typeface="Calibri"/>
              </a:rPr>
              <a:t>deployment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473022" y="4741102"/>
            <a:ext cx="620268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4180" algn="l"/>
                <a:tab pos="2757805" algn="l"/>
                <a:tab pos="3032125" algn="l"/>
              </a:tabLst>
            </a:pPr>
            <a:r>
              <a:rPr dirty="0" sz="900" spc="-20">
                <a:solidFill>
                  <a:srgbClr val="5DE9D3"/>
                </a:solidFill>
                <a:latin typeface="Courier New"/>
                <a:cs typeface="Courier New"/>
              </a:rPr>
              <a:t>Run:</a:t>
            </a:r>
            <a:r>
              <a:rPr dirty="0" sz="900">
                <a:solidFill>
                  <a:srgbClr val="5DE9D3"/>
                </a:solidFill>
                <a:latin typeface="Courier New"/>
                <a:cs typeface="Courier New"/>
              </a:rPr>
              <a:t>	pip</a:t>
            </a:r>
            <a:r>
              <a:rPr dirty="0" sz="900" spc="-15">
                <a:solidFill>
                  <a:srgbClr val="5DE9D3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5DE9D3"/>
                </a:solidFill>
                <a:latin typeface="Courier New"/>
                <a:cs typeface="Courier New"/>
              </a:rPr>
              <a:t>install</a:t>
            </a:r>
            <a:r>
              <a:rPr dirty="0" sz="900" spc="-10">
                <a:solidFill>
                  <a:srgbClr val="5DE9D3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5DE9D3"/>
                </a:solidFill>
                <a:latin typeface="Courier New"/>
                <a:cs typeface="Courier New"/>
              </a:rPr>
              <a:t>-r</a:t>
            </a:r>
            <a:r>
              <a:rPr dirty="0" sz="900" spc="-10">
                <a:solidFill>
                  <a:srgbClr val="5DE9D3"/>
                </a:solidFill>
                <a:latin typeface="Courier New"/>
                <a:cs typeface="Courier New"/>
              </a:rPr>
              <a:t> requirements.txt</a:t>
            </a:r>
            <a:r>
              <a:rPr dirty="0" sz="900">
                <a:solidFill>
                  <a:srgbClr val="5DE9D3"/>
                </a:solidFill>
                <a:latin typeface="Courier New"/>
                <a:cs typeface="Courier New"/>
              </a:rPr>
              <a:t>	</a:t>
            </a:r>
            <a:r>
              <a:rPr dirty="0" sz="900" spc="-50">
                <a:solidFill>
                  <a:srgbClr val="5DE9D3"/>
                </a:solidFill>
                <a:latin typeface="Courier New"/>
                <a:cs typeface="Courier New"/>
              </a:rPr>
              <a:t>|</a:t>
            </a:r>
            <a:r>
              <a:rPr dirty="0" sz="900">
                <a:solidFill>
                  <a:srgbClr val="5DE9D3"/>
                </a:solidFill>
                <a:latin typeface="Courier New"/>
                <a:cs typeface="Courier New"/>
              </a:rPr>
              <a:t>	streamlit</a:t>
            </a:r>
            <a:r>
              <a:rPr dirty="0" sz="900" spc="-35">
                <a:solidFill>
                  <a:srgbClr val="5DE9D3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5DE9D3"/>
                </a:solidFill>
                <a:latin typeface="Courier New"/>
                <a:cs typeface="Courier New"/>
              </a:rPr>
              <a:t>run</a:t>
            </a:r>
            <a:r>
              <a:rPr dirty="0" sz="900" spc="-25">
                <a:solidFill>
                  <a:srgbClr val="5DE9D3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5DE9D3"/>
                </a:solidFill>
                <a:latin typeface="Courier New"/>
                <a:cs typeface="Courier New"/>
              </a:rPr>
              <a:t>module/app.py</a:t>
            </a:r>
            <a:r>
              <a:rPr dirty="0" sz="900" spc="-25">
                <a:solidFill>
                  <a:srgbClr val="5DE9D3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5DE9D3"/>
                </a:solidFill>
                <a:latin typeface="Courier New"/>
                <a:cs typeface="Courier New"/>
              </a:rPr>
              <a:t>-</a:t>
            </a:r>
            <a:r>
              <a:rPr dirty="0" sz="900" spc="-10">
                <a:solidFill>
                  <a:srgbClr val="5DE9D3"/>
                </a:solidFill>
                <a:latin typeface="Courier New"/>
                <a:cs typeface="Courier New"/>
              </a:rPr>
              <a:t>-</a:t>
            </a:r>
            <a:r>
              <a:rPr dirty="0" sz="900">
                <a:solidFill>
                  <a:srgbClr val="5DE9D3"/>
                </a:solidFill>
                <a:latin typeface="Courier New"/>
                <a:cs typeface="Courier New"/>
              </a:rPr>
              <a:t>server.port</a:t>
            </a:r>
            <a:r>
              <a:rPr dirty="0" sz="900" spc="-20">
                <a:solidFill>
                  <a:srgbClr val="5DE9D3"/>
                </a:solidFill>
                <a:latin typeface="Courier New"/>
                <a:cs typeface="Courier New"/>
              </a:rPr>
              <a:t> 8501</a:t>
            </a:r>
            <a:endParaRPr sz="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5"/>
              <a:t>Top</a:t>
            </a:r>
            <a:r>
              <a:rPr dirty="0" spc="-85"/>
              <a:t> </a:t>
            </a:r>
            <a:r>
              <a:rPr dirty="0" spc="-10"/>
              <a:t>Findings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19316" y="936716"/>
            <a:ext cx="8505190" cy="768985"/>
            <a:chOff x="319316" y="936716"/>
            <a:chExt cx="8505190" cy="7689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9316" y="936716"/>
              <a:ext cx="8504643" cy="76860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65404" y="959766"/>
              <a:ext cx="8412480" cy="676910"/>
            </a:xfrm>
            <a:custGeom>
              <a:avLst/>
              <a:gdLst/>
              <a:ahLst/>
              <a:cxnLst/>
              <a:rect l="l" t="t" r="r" b="b"/>
              <a:pathLst>
                <a:path w="8412480" h="676910">
                  <a:moveTo>
                    <a:pt x="8412111" y="0"/>
                  </a:moveTo>
                  <a:lnTo>
                    <a:pt x="0" y="0"/>
                  </a:lnTo>
                  <a:lnTo>
                    <a:pt x="0" y="676440"/>
                  </a:lnTo>
                  <a:lnTo>
                    <a:pt x="4206240" y="676440"/>
                  </a:lnTo>
                  <a:lnTo>
                    <a:pt x="8412111" y="676440"/>
                  </a:lnTo>
                  <a:lnTo>
                    <a:pt x="8412111" y="0"/>
                  </a:lnTo>
                  <a:close/>
                </a:path>
              </a:pathLst>
            </a:custGeom>
            <a:solidFill>
              <a:srgbClr val="EFFC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65404" y="959766"/>
              <a:ext cx="8412480" cy="676910"/>
            </a:xfrm>
            <a:custGeom>
              <a:avLst/>
              <a:gdLst/>
              <a:ahLst/>
              <a:cxnLst/>
              <a:rect l="l" t="t" r="r" b="b"/>
              <a:pathLst>
                <a:path w="8412480" h="676910">
                  <a:moveTo>
                    <a:pt x="4206240" y="676440"/>
                  </a:moveTo>
                  <a:lnTo>
                    <a:pt x="0" y="676440"/>
                  </a:lnTo>
                  <a:lnTo>
                    <a:pt x="0" y="0"/>
                  </a:lnTo>
                  <a:lnTo>
                    <a:pt x="8412111" y="0"/>
                  </a:lnTo>
                  <a:lnTo>
                    <a:pt x="8412111" y="676440"/>
                  </a:lnTo>
                  <a:lnTo>
                    <a:pt x="4206240" y="676440"/>
                  </a:lnTo>
                  <a:close/>
                </a:path>
              </a:pathLst>
            </a:custGeom>
            <a:ln w="12599">
              <a:solidFill>
                <a:srgbClr val="CCFA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5805" y="942837"/>
              <a:ext cx="737997" cy="75600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65759" y="959766"/>
              <a:ext cx="658495" cy="676910"/>
            </a:xfrm>
            <a:custGeom>
              <a:avLst/>
              <a:gdLst/>
              <a:ahLst/>
              <a:cxnLst/>
              <a:rect l="l" t="t" r="r" b="b"/>
              <a:pathLst>
                <a:path w="658494" h="676910">
                  <a:moveTo>
                    <a:pt x="658075" y="0"/>
                  </a:moveTo>
                  <a:lnTo>
                    <a:pt x="0" y="0"/>
                  </a:lnTo>
                  <a:lnTo>
                    <a:pt x="0" y="676440"/>
                  </a:lnTo>
                  <a:lnTo>
                    <a:pt x="329044" y="676440"/>
                  </a:lnTo>
                  <a:lnTo>
                    <a:pt x="658075" y="676440"/>
                  </a:lnTo>
                  <a:lnTo>
                    <a:pt x="658075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592455" y="992418"/>
            <a:ext cx="2057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92580" y="1028778"/>
            <a:ext cx="4091940" cy="4705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C1A29"/>
                </a:solidFill>
                <a:latin typeface="Calibri"/>
                <a:cs typeface="Calibri"/>
              </a:rPr>
              <a:t>Python</a:t>
            </a:r>
            <a:r>
              <a:rPr dirty="0" sz="1200" spc="-15" b="1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C1A29"/>
                </a:solidFill>
                <a:latin typeface="Calibri"/>
                <a:cs typeface="Calibri"/>
              </a:rPr>
              <a:t>&amp;</a:t>
            </a:r>
            <a:r>
              <a:rPr dirty="0" sz="1200" spc="-20" b="1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C1A29"/>
                </a:solidFill>
                <a:latin typeface="Calibri"/>
                <a:cs typeface="Calibri"/>
              </a:rPr>
              <a:t>SQL</a:t>
            </a:r>
            <a:r>
              <a:rPr dirty="0" sz="1200" spc="-35" b="1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C1A29"/>
                </a:solidFill>
                <a:latin typeface="Calibri"/>
                <a:cs typeface="Calibri"/>
              </a:rPr>
              <a:t>Dominate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Python</a:t>
            </a:r>
            <a:r>
              <a:rPr dirty="0" sz="1000" spc="-3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(72%)</a:t>
            </a:r>
            <a:r>
              <a:rPr dirty="0" sz="1000" spc="-2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and</a:t>
            </a:r>
            <a:r>
              <a:rPr dirty="0" sz="1000" spc="-2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SQL</a:t>
            </a:r>
            <a:r>
              <a:rPr dirty="0" sz="1000" spc="-3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(65%)</a:t>
            </a:r>
            <a:r>
              <a:rPr dirty="0" sz="1000" spc="-2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are</a:t>
            </a:r>
            <a:r>
              <a:rPr dirty="0" sz="1000" spc="-1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the</a:t>
            </a:r>
            <a:r>
              <a:rPr dirty="0" sz="1000" spc="-2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top</a:t>
            </a:r>
            <a:r>
              <a:rPr dirty="0" sz="1000" spc="-3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2</a:t>
            </a:r>
            <a:r>
              <a:rPr dirty="0" sz="1000" spc="-1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3738A"/>
                </a:solidFill>
                <a:latin typeface="Calibri"/>
                <a:cs typeface="Calibri"/>
              </a:rPr>
              <a:t>demanded</a:t>
            </a:r>
            <a:r>
              <a:rPr dirty="0" sz="1000" spc="-2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skills</a:t>
            </a:r>
            <a:r>
              <a:rPr dirty="0" sz="1000" spc="-3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across</a:t>
            </a:r>
            <a:r>
              <a:rPr dirty="0" sz="1000" spc="-3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all</a:t>
            </a:r>
            <a:r>
              <a:rPr dirty="0" sz="1000" spc="-2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3738A"/>
                </a:solidFill>
                <a:latin typeface="Calibri"/>
                <a:cs typeface="Calibri"/>
              </a:rPr>
              <a:t>industries.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19316" y="1732320"/>
            <a:ext cx="8505190" cy="768985"/>
            <a:chOff x="319316" y="1732320"/>
            <a:chExt cx="8505190" cy="76898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9316" y="1732320"/>
              <a:ext cx="8504643" cy="76860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65404" y="1755357"/>
              <a:ext cx="8412480" cy="676910"/>
            </a:xfrm>
            <a:custGeom>
              <a:avLst/>
              <a:gdLst/>
              <a:ahLst/>
              <a:cxnLst/>
              <a:rect l="l" t="t" r="r" b="b"/>
              <a:pathLst>
                <a:path w="8412480" h="676910">
                  <a:moveTo>
                    <a:pt x="8412111" y="0"/>
                  </a:moveTo>
                  <a:lnTo>
                    <a:pt x="0" y="0"/>
                  </a:lnTo>
                  <a:lnTo>
                    <a:pt x="0" y="676440"/>
                  </a:lnTo>
                  <a:lnTo>
                    <a:pt x="4206240" y="676440"/>
                  </a:lnTo>
                  <a:lnTo>
                    <a:pt x="8412111" y="676440"/>
                  </a:lnTo>
                  <a:lnTo>
                    <a:pt x="84121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65404" y="1755357"/>
              <a:ext cx="8412480" cy="676910"/>
            </a:xfrm>
            <a:custGeom>
              <a:avLst/>
              <a:gdLst/>
              <a:ahLst/>
              <a:cxnLst/>
              <a:rect l="l" t="t" r="r" b="b"/>
              <a:pathLst>
                <a:path w="8412480" h="676910">
                  <a:moveTo>
                    <a:pt x="4206240" y="676440"/>
                  </a:moveTo>
                  <a:lnTo>
                    <a:pt x="0" y="676440"/>
                  </a:lnTo>
                  <a:lnTo>
                    <a:pt x="0" y="0"/>
                  </a:lnTo>
                  <a:lnTo>
                    <a:pt x="8412111" y="0"/>
                  </a:lnTo>
                  <a:lnTo>
                    <a:pt x="8412111" y="676440"/>
                  </a:lnTo>
                  <a:lnTo>
                    <a:pt x="4206240" y="676440"/>
                  </a:lnTo>
                  <a:close/>
                </a:path>
              </a:pathLst>
            </a:custGeom>
            <a:ln w="12599">
              <a:solidFill>
                <a:srgbClr val="CCFA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5805" y="1738428"/>
              <a:ext cx="737997" cy="75601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65759" y="1755357"/>
              <a:ext cx="658495" cy="676910"/>
            </a:xfrm>
            <a:custGeom>
              <a:avLst/>
              <a:gdLst/>
              <a:ahLst/>
              <a:cxnLst/>
              <a:rect l="l" t="t" r="r" b="b"/>
              <a:pathLst>
                <a:path w="658494" h="676910">
                  <a:moveTo>
                    <a:pt x="658075" y="0"/>
                  </a:moveTo>
                  <a:lnTo>
                    <a:pt x="0" y="0"/>
                  </a:lnTo>
                  <a:lnTo>
                    <a:pt x="0" y="676440"/>
                  </a:lnTo>
                  <a:lnTo>
                    <a:pt x="329044" y="676440"/>
                  </a:lnTo>
                  <a:lnTo>
                    <a:pt x="658075" y="676440"/>
                  </a:lnTo>
                  <a:lnTo>
                    <a:pt x="658075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592455" y="1788022"/>
            <a:ext cx="2057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02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92580" y="1824014"/>
            <a:ext cx="3551554" cy="471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C1A29"/>
                </a:solidFill>
                <a:latin typeface="Calibri"/>
                <a:cs typeface="Calibri"/>
              </a:rPr>
              <a:t>IT</a:t>
            </a:r>
            <a:r>
              <a:rPr dirty="0" sz="1200" spc="-30" b="1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C1A29"/>
                </a:solidFill>
                <a:latin typeface="Calibri"/>
                <a:cs typeface="Calibri"/>
              </a:rPr>
              <a:t>&amp;</a:t>
            </a:r>
            <a:r>
              <a:rPr dirty="0" sz="1200" spc="-25" b="1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C1A29"/>
                </a:solidFill>
                <a:latin typeface="Calibri"/>
                <a:cs typeface="Calibri"/>
              </a:rPr>
              <a:t>Data</a:t>
            </a:r>
            <a:r>
              <a:rPr dirty="0" sz="1200" spc="-35" b="1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C1A29"/>
                </a:solidFill>
                <a:latin typeface="Calibri"/>
                <a:cs typeface="Calibri"/>
              </a:rPr>
              <a:t>Science</a:t>
            </a:r>
            <a:r>
              <a:rPr dirty="0" sz="1200" spc="-30" b="1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C1A29"/>
                </a:solidFill>
                <a:latin typeface="Calibri"/>
                <a:cs typeface="Calibri"/>
              </a:rPr>
              <a:t>Lead</a:t>
            </a:r>
            <a:r>
              <a:rPr dirty="0" sz="1200" spc="-25" b="1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C1A29"/>
                </a:solidFill>
                <a:latin typeface="Calibri"/>
                <a:cs typeface="Calibri"/>
              </a:rPr>
              <a:t>Hiring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000" spc="-20">
                <a:solidFill>
                  <a:srgbClr val="63738A"/>
                </a:solidFill>
                <a:latin typeface="Calibri"/>
                <a:cs typeface="Calibri"/>
              </a:rPr>
              <a:t>Together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they</a:t>
            </a:r>
            <a:r>
              <a:rPr dirty="0" sz="1000" spc="-2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account</a:t>
            </a:r>
            <a:r>
              <a:rPr dirty="0" sz="1000" spc="-1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for</a:t>
            </a:r>
            <a:r>
              <a:rPr dirty="0" sz="1000" spc="-2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over</a:t>
            </a:r>
            <a:r>
              <a:rPr dirty="0" sz="1000" spc="-2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57%</a:t>
            </a:r>
            <a:r>
              <a:rPr dirty="0" sz="1000" spc="-2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of</a:t>
            </a:r>
            <a:r>
              <a:rPr dirty="0" sz="1000" spc="-2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all</a:t>
            </a:r>
            <a:r>
              <a:rPr dirty="0" sz="1000" spc="-3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job</a:t>
            </a:r>
            <a:r>
              <a:rPr dirty="0" sz="1000" spc="-3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3738A"/>
                </a:solidFill>
                <a:latin typeface="Calibri"/>
                <a:cs typeface="Calibri"/>
              </a:rPr>
              <a:t>postings</a:t>
            </a:r>
            <a:r>
              <a:rPr dirty="0" sz="1000" spc="-2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in</a:t>
            </a:r>
            <a:r>
              <a:rPr dirty="0" sz="1000" spc="-2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our</a:t>
            </a:r>
            <a:r>
              <a:rPr dirty="0" sz="1000" spc="-1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3738A"/>
                </a:solidFill>
                <a:latin typeface="Calibri"/>
                <a:cs typeface="Calibri"/>
              </a:rPr>
              <a:t>dataset.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19316" y="2527911"/>
            <a:ext cx="8505190" cy="768985"/>
            <a:chOff x="319316" y="2527911"/>
            <a:chExt cx="8505190" cy="768985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9316" y="2527911"/>
              <a:ext cx="8504643" cy="76861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65404" y="2550962"/>
              <a:ext cx="8412480" cy="676910"/>
            </a:xfrm>
            <a:custGeom>
              <a:avLst/>
              <a:gdLst/>
              <a:ahLst/>
              <a:cxnLst/>
              <a:rect l="l" t="t" r="r" b="b"/>
              <a:pathLst>
                <a:path w="8412480" h="676910">
                  <a:moveTo>
                    <a:pt x="8412111" y="0"/>
                  </a:moveTo>
                  <a:lnTo>
                    <a:pt x="0" y="0"/>
                  </a:lnTo>
                  <a:lnTo>
                    <a:pt x="0" y="676440"/>
                  </a:lnTo>
                  <a:lnTo>
                    <a:pt x="4206240" y="676440"/>
                  </a:lnTo>
                  <a:lnTo>
                    <a:pt x="8412111" y="676440"/>
                  </a:lnTo>
                  <a:lnTo>
                    <a:pt x="8412111" y="0"/>
                  </a:lnTo>
                  <a:close/>
                </a:path>
              </a:pathLst>
            </a:custGeom>
            <a:solidFill>
              <a:srgbClr val="EFFC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65404" y="2550962"/>
              <a:ext cx="8412480" cy="676910"/>
            </a:xfrm>
            <a:custGeom>
              <a:avLst/>
              <a:gdLst/>
              <a:ahLst/>
              <a:cxnLst/>
              <a:rect l="l" t="t" r="r" b="b"/>
              <a:pathLst>
                <a:path w="8412480" h="676910">
                  <a:moveTo>
                    <a:pt x="4206240" y="676440"/>
                  </a:moveTo>
                  <a:lnTo>
                    <a:pt x="0" y="676440"/>
                  </a:lnTo>
                  <a:lnTo>
                    <a:pt x="0" y="0"/>
                  </a:lnTo>
                  <a:lnTo>
                    <a:pt x="8412111" y="0"/>
                  </a:lnTo>
                  <a:lnTo>
                    <a:pt x="8412111" y="676440"/>
                  </a:lnTo>
                  <a:lnTo>
                    <a:pt x="4206240" y="676440"/>
                  </a:lnTo>
                  <a:close/>
                </a:path>
              </a:pathLst>
            </a:custGeom>
            <a:ln w="12599">
              <a:solidFill>
                <a:srgbClr val="CCFA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5805" y="2534033"/>
              <a:ext cx="737997" cy="75600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65759" y="2550962"/>
              <a:ext cx="658495" cy="676910"/>
            </a:xfrm>
            <a:custGeom>
              <a:avLst/>
              <a:gdLst/>
              <a:ahLst/>
              <a:cxnLst/>
              <a:rect l="l" t="t" r="r" b="b"/>
              <a:pathLst>
                <a:path w="658494" h="676910">
                  <a:moveTo>
                    <a:pt x="658075" y="0"/>
                  </a:moveTo>
                  <a:lnTo>
                    <a:pt x="0" y="0"/>
                  </a:lnTo>
                  <a:lnTo>
                    <a:pt x="0" y="676440"/>
                  </a:lnTo>
                  <a:lnTo>
                    <a:pt x="329044" y="676440"/>
                  </a:lnTo>
                  <a:lnTo>
                    <a:pt x="658075" y="676440"/>
                  </a:lnTo>
                  <a:lnTo>
                    <a:pt x="658075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592455" y="2583626"/>
            <a:ext cx="2057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03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92580" y="2619618"/>
            <a:ext cx="3732529" cy="471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C1A29"/>
                </a:solidFill>
                <a:latin typeface="Calibri"/>
                <a:cs typeface="Calibri"/>
              </a:rPr>
              <a:t>Metro</a:t>
            </a:r>
            <a:r>
              <a:rPr dirty="0" sz="1200" spc="-50" b="1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C1A29"/>
                </a:solidFill>
                <a:latin typeface="Calibri"/>
                <a:cs typeface="Calibri"/>
              </a:rPr>
              <a:t>Cities</a:t>
            </a:r>
            <a:r>
              <a:rPr dirty="0" sz="1200" spc="-40" b="1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C1A29"/>
                </a:solidFill>
                <a:latin typeface="Calibri"/>
                <a:cs typeface="Calibri"/>
              </a:rPr>
              <a:t>Are</a:t>
            </a:r>
            <a:r>
              <a:rPr dirty="0" sz="1200" spc="-45" b="1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C1A29"/>
                </a:solidFill>
                <a:latin typeface="Calibri"/>
                <a:cs typeface="Calibri"/>
              </a:rPr>
              <a:t>Hotspots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000" spc="-10">
                <a:solidFill>
                  <a:srgbClr val="63738A"/>
                </a:solidFill>
                <a:latin typeface="Calibri"/>
                <a:cs typeface="Calibri"/>
              </a:rPr>
              <a:t>Bangalore,</a:t>
            </a:r>
            <a:r>
              <a:rPr dirty="0" sz="1000" spc="-2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Mumbai</a:t>
            </a:r>
            <a:r>
              <a:rPr dirty="0" sz="1000" spc="-2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&amp;</a:t>
            </a:r>
            <a:r>
              <a:rPr dirty="0" sz="1000" spc="-3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Delhi</a:t>
            </a:r>
            <a:r>
              <a:rPr dirty="0" sz="1000" spc="-2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NCR</a:t>
            </a:r>
            <a:r>
              <a:rPr dirty="0" sz="1000" spc="-2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host</a:t>
            </a:r>
            <a:r>
              <a:rPr dirty="0" sz="1000" spc="-3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60%+</a:t>
            </a:r>
            <a:r>
              <a:rPr dirty="0" sz="1000" spc="-2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of</a:t>
            </a:r>
            <a:r>
              <a:rPr dirty="0" sz="1000" spc="-1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all</a:t>
            </a:r>
            <a:r>
              <a:rPr dirty="0" sz="1000" spc="-2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tech</a:t>
            </a:r>
            <a:r>
              <a:rPr dirty="0" sz="1000" spc="-2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job</a:t>
            </a:r>
            <a:r>
              <a:rPr dirty="0" sz="1000" spc="-2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3738A"/>
                </a:solidFill>
                <a:latin typeface="Calibri"/>
                <a:cs typeface="Calibri"/>
              </a:rPr>
              <a:t>opportunities.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19316" y="3323159"/>
            <a:ext cx="8505190" cy="768985"/>
            <a:chOff x="319316" y="3323159"/>
            <a:chExt cx="8505190" cy="768985"/>
          </a:xfrm>
        </p:grpSpPr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9316" y="3323159"/>
              <a:ext cx="8504643" cy="76860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65404" y="3346197"/>
              <a:ext cx="8412480" cy="676910"/>
            </a:xfrm>
            <a:custGeom>
              <a:avLst/>
              <a:gdLst/>
              <a:ahLst/>
              <a:cxnLst/>
              <a:rect l="l" t="t" r="r" b="b"/>
              <a:pathLst>
                <a:path w="8412480" h="676910">
                  <a:moveTo>
                    <a:pt x="8412111" y="0"/>
                  </a:moveTo>
                  <a:lnTo>
                    <a:pt x="0" y="0"/>
                  </a:lnTo>
                  <a:lnTo>
                    <a:pt x="0" y="676440"/>
                  </a:lnTo>
                  <a:lnTo>
                    <a:pt x="4206240" y="676440"/>
                  </a:lnTo>
                  <a:lnTo>
                    <a:pt x="8412111" y="676440"/>
                  </a:lnTo>
                  <a:lnTo>
                    <a:pt x="84121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65404" y="3346197"/>
              <a:ext cx="8412480" cy="676910"/>
            </a:xfrm>
            <a:custGeom>
              <a:avLst/>
              <a:gdLst/>
              <a:ahLst/>
              <a:cxnLst/>
              <a:rect l="l" t="t" r="r" b="b"/>
              <a:pathLst>
                <a:path w="8412480" h="676910">
                  <a:moveTo>
                    <a:pt x="4206240" y="676440"/>
                  </a:moveTo>
                  <a:lnTo>
                    <a:pt x="0" y="676440"/>
                  </a:lnTo>
                  <a:lnTo>
                    <a:pt x="0" y="0"/>
                  </a:lnTo>
                  <a:lnTo>
                    <a:pt x="8412111" y="0"/>
                  </a:lnTo>
                  <a:lnTo>
                    <a:pt x="8412111" y="676440"/>
                  </a:lnTo>
                  <a:lnTo>
                    <a:pt x="4206240" y="676440"/>
                  </a:lnTo>
                  <a:close/>
                </a:path>
              </a:pathLst>
            </a:custGeom>
            <a:ln w="12599">
              <a:solidFill>
                <a:srgbClr val="CCFA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5805" y="3329268"/>
              <a:ext cx="737997" cy="756018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65759" y="3346197"/>
              <a:ext cx="658495" cy="676910"/>
            </a:xfrm>
            <a:custGeom>
              <a:avLst/>
              <a:gdLst/>
              <a:ahLst/>
              <a:cxnLst/>
              <a:rect l="l" t="t" r="r" b="b"/>
              <a:pathLst>
                <a:path w="658494" h="676910">
                  <a:moveTo>
                    <a:pt x="658075" y="0"/>
                  </a:moveTo>
                  <a:lnTo>
                    <a:pt x="0" y="0"/>
                  </a:lnTo>
                  <a:lnTo>
                    <a:pt x="0" y="676440"/>
                  </a:lnTo>
                  <a:lnTo>
                    <a:pt x="329044" y="676440"/>
                  </a:lnTo>
                  <a:lnTo>
                    <a:pt x="658075" y="676440"/>
                  </a:lnTo>
                  <a:lnTo>
                    <a:pt x="658075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592455" y="3378862"/>
            <a:ext cx="2057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04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92580" y="3415222"/>
            <a:ext cx="4431665" cy="471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C1A29"/>
                </a:solidFill>
                <a:latin typeface="Calibri"/>
                <a:cs typeface="Calibri"/>
              </a:rPr>
              <a:t>Skills</a:t>
            </a:r>
            <a:r>
              <a:rPr dirty="0" sz="1200" spc="-50" b="1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C1A29"/>
                </a:solidFill>
                <a:latin typeface="Calibri"/>
                <a:cs typeface="Calibri"/>
              </a:rPr>
              <a:t>Shift</a:t>
            </a:r>
            <a:r>
              <a:rPr dirty="0" sz="1200" spc="-45" b="1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C1A29"/>
                </a:solidFill>
                <a:latin typeface="Calibri"/>
                <a:cs typeface="Calibri"/>
              </a:rPr>
              <a:t>with</a:t>
            </a:r>
            <a:r>
              <a:rPr dirty="0" sz="1200" spc="-45" b="1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C1A29"/>
                </a:solidFill>
                <a:latin typeface="Calibri"/>
                <a:cs typeface="Calibri"/>
              </a:rPr>
              <a:t>Seniority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000" spc="-10">
                <a:solidFill>
                  <a:srgbClr val="63738A"/>
                </a:solidFill>
                <a:latin typeface="Calibri"/>
                <a:cs typeface="Calibri"/>
              </a:rPr>
              <a:t>Entry-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level:</a:t>
            </a:r>
            <a:r>
              <a:rPr dirty="0" sz="1000" spc="-4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SQL</a:t>
            </a:r>
            <a:r>
              <a:rPr dirty="0" sz="1000" spc="-3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80%.</a:t>
            </a:r>
            <a:r>
              <a:rPr dirty="0" sz="1000" spc="-3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3738A"/>
                </a:solidFill>
                <a:latin typeface="Calibri"/>
                <a:cs typeface="Calibri"/>
              </a:rPr>
              <a:t>Senior-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level:</a:t>
            </a:r>
            <a:r>
              <a:rPr dirty="0" sz="1000" spc="-3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Cloud</a:t>
            </a:r>
            <a:r>
              <a:rPr dirty="0" sz="1000" spc="-3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3738A"/>
                </a:solidFill>
                <a:latin typeface="Calibri"/>
                <a:cs typeface="Calibri"/>
              </a:rPr>
              <a:t>platforms</a:t>
            </a:r>
            <a:r>
              <a:rPr dirty="0" sz="1000" spc="-3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60%.</a:t>
            </a:r>
            <a:r>
              <a:rPr dirty="0" sz="1000" spc="-3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Demands</a:t>
            </a:r>
            <a:r>
              <a:rPr dirty="0" sz="1000" spc="-2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3738A"/>
                </a:solidFill>
                <a:latin typeface="Calibri"/>
                <a:cs typeface="Calibri"/>
              </a:rPr>
              <a:t>evolve</a:t>
            </a:r>
            <a:r>
              <a:rPr dirty="0" sz="1000" spc="-3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3738A"/>
                </a:solidFill>
                <a:latin typeface="Calibri"/>
                <a:cs typeface="Calibri"/>
              </a:rPr>
              <a:t>significantly.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19316" y="4118751"/>
            <a:ext cx="8505190" cy="768985"/>
            <a:chOff x="319316" y="4118751"/>
            <a:chExt cx="8505190" cy="768985"/>
          </a:xfrm>
        </p:grpSpPr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9316" y="4118751"/>
              <a:ext cx="8504643" cy="768604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65404" y="4141802"/>
              <a:ext cx="8412480" cy="676910"/>
            </a:xfrm>
            <a:custGeom>
              <a:avLst/>
              <a:gdLst/>
              <a:ahLst/>
              <a:cxnLst/>
              <a:rect l="l" t="t" r="r" b="b"/>
              <a:pathLst>
                <a:path w="8412480" h="676910">
                  <a:moveTo>
                    <a:pt x="8412111" y="0"/>
                  </a:moveTo>
                  <a:lnTo>
                    <a:pt x="0" y="0"/>
                  </a:lnTo>
                  <a:lnTo>
                    <a:pt x="0" y="676440"/>
                  </a:lnTo>
                  <a:lnTo>
                    <a:pt x="4206240" y="676440"/>
                  </a:lnTo>
                  <a:lnTo>
                    <a:pt x="8412111" y="676440"/>
                  </a:lnTo>
                  <a:lnTo>
                    <a:pt x="8412111" y="0"/>
                  </a:lnTo>
                  <a:close/>
                </a:path>
              </a:pathLst>
            </a:custGeom>
            <a:solidFill>
              <a:srgbClr val="EFFC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65404" y="4141802"/>
              <a:ext cx="8412480" cy="676910"/>
            </a:xfrm>
            <a:custGeom>
              <a:avLst/>
              <a:gdLst/>
              <a:ahLst/>
              <a:cxnLst/>
              <a:rect l="l" t="t" r="r" b="b"/>
              <a:pathLst>
                <a:path w="8412480" h="676910">
                  <a:moveTo>
                    <a:pt x="4206240" y="676440"/>
                  </a:moveTo>
                  <a:lnTo>
                    <a:pt x="0" y="676440"/>
                  </a:lnTo>
                  <a:lnTo>
                    <a:pt x="0" y="0"/>
                  </a:lnTo>
                  <a:lnTo>
                    <a:pt x="8412111" y="0"/>
                  </a:lnTo>
                  <a:lnTo>
                    <a:pt x="8412111" y="676440"/>
                  </a:lnTo>
                  <a:lnTo>
                    <a:pt x="4206240" y="676440"/>
                  </a:lnTo>
                  <a:close/>
                </a:path>
              </a:pathLst>
            </a:custGeom>
            <a:ln w="12599">
              <a:solidFill>
                <a:srgbClr val="CCFA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5805" y="4124873"/>
              <a:ext cx="737997" cy="756005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365759" y="4141802"/>
              <a:ext cx="658495" cy="676910"/>
            </a:xfrm>
            <a:custGeom>
              <a:avLst/>
              <a:gdLst/>
              <a:ahLst/>
              <a:cxnLst/>
              <a:rect l="l" t="t" r="r" b="b"/>
              <a:pathLst>
                <a:path w="658494" h="676910">
                  <a:moveTo>
                    <a:pt x="658075" y="0"/>
                  </a:moveTo>
                  <a:lnTo>
                    <a:pt x="0" y="0"/>
                  </a:lnTo>
                  <a:lnTo>
                    <a:pt x="0" y="676440"/>
                  </a:lnTo>
                  <a:lnTo>
                    <a:pt x="329044" y="676440"/>
                  </a:lnTo>
                  <a:lnTo>
                    <a:pt x="658075" y="676440"/>
                  </a:lnTo>
                  <a:lnTo>
                    <a:pt x="658075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592455" y="4174466"/>
            <a:ext cx="2057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05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192580" y="4210813"/>
            <a:ext cx="4576445" cy="471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C1A29"/>
                </a:solidFill>
                <a:latin typeface="Calibri"/>
                <a:cs typeface="Calibri"/>
              </a:rPr>
              <a:t>Excel</a:t>
            </a:r>
            <a:r>
              <a:rPr dirty="0" sz="1200" spc="-60" b="1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C1A29"/>
                </a:solidFill>
                <a:latin typeface="Calibri"/>
                <a:cs typeface="Calibri"/>
              </a:rPr>
              <a:t>Remains</a:t>
            </a:r>
            <a:r>
              <a:rPr dirty="0" sz="1200" spc="-55" b="1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C1A29"/>
                </a:solidFill>
                <a:latin typeface="Calibri"/>
                <a:cs typeface="Calibri"/>
              </a:rPr>
              <a:t>Essential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000" spc="-10">
                <a:solidFill>
                  <a:srgbClr val="63738A"/>
                </a:solidFill>
                <a:latin typeface="Calibri"/>
                <a:cs typeface="Calibri"/>
              </a:rPr>
              <a:t>Despite</a:t>
            </a:r>
            <a:r>
              <a:rPr dirty="0" sz="1000" spc="-2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3738A"/>
                </a:solidFill>
                <a:latin typeface="Calibri"/>
                <a:cs typeface="Calibri"/>
              </a:rPr>
              <a:t>advanced</a:t>
            </a:r>
            <a:r>
              <a:rPr dirty="0" sz="1000" spc="-1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tools,</a:t>
            </a:r>
            <a:r>
              <a:rPr dirty="0" sz="1000" spc="-2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Excel</a:t>
            </a:r>
            <a:r>
              <a:rPr dirty="0" sz="1000" spc="-1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still</a:t>
            </a:r>
            <a:r>
              <a:rPr dirty="0" sz="1000" spc="-2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3738A"/>
                </a:solidFill>
                <a:latin typeface="Calibri"/>
                <a:cs typeface="Calibri"/>
              </a:rPr>
              <a:t>appears</a:t>
            </a:r>
            <a:r>
              <a:rPr dirty="0" sz="1000" spc="-2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in</a:t>
            </a:r>
            <a:r>
              <a:rPr dirty="0" sz="1000" spc="-3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58%</a:t>
            </a:r>
            <a:r>
              <a:rPr dirty="0" sz="1000" spc="-2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of</a:t>
            </a:r>
            <a:r>
              <a:rPr dirty="0" sz="1000" spc="-2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3738A"/>
                </a:solidFill>
                <a:latin typeface="Calibri"/>
                <a:cs typeface="Calibri"/>
              </a:rPr>
              <a:t>postings,</a:t>
            </a:r>
            <a:r>
              <a:rPr dirty="0" sz="1000" spc="-1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especially</a:t>
            </a:r>
            <a:r>
              <a:rPr dirty="0" sz="1000" spc="-1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for</a:t>
            </a:r>
            <a:r>
              <a:rPr dirty="0" sz="1000" spc="-2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3738A"/>
                </a:solidFill>
                <a:latin typeface="Calibri"/>
                <a:cs typeface="Calibri"/>
              </a:rPr>
              <a:t>analyst</a:t>
            </a:r>
            <a:r>
              <a:rPr dirty="0" sz="1000" spc="-1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3738A"/>
                </a:solidFill>
                <a:latin typeface="Calibri"/>
                <a:cs typeface="Calibri"/>
              </a:rPr>
              <a:t>roles.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Conclusion</a:t>
            </a:r>
            <a:r>
              <a:rPr dirty="0" spc="-70"/>
              <a:t> </a:t>
            </a:r>
            <a:r>
              <a:rPr dirty="0"/>
              <a:t>&amp;</a:t>
            </a:r>
            <a:r>
              <a:rPr dirty="0" spc="-65"/>
              <a:t> </a:t>
            </a:r>
            <a:r>
              <a:rPr dirty="0" spc="-10"/>
              <a:t>Recommendations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2696" y="992430"/>
            <a:ext cx="88582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0C1A29"/>
                </a:solidFill>
                <a:latin typeface="Calibri"/>
                <a:cs typeface="Calibri"/>
              </a:rPr>
              <a:t>Conclusion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25805" y="1491820"/>
            <a:ext cx="281305" cy="280670"/>
            <a:chOff x="325805" y="1491820"/>
            <a:chExt cx="281305" cy="2806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5805" y="1491820"/>
              <a:ext cx="280796" cy="28046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65759" y="1508762"/>
              <a:ext cx="201295" cy="201295"/>
            </a:xfrm>
            <a:custGeom>
              <a:avLst/>
              <a:gdLst/>
              <a:ahLst/>
              <a:cxnLst/>
              <a:rect l="l" t="t" r="r" b="b"/>
              <a:pathLst>
                <a:path w="201295" h="201294">
                  <a:moveTo>
                    <a:pt x="200875" y="0"/>
                  </a:moveTo>
                  <a:lnTo>
                    <a:pt x="0" y="0"/>
                  </a:lnTo>
                  <a:lnTo>
                    <a:pt x="0" y="200875"/>
                  </a:lnTo>
                  <a:lnTo>
                    <a:pt x="100444" y="200875"/>
                  </a:lnTo>
                  <a:lnTo>
                    <a:pt x="200875" y="200875"/>
                  </a:lnTo>
                  <a:lnTo>
                    <a:pt x="200875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762736" y="1503986"/>
            <a:ext cx="25819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Python,</a:t>
            </a:r>
            <a:r>
              <a:rPr dirty="0" sz="1100" spc="-2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SQL</a:t>
            </a:r>
            <a:r>
              <a:rPr dirty="0" sz="1100" spc="-2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&amp;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Excel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are</a:t>
            </a:r>
            <a:r>
              <a:rPr dirty="0" sz="1100" spc="-20">
                <a:solidFill>
                  <a:srgbClr val="1D283A"/>
                </a:solidFill>
                <a:latin typeface="Calibri"/>
                <a:cs typeface="Calibri"/>
              </a:rPr>
              <a:t> must-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have</a:t>
            </a:r>
            <a:r>
              <a:rPr dirty="0" sz="1100" spc="-1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core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 skills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25805" y="2058824"/>
            <a:ext cx="281305" cy="280670"/>
            <a:chOff x="325805" y="2058824"/>
            <a:chExt cx="281305" cy="28067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5805" y="2058824"/>
              <a:ext cx="280796" cy="2804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65759" y="2075766"/>
              <a:ext cx="201295" cy="201295"/>
            </a:xfrm>
            <a:custGeom>
              <a:avLst/>
              <a:gdLst/>
              <a:ahLst/>
              <a:cxnLst/>
              <a:rect l="l" t="t" r="r" b="b"/>
              <a:pathLst>
                <a:path w="201295" h="201294">
                  <a:moveTo>
                    <a:pt x="200875" y="0"/>
                  </a:moveTo>
                  <a:lnTo>
                    <a:pt x="0" y="0"/>
                  </a:lnTo>
                  <a:lnTo>
                    <a:pt x="0" y="200875"/>
                  </a:lnTo>
                  <a:lnTo>
                    <a:pt x="100444" y="200875"/>
                  </a:lnTo>
                  <a:lnTo>
                    <a:pt x="200875" y="200875"/>
                  </a:lnTo>
                  <a:lnTo>
                    <a:pt x="200875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762736" y="2070991"/>
            <a:ext cx="286321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IT</a:t>
            </a:r>
            <a:r>
              <a:rPr dirty="0" sz="1100" spc="-2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and</a:t>
            </a:r>
            <a:r>
              <a:rPr dirty="0" sz="1100" spc="-2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Data</a:t>
            </a:r>
            <a:r>
              <a:rPr dirty="0" sz="1100" spc="-1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Science</a:t>
            </a:r>
            <a:r>
              <a:rPr dirty="0" sz="1100" spc="-2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offer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the</a:t>
            </a:r>
            <a:r>
              <a:rPr dirty="0" sz="1100" spc="-2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widest</a:t>
            </a:r>
            <a:r>
              <a:rPr dirty="0" sz="1100" spc="-1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opportunities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25805" y="2625828"/>
            <a:ext cx="281305" cy="280670"/>
            <a:chOff x="325805" y="2625828"/>
            <a:chExt cx="281305" cy="28067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5805" y="2625828"/>
              <a:ext cx="280796" cy="28045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65759" y="2642757"/>
              <a:ext cx="201295" cy="201295"/>
            </a:xfrm>
            <a:custGeom>
              <a:avLst/>
              <a:gdLst/>
              <a:ahLst/>
              <a:cxnLst/>
              <a:rect l="l" t="t" r="r" b="b"/>
              <a:pathLst>
                <a:path w="201295" h="201294">
                  <a:moveTo>
                    <a:pt x="200875" y="0"/>
                  </a:moveTo>
                  <a:lnTo>
                    <a:pt x="0" y="0"/>
                  </a:lnTo>
                  <a:lnTo>
                    <a:pt x="0" y="200888"/>
                  </a:lnTo>
                  <a:lnTo>
                    <a:pt x="100444" y="200888"/>
                  </a:lnTo>
                  <a:lnTo>
                    <a:pt x="200875" y="200888"/>
                  </a:lnTo>
                  <a:lnTo>
                    <a:pt x="200875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762736" y="2637982"/>
            <a:ext cx="256984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Bangalore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remains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the top</a:t>
            </a:r>
            <a:r>
              <a:rPr dirty="0" sz="1100" spc="-1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hiring</a:t>
            </a:r>
            <a:r>
              <a:rPr dirty="0" sz="1100" spc="-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city</a:t>
            </a:r>
            <a:r>
              <a:rPr dirty="0" sz="1100" spc="-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in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1D283A"/>
                </a:solidFill>
                <a:latin typeface="Calibri"/>
                <a:cs typeface="Calibri"/>
              </a:rPr>
              <a:t>India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25805" y="3192464"/>
            <a:ext cx="281305" cy="280670"/>
            <a:chOff x="325805" y="3192464"/>
            <a:chExt cx="281305" cy="280670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5805" y="3192464"/>
              <a:ext cx="280796" cy="28045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65759" y="3209406"/>
              <a:ext cx="201295" cy="201295"/>
            </a:xfrm>
            <a:custGeom>
              <a:avLst/>
              <a:gdLst/>
              <a:ahLst/>
              <a:cxnLst/>
              <a:rect l="l" t="t" r="r" b="b"/>
              <a:pathLst>
                <a:path w="201295" h="201295">
                  <a:moveTo>
                    <a:pt x="200875" y="0"/>
                  </a:moveTo>
                  <a:lnTo>
                    <a:pt x="0" y="0"/>
                  </a:lnTo>
                  <a:lnTo>
                    <a:pt x="0" y="200875"/>
                  </a:lnTo>
                  <a:lnTo>
                    <a:pt x="100444" y="200875"/>
                  </a:lnTo>
                  <a:lnTo>
                    <a:pt x="200875" y="200875"/>
                  </a:lnTo>
                  <a:lnTo>
                    <a:pt x="200875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762736" y="3204986"/>
            <a:ext cx="253682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Skill</a:t>
            </a:r>
            <a:r>
              <a:rPr dirty="0" sz="1100" spc="-3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needs</a:t>
            </a:r>
            <a:r>
              <a:rPr dirty="0" sz="1100" spc="-3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evolve</a:t>
            </a:r>
            <a:r>
              <a:rPr dirty="0" sz="1100" spc="-2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significantly</a:t>
            </a:r>
            <a:r>
              <a:rPr dirty="0" sz="1100" spc="-3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with</a:t>
            </a:r>
            <a:r>
              <a:rPr dirty="0" sz="1100" spc="-3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seniority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25805" y="3759468"/>
            <a:ext cx="281305" cy="280670"/>
            <a:chOff x="325805" y="3759468"/>
            <a:chExt cx="281305" cy="280670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5805" y="3759468"/>
              <a:ext cx="280796" cy="28045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65759" y="3776398"/>
              <a:ext cx="201295" cy="201295"/>
            </a:xfrm>
            <a:custGeom>
              <a:avLst/>
              <a:gdLst/>
              <a:ahLst/>
              <a:cxnLst/>
              <a:rect l="l" t="t" r="r" b="b"/>
              <a:pathLst>
                <a:path w="201295" h="201295">
                  <a:moveTo>
                    <a:pt x="200875" y="0"/>
                  </a:moveTo>
                  <a:lnTo>
                    <a:pt x="0" y="0"/>
                  </a:lnTo>
                  <a:lnTo>
                    <a:pt x="0" y="200888"/>
                  </a:lnTo>
                  <a:lnTo>
                    <a:pt x="100444" y="200888"/>
                  </a:lnTo>
                  <a:lnTo>
                    <a:pt x="200875" y="200888"/>
                  </a:lnTo>
                  <a:lnTo>
                    <a:pt x="200875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762736" y="3771991"/>
            <a:ext cx="282829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Data-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driven</a:t>
            </a:r>
            <a:r>
              <a:rPr dirty="0" sz="1100" spc="-3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planning</a:t>
            </a:r>
            <a:r>
              <a:rPr dirty="0" sz="1100" spc="-3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beats</a:t>
            </a:r>
            <a:r>
              <a:rPr dirty="0" sz="1100" spc="-3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guesswork</a:t>
            </a:r>
            <a:r>
              <a:rPr dirty="0" sz="1100" spc="-2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every</a:t>
            </a:r>
            <a:r>
              <a:rPr dirty="0" sz="1100" spc="-2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1D283A"/>
                </a:solidFill>
                <a:latin typeface="Calibri"/>
                <a:cs typeface="Calibri"/>
              </a:rPr>
              <a:t>time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577397" y="942824"/>
            <a:ext cx="134620" cy="4011295"/>
            <a:chOff x="4577397" y="942824"/>
            <a:chExt cx="134620" cy="4011295"/>
          </a:xfrm>
        </p:grpSpPr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7397" y="942824"/>
              <a:ext cx="134277" cy="401114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617364" y="959766"/>
              <a:ext cx="54610" cy="3931920"/>
            </a:xfrm>
            <a:custGeom>
              <a:avLst/>
              <a:gdLst/>
              <a:ahLst/>
              <a:cxnLst/>
              <a:rect l="l" t="t" r="r" b="b"/>
              <a:pathLst>
                <a:path w="54610" h="3931920">
                  <a:moveTo>
                    <a:pt x="54355" y="0"/>
                  </a:moveTo>
                  <a:lnTo>
                    <a:pt x="0" y="0"/>
                  </a:lnTo>
                  <a:lnTo>
                    <a:pt x="0" y="3931551"/>
                  </a:lnTo>
                  <a:lnTo>
                    <a:pt x="27355" y="3931551"/>
                  </a:lnTo>
                  <a:lnTo>
                    <a:pt x="54355" y="3931551"/>
                  </a:lnTo>
                  <a:lnTo>
                    <a:pt x="54355" y="0"/>
                  </a:lnTo>
                  <a:close/>
                </a:path>
              </a:pathLst>
            </a:custGeom>
            <a:solidFill>
              <a:srgbClr val="CCFA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4923256" y="992430"/>
            <a:ext cx="215709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0C1A29"/>
                </a:solidFill>
                <a:latin typeface="Calibri"/>
                <a:cs typeface="Calibri"/>
              </a:rPr>
              <a:t>For</a:t>
            </a:r>
            <a:r>
              <a:rPr dirty="0" sz="1500" spc="-45" b="1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0C1A29"/>
                </a:solidFill>
                <a:latin typeface="Calibri"/>
                <a:cs typeface="Calibri"/>
              </a:rPr>
              <a:t>Students</a:t>
            </a:r>
            <a:r>
              <a:rPr dirty="0" sz="1500" spc="-35" b="1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0C1A29"/>
                </a:solidFill>
                <a:latin typeface="Calibri"/>
                <a:cs typeface="Calibri"/>
              </a:rPr>
              <a:t>&amp;</a:t>
            </a:r>
            <a:r>
              <a:rPr dirty="0" sz="1500" spc="-40" b="1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0C1A29"/>
                </a:solidFill>
                <a:latin typeface="Calibri"/>
                <a:cs typeface="Calibri"/>
              </a:rPr>
              <a:t>Job</a:t>
            </a:r>
            <a:r>
              <a:rPr dirty="0" sz="1500" spc="-35" b="1">
                <a:solidFill>
                  <a:srgbClr val="0C1A29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0C1A29"/>
                </a:solidFill>
                <a:latin typeface="Calibri"/>
                <a:cs typeface="Calibri"/>
              </a:rPr>
              <a:t>Seekers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799876" y="1393916"/>
            <a:ext cx="4116070" cy="823594"/>
            <a:chOff x="4799876" y="1393916"/>
            <a:chExt cx="4116070" cy="823594"/>
          </a:xfrm>
        </p:grpSpPr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99876" y="1393916"/>
              <a:ext cx="4115523" cy="82332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845964" y="1416966"/>
              <a:ext cx="4023360" cy="731520"/>
            </a:xfrm>
            <a:custGeom>
              <a:avLst/>
              <a:gdLst/>
              <a:ahLst/>
              <a:cxnLst/>
              <a:rect l="l" t="t" r="r" b="b"/>
              <a:pathLst>
                <a:path w="4023359" h="731519">
                  <a:moveTo>
                    <a:pt x="4022991" y="0"/>
                  </a:moveTo>
                  <a:lnTo>
                    <a:pt x="0" y="0"/>
                  </a:lnTo>
                  <a:lnTo>
                    <a:pt x="0" y="731151"/>
                  </a:lnTo>
                  <a:lnTo>
                    <a:pt x="2011679" y="731151"/>
                  </a:lnTo>
                  <a:lnTo>
                    <a:pt x="4022991" y="731151"/>
                  </a:lnTo>
                  <a:lnTo>
                    <a:pt x="4022991" y="0"/>
                  </a:lnTo>
                  <a:close/>
                </a:path>
              </a:pathLst>
            </a:custGeom>
            <a:solidFill>
              <a:srgbClr val="EFFCF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4845964" y="1416966"/>
            <a:ext cx="4023360" cy="731520"/>
          </a:xfrm>
          <a:prstGeom prst="rect">
            <a:avLst/>
          </a:prstGeom>
          <a:ln w="12599">
            <a:solidFill>
              <a:srgbClr val="CCFAF0"/>
            </a:solidFill>
          </a:ln>
        </p:spPr>
        <p:txBody>
          <a:bodyPr wrap="square" lIns="0" tIns="99695" rIns="0" bIns="0" rtlCol="0" vert="horz">
            <a:spAutoFit/>
          </a:bodyPr>
          <a:lstStyle/>
          <a:p>
            <a:pPr marL="226695">
              <a:lnSpc>
                <a:spcPct val="100000"/>
              </a:lnSpc>
              <a:spcBef>
                <a:spcPts val="785"/>
              </a:spcBef>
            </a:pPr>
            <a:r>
              <a:rPr dirty="0" sz="1100" b="1">
                <a:solidFill>
                  <a:srgbClr val="0C9387"/>
                </a:solidFill>
                <a:latin typeface="Calibri"/>
                <a:cs typeface="Calibri"/>
              </a:rPr>
              <a:t>Learn</a:t>
            </a:r>
            <a:r>
              <a:rPr dirty="0" sz="1100" spc="-15" b="1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C9387"/>
                </a:solidFill>
                <a:latin typeface="Calibri"/>
                <a:cs typeface="Calibri"/>
              </a:rPr>
              <a:t>Python +</a:t>
            </a:r>
            <a:r>
              <a:rPr dirty="0" sz="1100" spc="-10" b="1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C9387"/>
                </a:solidFill>
                <a:latin typeface="Calibri"/>
                <a:cs typeface="Calibri"/>
              </a:rPr>
              <a:t>SQL</a:t>
            </a:r>
            <a:r>
              <a:rPr dirty="0" sz="1100" spc="-15" b="1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dirty="0" sz="1100" spc="-20" b="1">
                <a:solidFill>
                  <a:srgbClr val="0C9387"/>
                </a:solidFill>
                <a:latin typeface="Calibri"/>
                <a:cs typeface="Calibri"/>
              </a:rPr>
              <a:t>first</a:t>
            </a:r>
            <a:endParaRPr sz="1100">
              <a:latin typeface="Calibri"/>
              <a:cs typeface="Calibri"/>
            </a:endParaRPr>
          </a:p>
          <a:p>
            <a:pPr marL="226695">
              <a:lnSpc>
                <a:spcPct val="100000"/>
              </a:lnSpc>
              <a:spcBef>
                <a:spcPts val="1270"/>
              </a:spcBef>
            </a:pP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Appear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in</a:t>
            </a:r>
            <a:r>
              <a:rPr dirty="0" sz="1100" spc="-1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65%+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of</a:t>
            </a:r>
            <a:r>
              <a:rPr dirty="0" sz="1100" spc="-1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all</a:t>
            </a:r>
            <a:r>
              <a:rPr dirty="0" sz="1100" spc="-2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job</a:t>
            </a:r>
            <a:r>
              <a:rPr dirty="0" sz="1100" spc="-1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postings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799876" y="2262596"/>
            <a:ext cx="4116070" cy="823594"/>
            <a:chOff x="4799876" y="2262596"/>
            <a:chExt cx="4116070" cy="823594"/>
          </a:xfrm>
        </p:grpSpPr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99876" y="2262596"/>
              <a:ext cx="4115523" cy="823328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4845964" y="2285646"/>
              <a:ext cx="4023360" cy="731520"/>
            </a:xfrm>
            <a:custGeom>
              <a:avLst/>
              <a:gdLst/>
              <a:ahLst/>
              <a:cxnLst/>
              <a:rect l="l" t="t" r="r" b="b"/>
              <a:pathLst>
                <a:path w="4023359" h="731519">
                  <a:moveTo>
                    <a:pt x="4022991" y="0"/>
                  </a:moveTo>
                  <a:lnTo>
                    <a:pt x="0" y="0"/>
                  </a:lnTo>
                  <a:lnTo>
                    <a:pt x="0" y="731151"/>
                  </a:lnTo>
                  <a:lnTo>
                    <a:pt x="2011679" y="731151"/>
                  </a:lnTo>
                  <a:lnTo>
                    <a:pt x="4022991" y="731151"/>
                  </a:lnTo>
                  <a:lnTo>
                    <a:pt x="4022991" y="0"/>
                  </a:lnTo>
                  <a:close/>
                </a:path>
              </a:pathLst>
            </a:custGeom>
            <a:solidFill>
              <a:srgbClr val="EFFCF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4845964" y="2285646"/>
            <a:ext cx="4023360" cy="731520"/>
          </a:xfrm>
          <a:prstGeom prst="rect">
            <a:avLst/>
          </a:prstGeom>
          <a:ln w="12599">
            <a:solidFill>
              <a:srgbClr val="CCFAF0"/>
            </a:solidFill>
          </a:ln>
        </p:spPr>
        <p:txBody>
          <a:bodyPr wrap="square" lIns="0" tIns="99695" rIns="0" bIns="0" rtlCol="0" vert="horz">
            <a:spAutoFit/>
          </a:bodyPr>
          <a:lstStyle/>
          <a:p>
            <a:pPr marL="226695">
              <a:lnSpc>
                <a:spcPct val="100000"/>
              </a:lnSpc>
              <a:spcBef>
                <a:spcPts val="785"/>
              </a:spcBef>
            </a:pPr>
            <a:r>
              <a:rPr dirty="0" sz="1100" spc="-20" b="1">
                <a:solidFill>
                  <a:srgbClr val="0C9387"/>
                </a:solidFill>
                <a:latin typeface="Calibri"/>
                <a:cs typeface="Calibri"/>
              </a:rPr>
              <a:t>Target</a:t>
            </a:r>
            <a:r>
              <a:rPr dirty="0" sz="1100" spc="-25" b="1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C9387"/>
                </a:solidFill>
                <a:latin typeface="Calibri"/>
                <a:cs typeface="Calibri"/>
              </a:rPr>
              <a:t>Bangalore</a:t>
            </a:r>
            <a:r>
              <a:rPr dirty="0" sz="1100" spc="-30" b="1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C9387"/>
                </a:solidFill>
                <a:latin typeface="Calibri"/>
                <a:cs typeface="Calibri"/>
              </a:rPr>
              <a:t>or</a:t>
            </a:r>
            <a:r>
              <a:rPr dirty="0" sz="1100" spc="-20" b="1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0C9387"/>
                </a:solidFill>
                <a:latin typeface="Calibri"/>
                <a:cs typeface="Calibri"/>
              </a:rPr>
              <a:t>Mumbai</a:t>
            </a:r>
            <a:endParaRPr sz="1100">
              <a:latin typeface="Calibri"/>
              <a:cs typeface="Calibri"/>
            </a:endParaRPr>
          </a:p>
          <a:p>
            <a:pPr marL="226695">
              <a:lnSpc>
                <a:spcPct val="100000"/>
              </a:lnSpc>
              <a:spcBef>
                <a:spcPts val="1270"/>
              </a:spcBef>
            </a:pP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Highest 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concentration</a:t>
            </a:r>
            <a:r>
              <a:rPr dirty="0" sz="1100" spc="-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of</a:t>
            </a:r>
            <a:r>
              <a:rPr dirty="0" sz="1100" spc="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tech</a:t>
            </a:r>
            <a:r>
              <a:rPr dirty="0" sz="1100" spc="-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1D283A"/>
                </a:solidFill>
                <a:latin typeface="Calibri"/>
                <a:cs typeface="Calibri"/>
              </a:rPr>
              <a:t>jobs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799876" y="3131275"/>
            <a:ext cx="4116070" cy="823594"/>
            <a:chOff x="4799876" y="3131275"/>
            <a:chExt cx="4116070" cy="823594"/>
          </a:xfrm>
        </p:grpSpPr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99876" y="3131275"/>
              <a:ext cx="4115523" cy="82332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4845964" y="3154326"/>
              <a:ext cx="4023360" cy="731520"/>
            </a:xfrm>
            <a:custGeom>
              <a:avLst/>
              <a:gdLst/>
              <a:ahLst/>
              <a:cxnLst/>
              <a:rect l="l" t="t" r="r" b="b"/>
              <a:pathLst>
                <a:path w="4023359" h="731520">
                  <a:moveTo>
                    <a:pt x="4022991" y="0"/>
                  </a:moveTo>
                  <a:lnTo>
                    <a:pt x="0" y="0"/>
                  </a:lnTo>
                  <a:lnTo>
                    <a:pt x="0" y="731151"/>
                  </a:lnTo>
                  <a:lnTo>
                    <a:pt x="2011679" y="731151"/>
                  </a:lnTo>
                  <a:lnTo>
                    <a:pt x="4022991" y="731151"/>
                  </a:lnTo>
                  <a:lnTo>
                    <a:pt x="4022991" y="0"/>
                  </a:lnTo>
                  <a:close/>
                </a:path>
              </a:pathLst>
            </a:custGeom>
            <a:solidFill>
              <a:srgbClr val="EFFCF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4845964" y="3154326"/>
            <a:ext cx="4023360" cy="731520"/>
          </a:xfrm>
          <a:prstGeom prst="rect">
            <a:avLst/>
          </a:prstGeom>
          <a:ln w="12599">
            <a:solidFill>
              <a:srgbClr val="CCFAF0"/>
            </a:solidFill>
          </a:ln>
        </p:spPr>
        <p:txBody>
          <a:bodyPr wrap="square" lIns="0" tIns="99695" rIns="0" bIns="0" rtlCol="0" vert="horz">
            <a:spAutoFit/>
          </a:bodyPr>
          <a:lstStyle/>
          <a:p>
            <a:pPr marL="226695">
              <a:lnSpc>
                <a:spcPct val="100000"/>
              </a:lnSpc>
              <a:spcBef>
                <a:spcPts val="785"/>
              </a:spcBef>
            </a:pPr>
            <a:r>
              <a:rPr dirty="0" sz="1100" b="1">
                <a:solidFill>
                  <a:srgbClr val="0C9387"/>
                </a:solidFill>
                <a:latin typeface="Calibri"/>
                <a:cs typeface="Calibri"/>
              </a:rPr>
              <a:t>Build</a:t>
            </a:r>
            <a:r>
              <a:rPr dirty="0" sz="1100" spc="-20" b="1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C9387"/>
                </a:solidFill>
                <a:latin typeface="Calibri"/>
                <a:cs typeface="Calibri"/>
              </a:rPr>
              <a:t>a</a:t>
            </a:r>
            <a:r>
              <a:rPr dirty="0" sz="1100" spc="-10" b="1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C9387"/>
                </a:solidFill>
                <a:latin typeface="Calibri"/>
                <a:cs typeface="Calibri"/>
              </a:rPr>
              <a:t>GitHub</a:t>
            </a:r>
            <a:r>
              <a:rPr dirty="0" sz="1100" spc="-10" b="1">
                <a:solidFill>
                  <a:srgbClr val="0C9387"/>
                </a:solidFill>
                <a:latin typeface="Calibri"/>
                <a:cs typeface="Calibri"/>
              </a:rPr>
              <a:t> portfolio</a:t>
            </a:r>
            <a:endParaRPr sz="1100">
              <a:latin typeface="Calibri"/>
              <a:cs typeface="Calibri"/>
            </a:endParaRPr>
          </a:p>
          <a:p>
            <a:pPr marL="226695">
              <a:lnSpc>
                <a:spcPct val="100000"/>
              </a:lnSpc>
              <a:spcBef>
                <a:spcPts val="1270"/>
              </a:spcBef>
            </a:pP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Shows</a:t>
            </a:r>
            <a:r>
              <a:rPr dirty="0" sz="1100" spc="-2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practical</a:t>
            </a:r>
            <a:r>
              <a:rPr dirty="0" sz="1100" spc="-2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skills</a:t>
            </a:r>
            <a:r>
              <a:rPr dirty="0" sz="1100" spc="-2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to</a:t>
            </a:r>
            <a:r>
              <a:rPr dirty="0" sz="1100" spc="-2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recruiters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799876" y="3999955"/>
            <a:ext cx="4116070" cy="823594"/>
            <a:chOff x="4799876" y="3999955"/>
            <a:chExt cx="4116070" cy="823594"/>
          </a:xfrm>
        </p:grpSpPr>
        <p:pic>
          <p:nvPicPr>
            <p:cNvPr id="41" name="object 4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99876" y="3999955"/>
              <a:ext cx="4115523" cy="823328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4845964" y="4023006"/>
              <a:ext cx="4023360" cy="731520"/>
            </a:xfrm>
            <a:custGeom>
              <a:avLst/>
              <a:gdLst/>
              <a:ahLst/>
              <a:cxnLst/>
              <a:rect l="l" t="t" r="r" b="b"/>
              <a:pathLst>
                <a:path w="4023359" h="731520">
                  <a:moveTo>
                    <a:pt x="4022991" y="0"/>
                  </a:moveTo>
                  <a:lnTo>
                    <a:pt x="0" y="0"/>
                  </a:lnTo>
                  <a:lnTo>
                    <a:pt x="0" y="731151"/>
                  </a:lnTo>
                  <a:lnTo>
                    <a:pt x="2011679" y="731151"/>
                  </a:lnTo>
                  <a:lnTo>
                    <a:pt x="4022991" y="731151"/>
                  </a:lnTo>
                  <a:lnTo>
                    <a:pt x="4022991" y="0"/>
                  </a:lnTo>
                  <a:close/>
                </a:path>
              </a:pathLst>
            </a:custGeom>
            <a:solidFill>
              <a:srgbClr val="EFFCF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4845964" y="4023006"/>
            <a:ext cx="4023360" cy="731520"/>
          </a:xfrm>
          <a:prstGeom prst="rect">
            <a:avLst/>
          </a:prstGeom>
          <a:ln w="12599">
            <a:solidFill>
              <a:srgbClr val="CCFAF0"/>
            </a:solidFill>
          </a:ln>
        </p:spPr>
        <p:txBody>
          <a:bodyPr wrap="square" lIns="0" tIns="99695" rIns="0" bIns="0" rtlCol="0" vert="horz">
            <a:spAutoFit/>
          </a:bodyPr>
          <a:lstStyle/>
          <a:p>
            <a:pPr marL="226695">
              <a:lnSpc>
                <a:spcPct val="100000"/>
              </a:lnSpc>
              <a:spcBef>
                <a:spcPts val="785"/>
              </a:spcBef>
            </a:pPr>
            <a:r>
              <a:rPr dirty="0" sz="1100" b="1">
                <a:solidFill>
                  <a:srgbClr val="0C9387"/>
                </a:solidFill>
                <a:latin typeface="Calibri"/>
                <a:cs typeface="Calibri"/>
              </a:rPr>
              <a:t>Upskill</a:t>
            </a:r>
            <a:r>
              <a:rPr dirty="0" sz="1100" spc="-30" b="1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C9387"/>
                </a:solidFill>
                <a:latin typeface="Calibri"/>
                <a:cs typeface="Calibri"/>
              </a:rPr>
              <a:t>to</a:t>
            </a:r>
            <a:r>
              <a:rPr dirty="0" sz="1100" spc="-25" b="1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C9387"/>
                </a:solidFill>
                <a:latin typeface="Calibri"/>
                <a:cs typeface="Calibri"/>
              </a:rPr>
              <a:t>Cloud</a:t>
            </a:r>
            <a:r>
              <a:rPr dirty="0" sz="1100" spc="-25" b="1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0C9387"/>
                </a:solidFill>
                <a:latin typeface="Calibri"/>
                <a:cs typeface="Calibri"/>
              </a:rPr>
              <a:t>(AWS/GCP)</a:t>
            </a:r>
            <a:endParaRPr sz="1100">
              <a:latin typeface="Calibri"/>
              <a:cs typeface="Calibri"/>
            </a:endParaRPr>
          </a:p>
          <a:p>
            <a:pPr marL="226695">
              <a:lnSpc>
                <a:spcPct val="100000"/>
              </a:lnSpc>
              <a:spcBef>
                <a:spcPts val="1270"/>
              </a:spcBef>
            </a:pP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Growing</a:t>
            </a:r>
            <a:r>
              <a:rPr dirty="0" sz="1100" spc="-4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rapidly</a:t>
            </a:r>
            <a:r>
              <a:rPr dirty="0" sz="1100" spc="-4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for</a:t>
            </a:r>
            <a:r>
              <a:rPr dirty="0" sz="1100" spc="-4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D283A"/>
                </a:solidFill>
                <a:latin typeface="Calibri"/>
                <a:cs typeface="Calibri"/>
              </a:rPr>
              <a:t>senior-</a:t>
            </a:r>
            <a:r>
              <a:rPr dirty="0" sz="1100">
                <a:solidFill>
                  <a:srgbClr val="1D283A"/>
                </a:solidFill>
                <a:latin typeface="Calibri"/>
                <a:cs typeface="Calibri"/>
              </a:rPr>
              <a:t>level</a:t>
            </a:r>
            <a:r>
              <a:rPr dirty="0" sz="1100" spc="-35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1D283A"/>
                </a:solidFill>
                <a:latin typeface="Calibri"/>
                <a:cs typeface="Calibri"/>
              </a:rPr>
              <a:t>roles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0C1A2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-353"/>
            <a:ext cx="177165" cy="5144135"/>
            <a:chOff x="0" y="-353"/>
            <a:chExt cx="177165" cy="51441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4"/>
              <a:ext cx="176771" cy="514330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-353"/>
              <a:ext cx="137160" cy="5143500"/>
            </a:xfrm>
            <a:custGeom>
              <a:avLst/>
              <a:gdLst/>
              <a:ahLst/>
              <a:cxnLst/>
              <a:rect l="l" t="t" r="r" b="b"/>
              <a:pathLst>
                <a:path w="137160" h="5143500">
                  <a:moveTo>
                    <a:pt x="136804" y="0"/>
                  </a:moveTo>
                  <a:lnTo>
                    <a:pt x="0" y="0"/>
                  </a:lnTo>
                  <a:lnTo>
                    <a:pt x="0" y="5143309"/>
                  </a:lnTo>
                  <a:lnTo>
                    <a:pt x="68402" y="5143309"/>
                  </a:lnTo>
                  <a:lnTo>
                    <a:pt x="136804" y="5143309"/>
                  </a:lnTo>
                  <a:lnTo>
                    <a:pt x="136804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147021" y="672390"/>
            <a:ext cx="2846705" cy="8178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200"/>
              <a:t>Thank</a:t>
            </a:r>
            <a:r>
              <a:rPr dirty="0" sz="5200" spc="-100"/>
              <a:t> </a:t>
            </a:r>
            <a:r>
              <a:rPr dirty="0" sz="5200" spc="-110"/>
              <a:t>You</a:t>
            </a:r>
            <a:endParaRPr sz="5200"/>
          </a:p>
        </p:txBody>
      </p:sp>
      <p:sp>
        <p:nvSpPr>
          <p:cNvPr id="7" name="object 7"/>
          <p:cNvSpPr txBox="1"/>
          <p:nvPr/>
        </p:nvSpPr>
        <p:spPr>
          <a:xfrm>
            <a:off x="3370935" y="1678218"/>
            <a:ext cx="24003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i="1">
                <a:solidFill>
                  <a:srgbClr val="5DE9D3"/>
                </a:solidFill>
                <a:latin typeface="Calibri"/>
                <a:cs typeface="Calibri"/>
              </a:rPr>
              <a:t>Questions</a:t>
            </a:r>
            <a:r>
              <a:rPr dirty="0" sz="2000" spc="-45" i="1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dirty="0" sz="2000" i="1">
                <a:solidFill>
                  <a:srgbClr val="5DE9D3"/>
                </a:solidFill>
                <a:latin typeface="Calibri"/>
                <a:cs typeface="Calibri"/>
              </a:rPr>
              <a:t>&amp;</a:t>
            </a:r>
            <a:r>
              <a:rPr dirty="0" sz="2000" spc="-35" i="1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dirty="0" sz="2000" spc="-10" i="1">
                <a:solidFill>
                  <a:srgbClr val="5DE9D3"/>
                </a:solidFill>
                <a:latin typeface="Calibri"/>
                <a:cs typeface="Calibri"/>
              </a:rPr>
              <a:t>Discussion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519997" y="2314793"/>
            <a:ext cx="4103370" cy="125095"/>
            <a:chOff x="2519997" y="2314793"/>
            <a:chExt cx="4103370" cy="12509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19997" y="2314793"/>
              <a:ext cx="4102925" cy="12492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559964" y="2331722"/>
              <a:ext cx="4023360" cy="45720"/>
            </a:xfrm>
            <a:custGeom>
              <a:avLst/>
              <a:gdLst/>
              <a:ahLst/>
              <a:cxnLst/>
              <a:rect l="l" t="t" r="r" b="b"/>
              <a:pathLst>
                <a:path w="4023359" h="45719">
                  <a:moveTo>
                    <a:pt x="4022991" y="0"/>
                  </a:moveTo>
                  <a:lnTo>
                    <a:pt x="0" y="0"/>
                  </a:lnTo>
                  <a:lnTo>
                    <a:pt x="0" y="45364"/>
                  </a:lnTo>
                  <a:lnTo>
                    <a:pt x="2011679" y="45364"/>
                  </a:lnTo>
                  <a:lnTo>
                    <a:pt x="4022991" y="45364"/>
                  </a:lnTo>
                  <a:lnTo>
                    <a:pt x="4022991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581304" y="2519542"/>
            <a:ext cx="7966709" cy="650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4604">
              <a:lnSpc>
                <a:spcPct val="100000"/>
              </a:lnSpc>
              <a:spcBef>
                <a:spcPts val="100"/>
              </a:spcBef>
            </a:pPr>
            <a:r>
              <a:rPr dirty="0" sz="1300" spc="-25" b="1">
                <a:solidFill>
                  <a:srgbClr val="9DCCC7"/>
                </a:solidFill>
                <a:latin typeface="Calibri"/>
                <a:cs typeface="Calibri"/>
              </a:rPr>
              <a:t>Team</a:t>
            </a:r>
            <a:r>
              <a:rPr dirty="0" sz="1300" spc="-45" b="1">
                <a:solidFill>
                  <a:srgbClr val="9DCCC7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9DCCC7"/>
                </a:solidFill>
                <a:latin typeface="Calibri"/>
                <a:cs typeface="Calibri"/>
              </a:rPr>
              <a:t>Members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3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100">
                <a:solidFill>
                  <a:srgbClr val="5DE9D3"/>
                </a:solidFill>
                <a:latin typeface="Calibri"/>
                <a:cs typeface="Calibri"/>
              </a:rPr>
              <a:t>Ayush</a:t>
            </a:r>
            <a:r>
              <a:rPr dirty="0" sz="1100" spc="-20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DE9D3"/>
                </a:solidFill>
                <a:latin typeface="Calibri"/>
                <a:cs typeface="Calibri"/>
              </a:rPr>
              <a:t>Rathod</a:t>
            </a:r>
            <a:r>
              <a:rPr dirty="0" sz="1100" spc="-15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DE9D3"/>
                </a:solidFill>
                <a:latin typeface="Calibri"/>
                <a:cs typeface="Calibri"/>
              </a:rPr>
              <a:t>(Group</a:t>
            </a:r>
            <a:r>
              <a:rPr dirty="0" sz="1100" spc="-20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DE9D3"/>
                </a:solidFill>
                <a:latin typeface="Calibri"/>
                <a:cs typeface="Calibri"/>
              </a:rPr>
              <a:t>Leader)</a:t>
            </a:r>
            <a:r>
              <a:rPr dirty="0" sz="1100" spc="459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DE9D3"/>
                </a:solidFill>
                <a:latin typeface="Calibri"/>
                <a:cs typeface="Calibri"/>
              </a:rPr>
              <a:t>|</a:t>
            </a:r>
            <a:r>
              <a:rPr dirty="0" sz="1100" spc="465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DE9D3"/>
                </a:solidFill>
                <a:latin typeface="Calibri"/>
                <a:cs typeface="Calibri"/>
              </a:rPr>
              <a:t>Dorina</a:t>
            </a:r>
            <a:r>
              <a:rPr dirty="0" sz="1100" spc="-15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DE9D3"/>
                </a:solidFill>
                <a:latin typeface="Calibri"/>
                <a:cs typeface="Calibri"/>
              </a:rPr>
              <a:t>Dongare</a:t>
            </a:r>
            <a:r>
              <a:rPr dirty="0" sz="1100" spc="-15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DE9D3"/>
                </a:solidFill>
                <a:latin typeface="Calibri"/>
                <a:cs typeface="Calibri"/>
              </a:rPr>
              <a:t>(Co-</a:t>
            </a:r>
            <a:r>
              <a:rPr dirty="0" sz="1100">
                <a:solidFill>
                  <a:srgbClr val="5DE9D3"/>
                </a:solidFill>
                <a:latin typeface="Calibri"/>
                <a:cs typeface="Calibri"/>
              </a:rPr>
              <a:t>Leader)</a:t>
            </a:r>
            <a:r>
              <a:rPr dirty="0" sz="1100" spc="459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DE9D3"/>
                </a:solidFill>
                <a:latin typeface="Calibri"/>
                <a:cs typeface="Calibri"/>
              </a:rPr>
              <a:t>|</a:t>
            </a:r>
            <a:r>
              <a:rPr dirty="0" sz="1100" spc="459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DE9D3"/>
                </a:solidFill>
                <a:latin typeface="Calibri"/>
                <a:cs typeface="Calibri"/>
              </a:rPr>
              <a:t>Kanchan</a:t>
            </a:r>
            <a:r>
              <a:rPr dirty="0" sz="1100" spc="-15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DE9D3"/>
                </a:solidFill>
                <a:latin typeface="Calibri"/>
                <a:cs typeface="Calibri"/>
              </a:rPr>
              <a:t>Phogat</a:t>
            </a:r>
            <a:r>
              <a:rPr dirty="0" sz="1100" spc="459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DE9D3"/>
                </a:solidFill>
                <a:latin typeface="Calibri"/>
                <a:cs typeface="Calibri"/>
              </a:rPr>
              <a:t>|</a:t>
            </a:r>
            <a:r>
              <a:rPr dirty="0" sz="1100" spc="459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DE9D3"/>
                </a:solidFill>
                <a:latin typeface="Calibri"/>
                <a:cs typeface="Calibri"/>
              </a:rPr>
              <a:t>Sakshi</a:t>
            </a:r>
            <a:r>
              <a:rPr dirty="0" sz="1100" spc="-25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DE9D3"/>
                </a:solidFill>
                <a:latin typeface="Calibri"/>
                <a:cs typeface="Calibri"/>
              </a:rPr>
              <a:t>Prajapati</a:t>
            </a:r>
            <a:r>
              <a:rPr dirty="0" sz="1100" spc="465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DE9D3"/>
                </a:solidFill>
                <a:latin typeface="Calibri"/>
                <a:cs typeface="Calibri"/>
              </a:rPr>
              <a:t>|</a:t>
            </a:r>
            <a:r>
              <a:rPr dirty="0" sz="1100" spc="450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DE9D3"/>
                </a:solidFill>
                <a:latin typeface="Calibri"/>
                <a:cs typeface="Calibri"/>
              </a:rPr>
              <a:t>Veesha </a:t>
            </a:r>
            <a:r>
              <a:rPr dirty="0" sz="1100">
                <a:solidFill>
                  <a:srgbClr val="5DE9D3"/>
                </a:solidFill>
                <a:latin typeface="Calibri"/>
                <a:cs typeface="Calibri"/>
              </a:rPr>
              <a:t>Thakker</a:t>
            </a:r>
            <a:r>
              <a:rPr dirty="0" sz="1100" spc="465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DE9D3"/>
                </a:solidFill>
                <a:latin typeface="Calibri"/>
                <a:cs typeface="Calibri"/>
              </a:rPr>
              <a:t>|</a:t>
            </a:r>
            <a:r>
              <a:rPr dirty="0" sz="1100" spc="465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DE9D3"/>
                </a:solidFill>
                <a:latin typeface="Calibri"/>
                <a:cs typeface="Calibri"/>
              </a:rPr>
              <a:t>Prayag </a:t>
            </a:r>
            <a:r>
              <a:rPr dirty="0" sz="1100" spc="-20">
                <a:solidFill>
                  <a:srgbClr val="5DE9D3"/>
                </a:solidFill>
                <a:latin typeface="Calibri"/>
                <a:cs typeface="Calibri"/>
              </a:rPr>
              <a:t>Maru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87103" y="4695382"/>
            <a:ext cx="336867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i="1">
                <a:solidFill>
                  <a:srgbClr val="496E7F"/>
                </a:solidFill>
                <a:latin typeface="Calibri"/>
                <a:cs typeface="Calibri"/>
              </a:rPr>
              <a:t>Job</a:t>
            </a:r>
            <a:r>
              <a:rPr dirty="0" sz="1000" spc="-25" i="1">
                <a:solidFill>
                  <a:srgbClr val="496E7F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496E7F"/>
                </a:solidFill>
                <a:latin typeface="Calibri"/>
                <a:cs typeface="Calibri"/>
              </a:rPr>
              <a:t>Market</a:t>
            </a:r>
            <a:r>
              <a:rPr dirty="0" sz="1000" spc="-15" i="1">
                <a:solidFill>
                  <a:srgbClr val="496E7F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496E7F"/>
                </a:solidFill>
                <a:latin typeface="Calibri"/>
                <a:cs typeface="Calibri"/>
              </a:rPr>
              <a:t>Skill</a:t>
            </a:r>
            <a:r>
              <a:rPr dirty="0" sz="1000" spc="-20" i="1">
                <a:solidFill>
                  <a:srgbClr val="496E7F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496E7F"/>
                </a:solidFill>
                <a:latin typeface="Calibri"/>
                <a:cs typeface="Calibri"/>
              </a:rPr>
              <a:t>Demand</a:t>
            </a:r>
            <a:r>
              <a:rPr dirty="0" sz="1000" spc="-25" i="1">
                <a:solidFill>
                  <a:srgbClr val="496E7F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496E7F"/>
                </a:solidFill>
                <a:latin typeface="Calibri"/>
                <a:cs typeface="Calibri"/>
              </a:rPr>
              <a:t>Analytics</a:t>
            </a:r>
            <a:r>
              <a:rPr dirty="0" sz="1000" spc="190" i="1">
                <a:solidFill>
                  <a:srgbClr val="496E7F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496E7F"/>
                </a:solidFill>
                <a:latin typeface="Calibri"/>
                <a:cs typeface="Calibri"/>
              </a:rPr>
              <a:t>·</a:t>
            </a:r>
            <a:r>
              <a:rPr dirty="0" sz="1000" spc="185" i="1">
                <a:solidFill>
                  <a:srgbClr val="496E7F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496E7F"/>
                </a:solidFill>
                <a:latin typeface="Calibri"/>
                <a:cs typeface="Calibri"/>
              </a:rPr>
              <a:t>Data</a:t>
            </a:r>
            <a:r>
              <a:rPr dirty="0" sz="1000" spc="-25" i="1">
                <a:solidFill>
                  <a:srgbClr val="496E7F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496E7F"/>
                </a:solidFill>
                <a:latin typeface="Calibri"/>
                <a:cs typeface="Calibri"/>
              </a:rPr>
              <a:t>Science</a:t>
            </a:r>
            <a:r>
              <a:rPr dirty="0" sz="1000" spc="-15" i="1">
                <a:solidFill>
                  <a:srgbClr val="496E7F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496E7F"/>
                </a:solidFill>
                <a:latin typeface="Calibri"/>
                <a:cs typeface="Calibri"/>
              </a:rPr>
              <a:t>Project</a:t>
            </a:r>
            <a:r>
              <a:rPr dirty="0" sz="1000" spc="185" i="1">
                <a:solidFill>
                  <a:srgbClr val="496E7F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496E7F"/>
                </a:solidFill>
                <a:latin typeface="Calibri"/>
                <a:cs typeface="Calibri"/>
              </a:rPr>
              <a:t>·</a:t>
            </a:r>
            <a:r>
              <a:rPr dirty="0" sz="1000" spc="195" i="1">
                <a:solidFill>
                  <a:srgbClr val="496E7F"/>
                </a:solidFill>
                <a:latin typeface="Calibri"/>
                <a:cs typeface="Calibri"/>
              </a:rPr>
              <a:t> </a:t>
            </a:r>
            <a:r>
              <a:rPr dirty="0" sz="1000" spc="-20" i="1">
                <a:solidFill>
                  <a:srgbClr val="496E7F"/>
                </a:solidFill>
                <a:latin typeface="Calibri"/>
                <a:cs typeface="Calibri"/>
              </a:rPr>
              <a:t>2025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2026-05-02T16:27:27Z</dcterms:created>
  <dcterms:modified xsi:type="dcterms:W3CDTF">2026-05-02T16:27:27Z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2026-05-02T00:00:00Z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24.2</vt:lpwstr>
  </property>
  <property fmtid="{D5CDD505-2E9C-101B-9397-08002B2CF9AE}" pid="5" name="LastSaved">
    <vt:filetime>2026-05-02T00:00:00Z</vt:filetime>
  </property>
</Properties>
</file>